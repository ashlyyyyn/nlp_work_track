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720" r:id="rId2"/>
    <p:sldId id="1981" r:id="rId3"/>
    <p:sldId id="2011" r:id="rId4"/>
    <p:sldId id="1824" r:id="rId5"/>
    <p:sldId id="1997" r:id="rId6"/>
    <p:sldId id="1982" r:id="rId7"/>
    <p:sldId id="2012" r:id="rId8"/>
    <p:sldId id="1985" r:id="rId9"/>
    <p:sldId id="1986" r:id="rId10"/>
    <p:sldId id="1987" r:id="rId11"/>
    <p:sldId id="1988" r:id="rId12"/>
    <p:sldId id="1989" r:id="rId13"/>
    <p:sldId id="1990" r:id="rId14"/>
    <p:sldId id="1991" r:id="rId15"/>
    <p:sldId id="1992" r:id="rId16"/>
    <p:sldId id="1993" r:id="rId17"/>
    <p:sldId id="1994" r:id="rId18"/>
    <p:sldId id="1995" r:id="rId19"/>
    <p:sldId id="1996" r:id="rId20"/>
    <p:sldId id="2013" r:id="rId21"/>
    <p:sldId id="1998" r:id="rId22"/>
    <p:sldId id="1983" r:id="rId23"/>
    <p:sldId id="1984" r:id="rId24"/>
    <p:sldId id="1999" r:id="rId25"/>
    <p:sldId id="2000" r:id="rId26"/>
    <p:sldId id="2001" r:id="rId27"/>
    <p:sldId id="2002" r:id="rId28"/>
    <p:sldId id="2003" r:id="rId29"/>
    <p:sldId id="2004" r:id="rId30"/>
    <p:sldId id="2005" r:id="rId31"/>
    <p:sldId id="2006" r:id="rId32"/>
    <p:sldId id="2007" r:id="rId33"/>
    <p:sldId id="2008" r:id="rId34"/>
    <p:sldId id="2009" r:id="rId35"/>
    <p:sldId id="2010" r:id="rId36"/>
    <p:sldId id="445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 userDrawn="1">
          <p15:clr>
            <a:srgbClr val="A4A3A4"/>
          </p15:clr>
        </p15:guide>
        <p15:guide id="2" pos="72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8183"/>
    <a:srgbClr val="548D8C"/>
    <a:srgbClr val="82D8D6"/>
    <a:srgbClr val="FFA3A5"/>
    <a:srgbClr val="B586DB"/>
    <a:srgbClr val="C05715"/>
    <a:srgbClr val="C35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81"/>
    <p:restoredTop sz="96405"/>
  </p:normalViewPr>
  <p:slideViewPr>
    <p:cSldViewPr snapToGrid="0" snapToObjects="1" showGuides="1">
      <p:cViewPr varScale="1">
        <p:scale>
          <a:sx n="100" d="100"/>
          <a:sy n="100" d="100"/>
        </p:scale>
        <p:origin x="184" y="776"/>
      </p:cViewPr>
      <p:guideLst>
        <p:guide orient="horz" pos="3929"/>
        <p:guide pos="72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6CB92-BD71-4544-98AD-EBB9C191BDF3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1B4AB-5FBB-3E45-BB89-5922910DC9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194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521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6B69-5825-EB59-FFE5-30AAA709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CB4521-FEA5-6BCE-48C2-40ED1A5DD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0EE025-E0FB-C528-5F38-6ABA7DB79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F12692-6DA6-4A8F-0C21-63FEA93C6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1992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5750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2506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7490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5333-D680-FE5B-F6A9-32EDCC28C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CE8553-8F19-1FF6-9A95-EF7B2D043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DE1DA1-757A-8DFE-1CD9-B9AF6C848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B096A0-FF61-AF32-EB46-95F408E7C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8019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265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4807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181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436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637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41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46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710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893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07525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4301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9433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3048-00F5-78E2-4F74-60E379F13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C0E55F-C8A8-698B-0A04-4DD7493EE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BD8EB4-A5CB-189B-FC0F-3806676DD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18B07-E40B-5F82-4262-E91B0FCA1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368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0969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04011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69618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81164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85922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7536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3633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5772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8149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9937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13229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74337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5388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08082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32B55-6CD0-40C0-BAFE-D331F0A28190}" type="slidenum">
              <a:rPr lang="en-US" altLang="zh-CN" smtClean="0"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710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90395-403F-CC44-B8FC-37591CEA4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A025B7-C574-714F-8516-78D067230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44BA7F-7CE9-BD47-A9B3-9839D1EB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B4B64-AD45-384A-B9E0-4B9F3EC2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08D3F-6362-3D44-8BA1-286C0E10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469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A7EF5-5D03-614A-999A-FACA3EB9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EBE2B5-8096-CC40-87D3-8993DE59E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6A9EB4-4C0E-D646-A054-DAD6D8D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8AFCBD-5653-224D-BCE0-16ECFEE8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961C9E-A606-B849-AAAC-784D60A6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744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FED51-898A-3E41-AC2D-9F2584302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DE0953-0B0D-DF46-8D8D-40F887B2D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AB4E9-3448-1F4C-95E8-B39FA432B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4CD58A-4A34-5C40-8911-1DEE8A61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94BCBE-BF32-DF4A-9E98-4910538A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762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9A84D-8C92-4A41-A2D2-F03665F3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90F0EF-2354-D848-98FC-F12DF849D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FC7861-6C3E-9140-AB35-F9AFE4ED8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FF6FC8-D316-594F-B616-84FFD1CE0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EA7035-A65C-6445-B43C-6AEB855D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FA1899-6061-1E4A-9350-E582FC74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722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AAD14-4716-1141-B19B-1E06EE16F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7C7B35-A359-7248-96BD-AB446B279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649FE-8803-894B-936A-3EFDC3456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E72CA3-63EC-4B4B-A6FB-AA0C6D0C5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6ED3-0237-0A42-B035-3BEE0E4A2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394F47-9E4F-1644-8BD8-CF5BCE51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F943E2-D147-2744-AF18-AE1ED837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3A37BF-4983-5E48-8533-F1C05FCF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978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F0EC7-7A2F-1C47-950D-A33BACE85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BFA6BF-97AB-9841-B181-D548DC42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01E531-39D4-2E4A-A195-A5B8C845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C2EE4A-89AA-8F4A-8936-F7E0CE0E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541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92EB53-AC22-F94B-8CA8-0B6608E81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CA3094-9038-3844-972F-A21C7972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870DC1-5BFF-044B-B739-91D082C6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79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60708-C480-2641-A690-4A797ACEE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B4A7-D11C-734D-AA0E-2645BE65F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52C199-C991-7941-9977-898EA76E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AEB37B-0782-2041-B42F-7501278D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7AE838-D534-054C-97BC-3B0380C36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4D0CC9-BF0F-7E46-B165-6738DA7F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0540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F6871-238A-E946-85A8-4ACBEA95C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7467DF-22D4-7F4B-9060-221D12C61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9549D6-EE49-4948-BAFC-7F6D3442B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CFE7C5-F28A-1948-937C-943A8E49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10F10-F40B-7944-86E7-C69F83BD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4B1C20-12A2-E24D-88B2-8E4B05FE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142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FAA25-3EB6-0847-A3BB-B5EE46D46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45DCF0-D743-594D-A337-A867A84A1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05BCE-9104-6943-9185-97F8BC67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10749-7BA4-1840-B50A-779B8345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92548-2E53-CF40-BCC8-2839A1EB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577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1A6D53-2AC7-D649-8986-0F384F601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56CE87-BA88-2C4A-80AA-C39EE0A95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A409D3-EAAE-FF4F-991C-7F05BBC0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ED50D-2F47-4C4D-B3D5-963DD2AB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A9417-69EF-044C-B341-A316252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594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E4E549C-97BD-BB44-A42B-39422FE0D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7BA2BD-FC54-1748-A5D8-75286CD5B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41C69E-3FB7-5545-B60A-0D8FBAFBB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E0559-266B-7B45-BA9C-5F19DCF901F1}" type="datetimeFigureOut">
              <a:rPr kumimoji="1" lang="zh-CN" altLang="en-US" smtClean="0"/>
              <a:t>2025/10/11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EFA413-5884-B640-8461-6A50ABE8B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63DC5C-3080-704A-A870-13D69FF3D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698D7-EAA4-7446-A3DC-B558201F68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801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mlr.org/papers/volume3/bengio03a/bengio03a.pdf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2l.ai/chapter_recurrent-neural-networks/rnn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ca-archive.org/interspeech_2010/mikolov10_interspeech.pdf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266" y="2685692"/>
            <a:ext cx="9464040" cy="901785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20"/>
              </a:spcBef>
            </a:pPr>
            <a:r>
              <a:rPr lang="zh-CN" altLang="en-US" sz="576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第四章</a:t>
            </a:r>
            <a:r>
              <a:rPr lang="en-US" altLang="zh-CN" sz="576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576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神经语言模型</a:t>
            </a:r>
            <a:endParaRPr lang="en-US" altLang="zh-CN" sz="5760" b="1" dirty="0">
              <a:solidFill>
                <a:srgbClr val="467EA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26681" y="198120"/>
            <a:ext cx="3649218" cy="772123"/>
            <a:chOff x="6096000" y="266700"/>
            <a:chExt cx="3041015" cy="64343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266700"/>
              <a:ext cx="3041015" cy="565044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8756015" y="571500"/>
              <a:ext cx="381000" cy="338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3057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1592566" y="1090929"/>
            <a:ext cx="10112188" cy="5374676"/>
          </a:xfrm>
          <a:prstGeom prst="rect">
            <a:avLst/>
          </a:prstGeom>
        </p:spPr>
        <p:txBody>
          <a:bodyPr vert="horz" wrap="square" lIns="0" tIns="15240" rIns="0" bIns="0" rtlCol="0" anchor="ctr" anchorCtr="0">
            <a:spAutoFit/>
          </a:bodyPr>
          <a:lstStyle/>
          <a:p>
            <a:pPr>
              <a:lnSpc>
                <a:spcPts val="4720"/>
              </a:lnSpc>
              <a:tabLst>
                <a:tab pos="425958" algn="l"/>
                <a:tab pos="426720" algn="l"/>
              </a:tabLst>
            </a:pP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概率约束条件</a:t>
            </a:r>
            <a:b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4.2.2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模型架构</a:t>
            </a:r>
            <a:b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4.2.3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具体过程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基于循环神经网络的语言模型</a:t>
            </a: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  <a:b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4.3.2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基于循环神经网络的语言模型原理</a:t>
            </a:r>
            <a:b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4.3.3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基于循环神经网络的语言模型的训练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D532251-D2FF-4519-8A3C-299A5CEC95DB}"/>
              </a:ext>
            </a:extLst>
          </p:cNvPr>
          <p:cNvSpPr txBox="1">
            <a:spLocks/>
          </p:cNvSpPr>
          <p:nvPr/>
        </p:nvSpPr>
        <p:spPr>
          <a:xfrm>
            <a:off x="935166" y="392395"/>
            <a:ext cx="6672072" cy="613694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zh-CN" altLang="en-US" sz="432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132551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C7CC2-E626-8A42-FCEC-1F0C4C34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CB8B4BA-6715-1D33-53B2-C798FF8CF3C1}"/>
              </a:ext>
            </a:extLst>
          </p:cNvPr>
          <p:cNvSpPr/>
          <p:nvPr/>
        </p:nvSpPr>
        <p:spPr>
          <a:xfrm>
            <a:off x="554994" y="3287485"/>
            <a:ext cx="1794300" cy="253637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2686F4-E426-9DDF-FEE5-9807E3B038BA}"/>
              </a:ext>
            </a:extLst>
          </p:cNvPr>
          <p:cNvSpPr/>
          <p:nvPr/>
        </p:nvSpPr>
        <p:spPr>
          <a:xfrm>
            <a:off x="2349294" y="3287485"/>
            <a:ext cx="3807454" cy="2547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CF0A3FB3-FDDC-13CF-14A5-98F352DA83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A70EA1AF-D411-2A6C-9F10-40ED0D601609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B5C073-6281-78E8-D7AA-94DD895D9A6A}"/>
              </a:ext>
            </a:extLst>
          </p:cNvPr>
          <p:cNvSpPr txBox="1"/>
          <p:nvPr/>
        </p:nvSpPr>
        <p:spPr>
          <a:xfrm>
            <a:off x="752454" y="815377"/>
            <a:ext cx="10307274" cy="96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神经语言模型：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是一种基于神经网络的参数化建模方式。其将文本序列的上下文信息编码在模型参数中，并通过学习词之间的统计关系，实现对未见词搭配的预测。</a:t>
            </a:r>
            <a:endParaRPr kumimoji="1" lang="zh-CN" altLang="en-US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D7F79F-BADE-AEFC-9E88-063AB4B891AA}"/>
              </a:ext>
            </a:extLst>
          </p:cNvPr>
          <p:cNvSpPr txBox="1"/>
          <p:nvPr/>
        </p:nvSpPr>
        <p:spPr>
          <a:xfrm>
            <a:off x="752454" y="3428702"/>
            <a:ext cx="1529069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基于词频统计的</a:t>
            </a:r>
            <a:r>
              <a:rPr lang="en-US" altLang="zh-CN" sz="2400" b="1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N-gram</a:t>
            </a:r>
            <a:r>
              <a:rPr lang="zh-CN" altLang="en-US" sz="2400" b="1" i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语言模型</a:t>
            </a:r>
            <a:endParaRPr kumimoji="1" lang="zh-CN" altLang="en-US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356A0B-13F5-2ECD-93AD-5711CA2934B1}"/>
              </a:ext>
            </a:extLst>
          </p:cNvPr>
          <p:cNvSpPr txBox="1"/>
          <p:nvPr/>
        </p:nvSpPr>
        <p:spPr>
          <a:xfrm>
            <a:off x="2353683" y="3756256"/>
            <a:ext cx="3807453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泛化能力差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性能依赖语料库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处理相似上下文信息表现不佳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CACE60-8B65-24A5-B23C-70D91EF9D3FE}"/>
              </a:ext>
            </a:extLst>
          </p:cNvPr>
          <p:cNvSpPr/>
          <p:nvPr/>
        </p:nvSpPr>
        <p:spPr>
          <a:xfrm>
            <a:off x="6613289" y="3287485"/>
            <a:ext cx="1337759" cy="2536371"/>
          </a:xfrm>
          <a:prstGeom prst="rect">
            <a:avLst/>
          </a:prstGeom>
          <a:solidFill>
            <a:srgbClr val="C05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5883BB-9B2F-06A3-CA88-8AE66DB1C096}"/>
              </a:ext>
            </a:extLst>
          </p:cNvPr>
          <p:cNvSpPr/>
          <p:nvPr/>
        </p:nvSpPr>
        <p:spPr>
          <a:xfrm>
            <a:off x="7951048" y="3276599"/>
            <a:ext cx="3844501" cy="25472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1D142E-F70B-67A6-7952-06995924B324}"/>
              </a:ext>
            </a:extLst>
          </p:cNvPr>
          <p:cNvSpPr txBox="1"/>
          <p:nvPr/>
        </p:nvSpPr>
        <p:spPr>
          <a:xfrm>
            <a:off x="6844569" y="3623175"/>
            <a:ext cx="1038708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神经</a:t>
            </a:r>
            <a:endParaRPr lang="en-US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语言</a:t>
            </a:r>
            <a:endParaRPr lang="en-US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  <a:endParaRPr kumimoji="1" lang="zh-CN" altLang="en-US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1964E77-F912-BA30-1354-B62A5DAB5ADD}"/>
              </a:ext>
            </a:extLst>
          </p:cNvPr>
          <p:cNvSpPr txBox="1"/>
          <p:nvPr/>
        </p:nvSpPr>
        <p:spPr>
          <a:xfrm>
            <a:off x="8077113" y="3623175"/>
            <a:ext cx="3550972" cy="1884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避免了数据稀疏性问题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无需平滑或回退等“补丁”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可捕捉更复杂的语言结构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和上下文信息</a:t>
            </a: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C787FACD-9E0F-5098-D293-ED6A068A7CD1}"/>
              </a:ext>
            </a:extLst>
          </p:cNvPr>
          <p:cNvSpPr/>
          <p:nvPr/>
        </p:nvSpPr>
        <p:spPr>
          <a:xfrm>
            <a:off x="6161136" y="4581885"/>
            <a:ext cx="447765" cy="116744"/>
          </a:xfrm>
          <a:prstGeom prst="rightArrow">
            <a:avLst>
              <a:gd name="adj1" fmla="val 50000"/>
              <a:gd name="adj2" fmla="val 11296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CE797-B1B5-2379-3A75-2C90018A0F42}"/>
              </a:ext>
            </a:extLst>
          </p:cNvPr>
          <p:cNvSpPr txBox="1"/>
          <p:nvPr/>
        </p:nvSpPr>
        <p:spPr>
          <a:xfrm>
            <a:off x="554994" y="5963478"/>
            <a:ext cx="554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主流常见实现都是使用trigram</a:t>
            </a:r>
            <a:r>
              <a:rPr lang="zh-CN" altLang="en-US" dirty="0"/>
              <a:t>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27188-8D2D-972C-8AC8-5190E6C90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23" y="1849632"/>
            <a:ext cx="4090742" cy="1134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56629B-2AA4-8F03-A6EA-448261D5A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021" y="1935387"/>
            <a:ext cx="4499791" cy="1043078"/>
          </a:xfrm>
          <a:prstGeom prst="rect">
            <a:avLst/>
          </a:prstGeom>
        </p:spPr>
      </p:pic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BFF1D6A6-C913-9811-4842-45FFEFC938A9}"/>
              </a:ext>
            </a:extLst>
          </p:cNvPr>
          <p:cNvSpPr/>
          <p:nvPr/>
        </p:nvSpPr>
        <p:spPr>
          <a:xfrm>
            <a:off x="4495884" y="6025696"/>
            <a:ext cx="4697370" cy="552705"/>
          </a:xfrm>
          <a:prstGeom prst="wedgeRoundRectCallout">
            <a:avLst>
              <a:gd name="adj1" fmla="val -31120"/>
              <a:gd name="adj2" fmla="val -74085"/>
              <a:gd name="adj3" fmla="val 16667"/>
            </a:avLst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维度灾难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curse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of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dimensionality</a:t>
            </a:r>
            <a:r>
              <a:rPr kumimoji="1"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en-US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0375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3108AC-A771-5BAC-D423-9CE4094E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6" y="998036"/>
            <a:ext cx="4499791" cy="1043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4C2000-3981-8AD2-1FEE-EF3441A16C09}"/>
              </a:ext>
            </a:extLst>
          </p:cNvPr>
          <p:cNvSpPr txBox="1"/>
          <p:nvPr/>
        </p:nvSpPr>
        <p:spPr>
          <a:xfrm>
            <a:off x="4809083" y="1195397"/>
            <a:ext cx="4893763" cy="5810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处理相似上下文信息表现不佳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355A9-D77E-F8C3-9A41-DDD5BA8181C6}"/>
              </a:ext>
            </a:extLst>
          </p:cNvPr>
          <p:cNvSpPr txBox="1"/>
          <p:nvPr/>
        </p:nvSpPr>
        <p:spPr>
          <a:xfrm>
            <a:off x="863600" y="2041114"/>
            <a:ext cx="11137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仅能考虑</a:t>
            </a:r>
            <a:r>
              <a:rPr lang="en-US" altLang="zh-CN" sz="2400" dirty="0"/>
              <a:t>1-2</a:t>
            </a:r>
            <a:r>
              <a:rPr lang="zh-CN" altLang="en-US" sz="2400" dirty="0"/>
              <a:t> </a:t>
            </a:r>
            <a:r>
              <a:rPr lang="en-US" altLang="zh-CN" sz="2400" dirty="0"/>
              <a:t>words</a:t>
            </a:r>
            <a:r>
              <a:rPr lang="zh-CN" altLang="en-US" sz="2400" dirty="0"/>
              <a:t>的上下文（为什么不能更长？）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无法考虑词的相似性。比如假设语料库中有 </a:t>
            </a:r>
            <a:r>
              <a:rPr lang="en-US" altLang="zh-CN" sz="2400" i="1" dirty="0"/>
              <a:t>The cat is walking in the bedroom</a:t>
            </a:r>
            <a:r>
              <a:rPr lang="zh-CN" altLang="en-US" sz="2400" dirty="0"/>
              <a:t>，那么应该能泛化到 </a:t>
            </a:r>
            <a:r>
              <a:rPr lang="en-US" altLang="zh-CN" sz="2400" i="1" dirty="0"/>
              <a:t>A dog was running in a room</a:t>
            </a:r>
            <a:r>
              <a:rPr lang="en-US" altLang="zh-CN" sz="2400" dirty="0"/>
              <a:t>.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349733-1A28-3905-01FE-1ABEB2CDB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61" y="3506103"/>
            <a:ext cx="10984686" cy="23538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74230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1592566" y="1090929"/>
            <a:ext cx="10112188" cy="5374676"/>
          </a:xfrm>
          <a:prstGeom prst="rect">
            <a:avLst/>
          </a:prstGeom>
        </p:spPr>
        <p:txBody>
          <a:bodyPr vert="horz" wrap="square" lIns="0" tIns="15240" rIns="0" bIns="0" rtlCol="0" anchor="ctr" anchorCtr="0">
            <a:spAutoFit/>
          </a:bodyPr>
          <a:lstStyle/>
          <a:p>
            <a:pPr>
              <a:lnSpc>
                <a:spcPts val="4720"/>
              </a:lnSpc>
              <a:tabLst>
                <a:tab pos="425958" algn="l"/>
                <a:tab pos="426720" algn="l"/>
              </a:tabLst>
            </a:pP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  <a:b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概率约束条件</a:t>
            </a:r>
            <a:b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4.2.2 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模型架构</a:t>
            </a:r>
            <a:b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4.2.3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具体过程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基于循环神经网络的语言模型</a:t>
            </a: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  <a:b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4.3.2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基于循环神经网络的语言模型原理</a:t>
            </a:r>
            <a:b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4.3.3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基于循环神经网络的语言模型的训练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D532251-D2FF-4519-8A3C-299A5CEC95DB}"/>
              </a:ext>
            </a:extLst>
          </p:cNvPr>
          <p:cNvSpPr txBox="1">
            <a:spLocks/>
          </p:cNvSpPr>
          <p:nvPr/>
        </p:nvSpPr>
        <p:spPr>
          <a:xfrm>
            <a:off x="935166" y="392395"/>
            <a:ext cx="6672072" cy="613694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zh-CN" altLang="en-US" sz="432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589880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FF7D136A-1375-E14E-915B-FC82B105A639}"/>
              </a:ext>
            </a:extLst>
          </p:cNvPr>
          <p:cNvSpPr/>
          <p:nvPr/>
        </p:nvSpPr>
        <p:spPr>
          <a:xfrm>
            <a:off x="989262" y="1894371"/>
            <a:ext cx="10077326" cy="766572"/>
          </a:xfrm>
          <a:prstGeom prst="roundRect">
            <a:avLst>
              <a:gd name="adj" fmla="val 19357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08E689-F302-8947-ACDE-6CD5371432AB}"/>
              </a:ext>
            </a:extLst>
          </p:cNvPr>
          <p:cNvSpPr/>
          <p:nvPr/>
        </p:nvSpPr>
        <p:spPr>
          <a:xfrm>
            <a:off x="989262" y="832936"/>
            <a:ext cx="10077326" cy="961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神经概率语言模型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Neural Probabilistic Language Model)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由 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Bengio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等人于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2003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年提出，是将深度神经网络应用于语言模型领域的早期工作之一。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816869-E905-F44E-A3E0-2213BB5ECC19}"/>
              </a:ext>
            </a:extLst>
          </p:cNvPr>
          <p:cNvSpPr/>
          <p:nvPr/>
        </p:nvSpPr>
        <p:spPr>
          <a:xfrm>
            <a:off x="1146600" y="1997678"/>
            <a:ext cx="9898799" cy="49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利用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前馈神经网络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来学习词语之间的条件概率关系，以实现文本生成和预测的能力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A6D425-2A93-164C-82A3-2DA203FCCA92}"/>
              </a:ext>
            </a:extLst>
          </p:cNvPr>
          <p:cNvSpPr/>
          <p:nvPr/>
        </p:nvSpPr>
        <p:spPr>
          <a:xfrm>
            <a:off x="4775548" y="3943267"/>
            <a:ext cx="914400" cy="91440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C72B34-5D47-0C40-9D6D-3CBFAABD2F20}"/>
              </a:ext>
            </a:extLst>
          </p:cNvPr>
          <p:cNvSpPr/>
          <p:nvPr/>
        </p:nvSpPr>
        <p:spPr>
          <a:xfrm>
            <a:off x="1033894" y="2370183"/>
            <a:ext cx="4783016" cy="76657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BF37204D-1610-2044-B451-A33BB07508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45" t="10650" r="32996" b="-2627"/>
          <a:stretch/>
        </p:blipFill>
        <p:spPr>
          <a:xfrm>
            <a:off x="7714845" y="2905494"/>
            <a:ext cx="3748756" cy="29203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F76122-3E62-51BA-61DA-2A0A91A61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16" y="3033448"/>
            <a:ext cx="6865726" cy="27924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26D1BB-FE80-2062-4070-7C5CFE687B3C}"/>
              </a:ext>
            </a:extLst>
          </p:cNvPr>
          <p:cNvSpPr txBox="1"/>
          <p:nvPr/>
        </p:nvSpPr>
        <p:spPr>
          <a:xfrm>
            <a:off x="321946" y="6091838"/>
            <a:ext cx="7298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https://www.jmlr.org/papers/volume3/bengio03a/bengio03a.pdf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0208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8A58-100D-D917-45F8-748E1EE7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D4ED94C6-DB3E-BC93-1A32-CDB5193E86D7}"/>
              </a:ext>
            </a:extLst>
          </p:cNvPr>
          <p:cNvSpPr/>
          <p:nvPr/>
        </p:nvSpPr>
        <p:spPr>
          <a:xfrm>
            <a:off x="790903" y="922997"/>
            <a:ext cx="3323897" cy="766572"/>
          </a:xfrm>
          <a:prstGeom prst="roundRect">
            <a:avLst>
              <a:gd name="adj" fmla="val 19357"/>
            </a:avLst>
          </a:prstGeom>
          <a:solidFill>
            <a:srgbClr val="7030A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5BA537D1-3A0C-CE2E-FC27-E7DA89CE4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E860380C-8D7C-FE9C-9CF9-4BA234DA0B8E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CADE24-8BC9-CDA7-4418-8A0FED5F91CD}"/>
              </a:ext>
            </a:extLst>
          </p:cNvPr>
          <p:cNvSpPr/>
          <p:nvPr/>
        </p:nvSpPr>
        <p:spPr>
          <a:xfrm>
            <a:off x="924798" y="1007568"/>
            <a:ext cx="9898799" cy="49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如何解决维度灾难？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83D56F-09E5-D0DB-CED9-4A9C0FF3C883}"/>
              </a:ext>
            </a:extLst>
          </p:cNvPr>
          <p:cNvSpPr/>
          <p:nvPr/>
        </p:nvSpPr>
        <p:spPr>
          <a:xfrm>
            <a:off x="4775548" y="3943267"/>
            <a:ext cx="914400" cy="91440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ADF3DC-BEEF-1A8D-2A8A-531ACC8C4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990246"/>
              </p:ext>
            </p:extLst>
          </p:nvPr>
        </p:nvGraphicFramePr>
        <p:xfrm>
          <a:off x="1057603" y="2059940"/>
          <a:ext cx="24221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099">
                  <a:extLst>
                    <a:ext uri="{9D8B030D-6E8A-4147-A177-3AD203B41FA5}">
                      <a16:colId xmlns:a16="http://schemas.microsoft.com/office/drawing/2014/main" val="3652964452"/>
                    </a:ext>
                  </a:extLst>
                </a:gridCol>
                <a:gridCol w="1211099">
                  <a:extLst>
                    <a:ext uri="{9D8B030D-6E8A-4147-A177-3AD203B41FA5}">
                      <a16:colId xmlns:a16="http://schemas.microsoft.com/office/drawing/2014/main" val="2387960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857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78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98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02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703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90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24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117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B06C34-1A63-D5B4-8F32-D3EAAFDDE8FA}"/>
                  </a:ext>
                </a:extLst>
              </p:cNvPr>
              <p:cNvSpPr txBox="1"/>
              <p:nvPr/>
            </p:nvSpPr>
            <p:spPr>
              <a:xfrm>
                <a:off x="1057603" y="5212365"/>
                <a:ext cx="23482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B06C34-1A63-D5B4-8F32-D3EAAFDDE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603" y="5212365"/>
                <a:ext cx="2348207" cy="369332"/>
              </a:xfrm>
              <a:prstGeom prst="rect">
                <a:avLst/>
              </a:prstGeom>
              <a:blipFill>
                <a:blip r:embed="rId3"/>
                <a:stretch>
                  <a:fillRect l="-3763" t="-10000" r="-215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04037DF-1666-BE4A-B7D2-A8C7039BED72}"/>
              </a:ext>
            </a:extLst>
          </p:cNvPr>
          <p:cNvSpPr txBox="1"/>
          <p:nvPr/>
        </p:nvSpPr>
        <p:spPr>
          <a:xfrm>
            <a:off x="1173626" y="5704170"/>
            <a:ext cx="2190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从离散到连续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88163D-5CCD-2573-A7BB-1396725D9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631" y="922997"/>
            <a:ext cx="4499791" cy="10430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AF9452-44FA-EA97-E184-88AD83C637B7}"/>
              </a:ext>
            </a:extLst>
          </p:cNvPr>
          <p:cNvSpPr txBox="1"/>
          <p:nvPr/>
        </p:nvSpPr>
        <p:spPr>
          <a:xfrm>
            <a:off x="3733800" y="2240267"/>
            <a:ext cx="82169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 associate with each word in the vocabulary a distributed word feature vector,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2. express the joint probability function of word sequences in terms of the feature vectors of these words in the sequence, and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3. learn simultaneously the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word feature vectors </a:t>
            </a:r>
            <a:r>
              <a:rPr lang="en-US" sz="2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and the parameters of that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probability function</a:t>
            </a:r>
            <a:r>
              <a:rPr lang="en-US" sz="2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2294AF-14D7-C011-7086-149CCED25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4631" y="4774912"/>
            <a:ext cx="4965700" cy="10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874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8C8A8F93-BA07-AD4B-8DC3-6B7329ABD6CB}"/>
              </a:ext>
            </a:extLst>
          </p:cNvPr>
          <p:cNvSpPr/>
          <p:nvPr/>
        </p:nvSpPr>
        <p:spPr>
          <a:xfrm>
            <a:off x="506627" y="4300151"/>
            <a:ext cx="11169043" cy="1297459"/>
          </a:xfrm>
          <a:prstGeom prst="roundRect">
            <a:avLst>
              <a:gd name="adj" fmla="val 19357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F9050BF-D8BD-1644-BFD0-8A8366EFD6C8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6672072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概率约束条件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67DCE5-EAE3-3146-B786-6A0B7FFC5F87}"/>
              </a:ext>
            </a:extLst>
          </p:cNvPr>
          <p:cNvSpPr/>
          <p:nvPr/>
        </p:nvSpPr>
        <p:spPr>
          <a:xfrm>
            <a:off x="841718" y="1586930"/>
            <a:ext cx="9898799" cy="50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目标：训练一个模型，使其能够根据给定的上下文预测下一个单词的条件概率分布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F34F09E-7068-2241-AFEF-A2C045070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22" y="2287202"/>
            <a:ext cx="7686989" cy="85172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ADE5CA5-8578-C347-B6BA-CA7D2DD82B99}"/>
              </a:ext>
            </a:extLst>
          </p:cNvPr>
          <p:cNvSpPr/>
          <p:nvPr/>
        </p:nvSpPr>
        <p:spPr>
          <a:xfrm>
            <a:off x="4041508" y="3446956"/>
            <a:ext cx="3286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个单词到第</a:t>
            </a:r>
            <a:r>
              <a:rPr lang="sq-AL" altLang="zh-CN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t−1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个单词序列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D34D06D-5A85-6341-9B60-C95305710961}"/>
              </a:ext>
            </a:extLst>
          </p:cNvPr>
          <p:cNvCxnSpPr/>
          <p:nvPr/>
        </p:nvCxnSpPr>
        <p:spPr>
          <a:xfrm>
            <a:off x="6209881" y="3040648"/>
            <a:ext cx="693337" cy="0"/>
          </a:xfrm>
          <a:prstGeom prst="line">
            <a:avLst/>
          </a:prstGeom>
          <a:ln w="666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19ABBE4-80D4-B14F-BFC5-21E8E035A1B8}"/>
              </a:ext>
            </a:extLst>
          </p:cNvPr>
          <p:cNvCxnSpPr/>
          <p:nvPr/>
        </p:nvCxnSpPr>
        <p:spPr>
          <a:xfrm>
            <a:off x="6598508" y="3089498"/>
            <a:ext cx="0" cy="30860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1E8A7119-CBAD-154C-B335-74D56B2D82EA}"/>
              </a:ext>
            </a:extLst>
          </p:cNvPr>
          <p:cNvSpPr/>
          <p:nvPr/>
        </p:nvSpPr>
        <p:spPr>
          <a:xfrm>
            <a:off x="7789807" y="3446956"/>
            <a:ext cx="4035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sq-AL" altLang="zh-CN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t−n+1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个单词到第</a:t>
            </a:r>
            <a:r>
              <a:rPr lang="sq-AL" altLang="zh-CN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t−1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个单词序列 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25816E9-BB01-4E46-B4B2-9B6227D02601}"/>
              </a:ext>
            </a:extLst>
          </p:cNvPr>
          <p:cNvCxnSpPr>
            <a:cxnSpLocks/>
          </p:cNvCxnSpPr>
          <p:nvPr/>
        </p:nvCxnSpPr>
        <p:spPr>
          <a:xfrm>
            <a:off x="8378255" y="3089497"/>
            <a:ext cx="1161161" cy="0"/>
          </a:xfrm>
          <a:prstGeom prst="line">
            <a:avLst/>
          </a:prstGeom>
          <a:ln w="666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D80C20EA-268D-984C-8B4A-975200DB45BB}"/>
              </a:ext>
            </a:extLst>
          </p:cNvPr>
          <p:cNvCxnSpPr/>
          <p:nvPr/>
        </p:nvCxnSpPr>
        <p:spPr>
          <a:xfrm>
            <a:off x="8958835" y="3138926"/>
            <a:ext cx="0" cy="30860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4D04F86-B089-3548-92B9-7D93FEAF5B08}"/>
              </a:ext>
            </a:extLst>
          </p:cNvPr>
          <p:cNvSpPr/>
          <p:nvPr/>
        </p:nvSpPr>
        <p:spPr>
          <a:xfrm>
            <a:off x="745841" y="4435208"/>
            <a:ext cx="11070189" cy="961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由于计算复杂度和上下文长度的限制，实际中通常仅使用最近的 </a:t>
            </a:r>
            <a:r>
              <a:rPr lang="sq-AL" altLang="zh-CN" sz="20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n-1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个词作为上下文进行预测，将目标近似为</a:t>
            </a:r>
            <a:endParaRPr lang="sq-AL" altLang="zh-CN" sz="2000" dirty="0">
              <a:solidFill>
                <a:schemeClr val="accent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AEE1622-E06E-7146-97A9-8A37E1C78CE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21947" y="4894203"/>
            <a:ext cx="1666544" cy="53599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08FB323-AB0B-674A-A179-F45A77098011}"/>
              </a:ext>
            </a:extLst>
          </p:cNvPr>
          <p:cNvSpPr/>
          <p:nvPr/>
        </p:nvSpPr>
        <p:spPr>
          <a:xfrm>
            <a:off x="7030995" y="2483708"/>
            <a:ext cx="494270" cy="556940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0566E0D-7DA3-E847-9112-C0A66FB929A0}"/>
              </a:ext>
            </a:extLst>
          </p:cNvPr>
          <p:cNvCxnSpPr>
            <a:cxnSpLocks/>
          </p:cNvCxnSpPr>
          <p:nvPr/>
        </p:nvCxnSpPr>
        <p:spPr>
          <a:xfrm>
            <a:off x="7312378" y="3057331"/>
            <a:ext cx="0" cy="124282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6438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DDC0164-6327-B344-972F-35008EDA439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6672072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概率约束条件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D9E892-94CA-2346-953C-94FD37CDA8F9}"/>
              </a:ext>
            </a:extLst>
          </p:cNvPr>
          <p:cNvSpPr/>
          <p:nvPr/>
        </p:nvSpPr>
        <p:spPr>
          <a:xfrm>
            <a:off x="752455" y="1575315"/>
            <a:ext cx="8711513" cy="614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为确保模型输出的是一个有效的概率分布，需满足两个约束条件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endParaRPr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CCCE24-C75E-DF41-ADE2-B88815B08486}"/>
              </a:ext>
            </a:extLst>
          </p:cNvPr>
          <p:cNvSpPr/>
          <p:nvPr/>
        </p:nvSpPr>
        <p:spPr>
          <a:xfrm>
            <a:off x="846949" y="2681802"/>
            <a:ext cx="5211981" cy="60353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1C12C2-472E-EC4B-9BFB-EF31AC8DF5CB}"/>
              </a:ext>
            </a:extLst>
          </p:cNvPr>
          <p:cNvSpPr/>
          <p:nvPr/>
        </p:nvSpPr>
        <p:spPr>
          <a:xfrm>
            <a:off x="846950" y="3285338"/>
            <a:ext cx="5211980" cy="28806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235D9B-32EB-6342-B8AC-B769202827B2}"/>
              </a:ext>
            </a:extLst>
          </p:cNvPr>
          <p:cNvSpPr txBox="1"/>
          <p:nvPr/>
        </p:nvSpPr>
        <p:spPr>
          <a:xfrm>
            <a:off x="1325875" y="2687702"/>
            <a:ext cx="4260585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概率归一性约束</a:t>
            </a:r>
            <a:endParaRPr kumimoji="1" lang="zh-CN" altLang="en-US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6B3107-6FE5-E147-8B42-E923080FB8BF}"/>
              </a:ext>
            </a:extLst>
          </p:cNvPr>
          <p:cNvSpPr txBox="1"/>
          <p:nvPr/>
        </p:nvSpPr>
        <p:spPr>
          <a:xfrm>
            <a:off x="851339" y="3419530"/>
            <a:ext cx="5207591" cy="2192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对于给定的任意前文序列，模型对词汇表中所有可能的词的条件概率之和为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  <a:p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此约束可确保模型在所有可能选项中的选择是合理的。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CD1709-8023-C548-8535-754F64D40DFB}"/>
              </a:ext>
            </a:extLst>
          </p:cNvPr>
          <p:cNvSpPr/>
          <p:nvPr/>
        </p:nvSpPr>
        <p:spPr>
          <a:xfrm>
            <a:off x="6364935" y="2681802"/>
            <a:ext cx="5211981" cy="6035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D06762-6F6D-F54B-AADC-76E4C3CD7C26}"/>
              </a:ext>
            </a:extLst>
          </p:cNvPr>
          <p:cNvSpPr/>
          <p:nvPr/>
        </p:nvSpPr>
        <p:spPr>
          <a:xfrm>
            <a:off x="6364936" y="3285338"/>
            <a:ext cx="5211980" cy="28806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C59A65-C4CD-2246-834D-24DA41DC7ADD}"/>
              </a:ext>
            </a:extLst>
          </p:cNvPr>
          <p:cNvSpPr txBox="1"/>
          <p:nvPr/>
        </p:nvSpPr>
        <p:spPr>
          <a:xfrm>
            <a:off x="6840632" y="2681803"/>
            <a:ext cx="4260585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非零概率约束</a:t>
            </a:r>
            <a:endParaRPr kumimoji="1" lang="zh-CN" altLang="en-US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C829C3-91B6-3145-8EA9-4CD229661E55}"/>
              </a:ext>
            </a:extLst>
          </p:cNvPr>
          <p:cNvSpPr txBox="1"/>
          <p:nvPr/>
        </p:nvSpPr>
        <p:spPr>
          <a:xfrm>
            <a:off x="6369325" y="3419530"/>
            <a:ext cx="5207591" cy="2192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每个可能的词的条件概率必须大于零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此约束避免了模型为某些词分配零概率的问题，可保证即使在稀疏数据或未见的词组合下，模型仍能生成合理的词序列。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072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6672072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7DD3AA-9DE1-7245-B46D-77E5C4427D48}"/>
              </a:ext>
            </a:extLst>
          </p:cNvPr>
          <p:cNvSpPr/>
          <p:nvPr/>
        </p:nvSpPr>
        <p:spPr>
          <a:xfrm>
            <a:off x="1009134" y="1794225"/>
            <a:ext cx="9803028" cy="3077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为建立一个模型能够使得                                                   成立，建模任务被拆解为：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词向量学习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：模型需要将离散的词表示转换为连续的向量。这些向量能够捕捉词之间的语义关系，构成模型输入的基础。 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概率估计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：模型基于上下文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或前文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计算下一个词的条件概率分布。利用神经网络将词向量进行非线性变换，最终输出一个符合概率约束的分布。 </a:t>
            </a:r>
            <a:endParaRPr lang="zh-CN" altLang="en-US" sz="20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E93996-8242-7A4C-A7A7-BBC2B7FD8FC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91233" y="2014193"/>
            <a:ext cx="3620530" cy="4195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D473A7-9386-F54C-9215-5950A3917139}"/>
              </a:ext>
            </a:extLst>
          </p:cNvPr>
          <p:cNvSpPr/>
          <p:nvPr/>
        </p:nvSpPr>
        <p:spPr>
          <a:xfrm>
            <a:off x="6903877" y="3198167"/>
            <a:ext cx="141577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词嵌入层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12ED45-16B6-5C4F-8579-47D686A09624}"/>
              </a:ext>
            </a:extLst>
          </p:cNvPr>
          <p:cNvSpPr/>
          <p:nvPr/>
        </p:nvSpPr>
        <p:spPr>
          <a:xfrm>
            <a:off x="8944697" y="4409749"/>
            <a:ext cx="141577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神经网络</a:t>
            </a:r>
          </a:p>
        </p:txBody>
      </p:sp>
    </p:spTree>
    <p:extLst>
      <p:ext uri="{BB962C8B-B14F-4D97-AF65-F5344CB8AC3E}">
        <p14:creationId xmlns:p14="http://schemas.microsoft.com/office/powerpoint/2010/main" val="13684094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6672072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模型架构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332D99-A2FE-9549-A2BA-F988AA0B9416}"/>
              </a:ext>
            </a:extLst>
          </p:cNvPr>
          <p:cNvSpPr/>
          <p:nvPr/>
        </p:nvSpPr>
        <p:spPr>
          <a:xfrm>
            <a:off x="752455" y="1644834"/>
            <a:ext cx="17620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词嵌入层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B86F42-7779-714E-ACDB-A44027ADA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32" y="2322741"/>
            <a:ext cx="9339135" cy="39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852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>
            <a:extLst>
              <a:ext uri="{FF2B5EF4-FFF2-40B4-BE49-F238E27FC236}">
                <a16:creationId xmlns:a16="http://schemas.microsoft.com/office/drawing/2014/main" id="{1EE06D84-04F8-9046-88E3-E5834577CEA8}"/>
              </a:ext>
            </a:extLst>
          </p:cNvPr>
          <p:cNvSpPr/>
          <p:nvPr/>
        </p:nvSpPr>
        <p:spPr>
          <a:xfrm>
            <a:off x="1188720" y="2306115"/>
            <a:ext cx="10114783" cy="2093156"/>
          </a:xfrm>
          <a:prstGeom prst="roundRect">
            <a:avLst>
              <a:gd name="adj" fmla="val 1287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6672072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模型架构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7BA472-EB10-9441-A370-B424FB1DE332}"/>
              </a:ext>
            </a:extLst>
          </p:cNvPr>
          <p:cNvSpPr/>
          <p:nvPr/>
        </p:nvSpPr>
        <p:spPr>
          <a:xfrm>
            <a:off x="755610" y="1720621"/>
            <a:ext cx="17620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神经网络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FA370C-E7E0-8B43-9D6C-84A762775ED0}"/>
              </a:ext>
            </a:extLst>
          </p:cNvPr>
          <p:cNvSpPr/>
          <p:nvPr/>
        </p:nvSpPr>
        <p:spPr>
          <a:xfrm>
            <a:off x="1620990" y="2595396"/>
            <a:ext cx="46201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网络输入：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上下文中单词的词向量序列 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6031FA3-942A-994A-8B7E-D3254CF6E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2882" y="2583039"/>
            <a:ext cx="2880188" cy="41145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4763594B-49D4-5345-AF42-75BDB5F4AD99}"/>
              </a:ext>
            </a:extLst>
          </p:cNvPr>
          <p:cNvSpPr/>
          <p:nvPr/>
        </p:nvSpPr>
        <p:spPr>
          <a:xfrm>
            <a:off x="1620990" y="3184613"/>
            <a:ext cx="9211956" cy="10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网络输出：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一个向量，其中词汇表中第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i="1" dirty="0" err="1">
                <a:latin typeface="Bell MT" panose="02020503060305020303" pitchFamily="18" charset="0"/>
                <a:ea typeface="Microsoft YaHei" panose="020B0503020204020204" pitchFamily="34" charset="-122"/>
              </a:rPr>
              <a:t>i</a:t>
            </a:r>
            <a:r>
              <a:rPr lang="zh-CN" altLang="en-US" sz="2400" i="1" dirty="0">
                <a:latin typeface="Bell MT" panose="02020503060305020303" pitchFamily="18" charset="0"/>
                <a:ea typeface="Microsoft YaHei" panose="020B0503020204020204" pitchFamily="34" charset="-122"/>
              </a:rPr>
              <a:t> </a:t>
            </a:r>
            <a:r>
              <a:rPr lang="en-US" altLang="zh-CN" sz="2400" i="1" dirty="0">
                <a:latin typeface="Bell MT" panose="02020503060305020303" pitchFamily="18" charset="0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个元素表示第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i="1" dirty="0">
                <a:latin typeface="Bell MT" panose="02020503060305020303" pitchFamily="18" charset="0"/>
                <a:ea typeface="Microsoft YaHei" panose="020B0503020204020204" pitchFamily="34" charset="-122"/>
              </a:rPr>
              <a:t>t</a:t>
            </a:r>
            <a:r>
              <a:rPr lang="zh-CN" altLang="en-US" sz="2400" i="1" dirty="0">
                <a:latin typeface="Bell MT" panose="02020503060305020303" pitchFamily="18" charset="0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个单词在给定上下文下的条件概率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91F384E-5853-2F41-B7F2-6993329742B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18405" y="3867014"/>
            <a:ext cx="2070100" cy="4191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EDCBDA4-122D-B444-B7AB-90E925AAC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334" y="5096505"/>
            <a:ext cx="6832600" cy="419100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BFE9CB74-7E7A-F641-BC5C-EB98C64E8A2B}"/>
              </a:ext>
            </a:extLst>
          </p:cNvPr>
          <p:cNvCxnSpPr>
            <a:cxnSpLocks/>
          </p:cNvCxnSpPr>
          <p:nvPr/>
        </p:nvCxnSpPr>
        <p:spPr>
          <a:xfrm>
            <a:off x="6246112" y="4387433"/>
            <a:ext cx="0" cy="64992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71D36DD-30CC-C347-8E5F-65EA81596BF0}"/>
              </a:ext>
            </a:extLst>
          </p:cNvPr>
          <p:cNvSpPr/>
          <p:nvPr/>
        </p:nvSpPr>
        <p:spPr>
          <a:xfrm>
            <a:off x="6301291" y="4458419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公式表示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5C2E6BA-5880-C446-A332-89053B67FC6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5494" y="5730761"/>
            <a:ext cx="522089" cy="41767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3CCCC24D-B5BD-EA45-8329-A0D3384377DC}"/>
              </a:ext>
            </a:extLst>
          </p:cNvPr>
          <p:cNvSpPr/>
          <p:nvPr/>
        </p:nvSpPr>
        <p:spPr>
          <a:xfrm>
            <a:off x="3254850" y="5739726"/>
            <a:ext cx="63401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可以是前馈神经网络、循环神经网络或其他含参的函数</a:t>
            </a:r>
          </a:p>
        </p:txBody>
      </p:sp>
    </p:spTree>
    <p:extLst>
      <p:ext uri="{BB962C8B-B14F-4D97-AF65-F5344CB8AC3E}">
        <p14:creationId xmlns:p14="http://schemas.microsoft.com/office/powerpoint/2010/main" val="5451113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2996585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具体过程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6591CF-382D-F349-90BF-CB89EE43565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36013" y="1078110"/>
            <a:ext cx="7319973" cy="54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75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4F2784D-D10C-1E40-843A-FA2B9CED487D}"/>
              </a:ext>
            </a:extLst>
          </p:cNvPr>
          <p:cNvSpPr/>
          <p:nvPr/>
        </p:nvSpPr>
        <p:spPr>
          <a:xfrm>
            <a:off x="4601100" y="2499498"/>
            <a:ext cx="5108961" cy="19281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2996585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具体过程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A72FA6-A379-244D-9EB6-453BFBFADD38}"/>
              </a:ext>
            </a:extLst>
          </p:cNvPr>
          <p:cNvSpPr/>
          <p:nvPr/>
        </p:nvSpPr>
        <p:spPr>
          <a:xfrm>
            <a:off x="752455" y="1671617"/>
            <a:ext cx="1454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6591CF-382D-F349-90BF-CB89EE43565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28789" y="253961"/>
            <a:ext cx="5515361" cy="409896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B22A71E-ABCC-0149-9990-3C34B8C30FF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15063" y="4554556"/>
            <a:ext cx="9760351" cy="185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3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E076EC-A186-A042-9844-2D57303BBB3C}"/>
              </a:ext>
            </a:extLst>
          </p:cNvPr>
          <p:cNvSpPr/>
          <p:nvPr/>
        </p:nvSpPr>
        <p:spPr>
          <a:xfrm>
            <a:off x="5822883" y="1490246"/>
            <a:ext cx="5616662" cy="843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2996585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具体过程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A72FA6-A379-244D-9EB6-453BFBFADD38}"/>
              </a:ext>
            </a:extLst>
          </p:cNvPr>
          <p:cNvSpPr/>
          <p:nvPr/>
        </p:nvSpPr>
        <p:spPr>
          <a:xfrm>
            <a:off x="752455" y="1671617"/>
            <a:ext cx="1454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隐藏层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1A8E477-45C2-E649-B3F5-3EE0A776B5E9}"/>
              </a:ext>
            </a:extLst>
          </p:cNvPr>
          <p:cNvGrpSpPr/>
          <p:nvPr/>
        </p:nvGrpSpPr>
        <p:grpSpPr>
          <a:xfrm>
            <a:off x="1310639" y="4265220"/>
            <a:ext cx="9570721" cy="2496250"/>
            <a:chOff x="995679" y="4239614"/>
            <a:chExt cx="9895841" cy="258104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802DE48-ED84-EE4E-BEE5-5431D392B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95679" y="4239614"/>
              <a:ext cx="9787235" cy="252611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5EE3DDF-607C-5E41-845E-2FB9554E42A9}"/>
                </a:ext>
              </a:extLst>
            </p:cNvPr>
            <p:cNvSpPr/>
            <p:nvPr/>
          </p:nvSpPr>
          <p:spPr>
            <a:xfrm>
              <a:off x="4978400" y="6417475"/>
              <a:ext cx="5913120" cy="403187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3073A07C-AE10-AC42-ADDA-C39B30137D9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83212" y="70365"/>
            <a:ext cx="5515361" cy="409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16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66C0467-EECA-764B-B4AA-73EF74F51EAC}"/>
              </a:ext>
            </a:extLst>
          </p:cNvPr>
          <p:cNvSpPr/>
          <p:nvPr/>
        </p:nvSpPr>
        <p:spPr>
          <a:xfrm>
            <a:off x="6167120" y="493871"/>
            <a:ext cx="5445760" cy="6854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2996585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具体过程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A72FA6-A379-244D-9EB6-453BFBFADD38}"/>
              </a:ext>
            </a:extLst>
          </p:cNvPr>
          <p:cNvSpPr/>
          <p:nvPr/>
        </p:nvSpPr>
        <p:spPr>
          <a:xfrm>
            <a:off x="752455" y="1671617"/>
            <a:ext cx="1454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073A07C-AE10-AC42-ADDA-C39B30137D9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72904" y="-14128"/>
            <a:ext cx="5515361" cy="409896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F36F9AD-214B-9B44-B17D-81D31A144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730" y="4318355"/>
            <a:ext cx="9366905" cy="222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749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3E076EC-A186-A042-9844-2D57303BBB3C}"/>
              </a:ext>
            </a:extLst>
          </p:cNvPr>
          <p:cNvSpPr/>
          <p:nvPr/>
        </p:nvSpPr>
        <p:spPr>
          <a:xfrm>
            <a:off x="6167120" y="493871"/>
            <a:ext cx="5445760" cy="6854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2996585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具体过程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A72FA6-A379-244D-9EB6-453BFBFADD38}"/>
              </a:ext>
            </a:extLst>
          </p:cNvPr>
          <p:cNvSpPr/>
          <p:nvPr/>
        </p:nvSpPr>
        <p:spPr>
          <a:xfrm>
            <a:off x="752455" y="1671617"/>
            <a:ext cx="1454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073A07C-AE10-AC42-ADDA-C39B30137D9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72904" y="-14128"/>
            <a:ext cx="5515361" cy="4098966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E3CAF3F8-DCE5-CA47-A5F6-6F05CF1535C7}"/>
              </a:ext>
            </a:extLst>
          </p:cNvPr>
          <p:cNvSpPr/>
          <p:nvPr/>
        </p:nvSpPr>
        <p:spPr>
          <a:xfrm>
            <a:off x="8727440" y="523214"/>
            <a:ext cx="629920" cy="245696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28B754-73E0-4C4C-A673-0E360CC6781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3625" y="4674238"/>
            <a:ext cx="10064750" cy="181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77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2996585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具体过程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A72FA6-A379-244D-9EB6-453BFBFADD38}"/>
              </a:ext>
            </a:extLst>
          </p:cNvPr>
          <p:cNvSpPr/>
          <p:nvPr/>
        </p:nvSpPr>
        <p:spPr>
          <a:xfrm>
            <a:off x="752455" y="1671617"/>
            <a:ext cx="17620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目标函数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A12639-D56F-7545-BB84-611F933AB651}"/>
              </a:ext>
            </a:extLst>
          </p:cNvPr>
          <p:cNvGrpSpPr/>
          <p:nvPr/>
        </p:nvGrpSpPr>
        <p:grpSpPr>
          <a:xfrm>
            <a:off x="793750" y="2468891"/>
            <a:ext cx="10604500" cy="2717492"/>
            <a:chOff x="793750" y="2468891"/>
            <a:chExt cx="10604500" cy="271749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A58894E-E8B8-5E4D-A2BB-06AB27DA5007}"/>
                </a:ext>
              </a:extLst>
            </p:cNvPr>
            <p:cNvSpPr/>
            <p:nvPr/>
          </p:nvSpPr>
          <p:spPr>
            <a:xfrm>
              <a:off x="4259484" y="3646025"/>
              <a:ext cx="4074288" cy="567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FA8F87A-5F50-BD4F-8620-43BB5FCCE320}"/>
                </a:ext>
              </a:extLst>
            </p:cNvPr>
            <p:cNvSpPr/>
            <p:nvPr/>
          </p:nvSpPr>
          <p:spPr>
            <a:xfrm>
              <a:off x="3497484" y="3984052"/>
              <a:ext cx="333730" cy="4164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F9B1DC5-F1A4-3441-A7FC-F3E113F90C1C}"/>
                </a:ext>
              </a:extLst>
            </p:cNvPr>
            <p:cNvSpPr/>
            <p:nvPr/>
          </p:nvSpPr>
          <p:spPr>
            <a:xfrm>
              <a:off x="8634714" y="3646024"/>
              <a:ext cx="787078" cy="5671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8E315835-EB66-C64A-8622-F306A1587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93750" y="2468891"/>
              <a:ext cx="10604500" cy="1943100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E9D349-784F-B548-AE8A-AF6C71C999CA}"/>
                </a:ext>
              </a:extLst>
            </p:cNvPr>
            <p:cNvSpPr/>
            <p:nvPr/>
          </p:nvSpPr>
          <p:spPr>
            <a:xfrm>
              <a:off x="2259587" y="4811532"/>
              <a:ext cx="285464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训练语料库中序列总长度</a:t>
              </a: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DBA5DDA6-CDB8-1F47-8A49-6ADB6C834ECD}"/>
                </a:ext>
              </a:extLst>
            </p:cNvPr>
            <p:cNvCxnSpPr/>
            <p:nvPr/>
          </p:nvCxnSpPr>
          <p:spPr>
            <a:xfrm>
              <a:off x="3646964" y="4459593"/>
              <a:ext cx="0" cy="308609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7EA1C5E-E551-D74D-BF66-D1933BC422B7}"/>
                </a:ext>
              </a:extLst>
            </p:cNvPr>
            <p:cNvSpPr/>
            <p:nvPr/>
          </p:nvSpPr>
          <p:spPr>
            <a:xfrm>
              <a:off x="5355246" y="4817051"/>
              <a:ext cx="148150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对数似然项</a:t>
              </a:r>
            </a:p>
          </p:txBody>
        </p: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4F10C0D4-2CB7-E845-A080-FBEE9D34C388}"/>
                </a:ext>
              </a:extLst>
            </p:cNvPr>
            <p:cNvCxnSpPr>
              <a:cxnSpLocks/>
            </p:cNvCxnSpPr>
            <p:nvPr/>
          </p:nvCxnSpPr>
          <p:spPr>
            <a:xfrm>
              <a:off x="6007291" y="4213185"/>
              <a:ext cx="0" cy="604445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3CBC393-68B9-AD49-9402-6E38044A4F8A}"/>
                </a:ext>
              </a:extLst>
            </p:cNvPr>
            <p:cNvSpPr/>
            <p:nvPr/>
          </p:nvSpPr>
          <p:spPr>
            <a:xfrm>
              <a:off x="7947607" y="4804971"/>
              <a:ext cx="219543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正则化项（惩罚项）</a:t>
              </a:r>
            </a:p>
          </p:txBody>
        </p: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01792A0F-5F80-7C45-BEC3-CAD08A8EE8A5}"/>
                </a:ext>
              </a:extLst>
            </p:cNvPr>
            <p:cNvCxnSpPr>
              <a:cxnSpLocks/>
            </p:cNvCxnSpPr>
            <p:nvPr/>
          </p:nvCxnSpPr>
          <p:spPr>
            <a:xfrm>
              <a:off x="9019663" y="4213185"/>
              <a:ext cx="0" cy="604445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6C3B6D1E-7440-3647-A1EB-142B9EDE08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93750" y="5936616"/>
            <a:ext cx="106045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60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EC83BE9-FEDB-9D46-B27B-A33AEEB5F71A}"/>
              </a:ext>
            </a:extLst>
          </p:cNvPr>
          <p:cNvSpPr/>
          <p:nvPr/>
        </p:nvSpPr>
        <p:spPr>
          <a:xfrm>
            <a:off x="3589283" y="3429000"/>
            <a:ext cx="225972" cy="328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0C2A9D1-F38C-4F46-9E4B-3C8798D1F313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2996585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具体过程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A72FA6-A379-244D-9EB6-453BFBFADD38}"/>
              </a:ext>
            </a:extLst>
          </p:cNvPr>
          <p:cNvSpPr/>
          <p:nvPr/>
        </p:nvSpPr>
        <p:spPr>
          <a:xfrm>
            <a:off x="752455" y="1671617"/>
            <a:ext cx="23775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参数更新规则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AD39502-E8EE-9745-A10D-FD265CF605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14187" y="2486025"/>
            <a:ext cx="9258300" cy="14478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641BE901-EBEA-5F4C-B2AA-4A8388E30701}"/>
              </a:ext>
            </a:extLst>
          </p:cNvPr>
          <p:cNvSpPr/>
          <p:nvPr/>
        </p:nvSpPr>
        <p:spPr>
          <a:xfrm>
            <a:off x="3258951" y="4331091"/>
            <a:ext cx="9801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学习率</a:t>
            </a: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284185E1-6861-E14C-8595-1065034858CF}"/>
              </a:ext>
            </a:extLst>
          </p:cNvPr>
          <p:cNvCxnSpPr>
            <a:cxnSpLocks/>
          </p:cNvCxnSpPr>
          <p:nvPr/>
        </p:nvCxnSpPr>
        <p:spPr>
          <a:xfrm>
            <a:off x="3723379" y="3739305"/>
            <a:ext cx="0" cy="60444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816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EEA8-E86D-2409-95D0-78419FD9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63A6BAC2-D251-F1F6-04CC-476DDAEEA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6672072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0A9D57CA-2AF1-2C20-1C79-6914C7D45E19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507E498-EA20-37AD-40B6-CD80269FE415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2996585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参数规模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3F3AAC-F45F-61D8-B914-107F403825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3389" y="1987722"/>
            <a:ext cx="5392111" cy="40073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5BF074-8A47-FAED-A089-60F771234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299" y="917893"/>
            <a:ext cx="5785811" cy="10698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57D712-9E20-3F1D-23CB-DEEE581E00FE}"/>
                  </a:ext>
                </a:extLst>
              </p:cNvPr>
              <p:cNvSpPr txBox="1"/>
              <p:nvPr/>
            </p:nvSpPr>
            <p:spPr>
              <a:xfrm>
                <a:off x="6096000" y="2159000"/>
                <a:ext cx="539211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×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57D712-9E20-3F1D-23CB-DEEE581E0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59000"/>
                <a:ext cx="5392110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B8591A-A0D5-64CD-2695-C5ED0C253B7E}"/>
                  </a:ext>
                </a:extLst>
              </p:cNvPr>
              <p:cNvSpPr txBox="1"/>
              <p:nvPr/>
            </p:nvSpPr>
            <p:spPr>
              <a:xfrm>
                <a:off x="5156200" y="4844506"/>
                <a:ext cx="681847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−1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B8591A-A0D5-64CD-2695-C5ED0C253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00" y="4844506"/>
                <a:ext cx="6818470" cy="307777"/>
              </a:xfrm>
              <a:prstGeom prst="rect">
                <a:avLst/>
              </a:prstGeom>
              <a:blipFill>
                <a:blip r:embed="rId6"/>
                <a:stretch>
                  <a:fillRect t="-8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4443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1592566" y="1090929"/>
            <a:ext cx="10112188" cy="5374676"/>
          </a:xfrm>
          <a:prstGeom prst="rect">
            <a:avLst/>
          </a:prstGeom>
        </p:spPr>
        <p:txBody>
          <a:bodyPr vert="horz" wrap="square" lIns="0" tIns="15240" rIns="0" bIns="0" rtlCol="0" anchor="ctr" anchorCtr="0">
            <a:spAutoFit/>
          </a:bodyPr>
          <a:lstStyle/>
          <a:p>
            <a:pPr>
              <a:lnSpc>
                <a:spcPts val="4720"/>
              </a:lnSpc>
              <a:tabLst>
                <a:tab pos="425958" algn="l"/>
                <a:tab pos="426720" algn="l"/>
              </a:tabLst>
            </a:pP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神经概率语言模型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概率约束条件</a:t>
            </a:r>
            <a:b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4.2.2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模型架构</a:t>
            </a:r>
            <a:b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4.2.3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具体过程</a:t>
            </a:r>
            <a:b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基于循环神经网络的语言模型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  <a:b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4.3.2 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基于循环神经网络的语言模型原理</a:t>
            </a:r>
            <a:b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4.3.3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基于循环神经网络的语言模型的训练</a:t>
            </a:r>
            <a:endParaRPr lang="zh-CN" altLang="en-US" sz="3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D532251-D2FF-4519-8A3C-299A5CEC95DB}"/>
              </a:ext>
            </a:extLst>
          </p:cNvPr>
          <p:cNvSpPr txBox="1">
            <a:spLocks/>
          </p:cNvSpPr>
          <p:nvPr/>
        </p:nvSpPr>
        <p:spPr>
          <a:xfrm>
            <a:off x="935166" y="392395"/>
            <a:ext cx="6672072" cy="613694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zh-CN" altLang="en-US" sz="432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920256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DC9BF2-6012-F840-8FDC-30249E58779F}"/>
              </a:ext>
            </a:extLst>
          </p:cNvPr>
          <p:cNvSpPr/>
          <p:nvPr/>
        </p:nvSpPr>
        <p:spPr>
          <a:xfrm>
            <a:off x="752455" y="1135375"/>
            <a:ext cx="1460294" cy="253637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031B03-F08B-124F-93A8-03C4BDDDA8B0}"/>
              </a:ext>
            </a:extLst>
          </p:cNvPr>
          <p:cNvSpPr/>
          <p:nvPr/>
        </p:nvSpPr>
        <p:spPr>
          <a:xfrm>
            <a:off x="2212749" y="1135375"/>
            <a:ext cx="2756106" cy="2547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EE60FF-27D3-F94F-9B45-7D9812C4829B}"/>
              </a:ext>
            </a:extLst>
          </p:cNvPr>
          <p:cNvSpPr txBox="1"/>
          <p:nvPr/>
        </p:nvSpPr>
        <p:spPr>
          <a:xfrm>
            <a:off x="1034400" y="1445665"/>
            <a:ext cx="1010885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前馈神经网络</a:t>
            </a:r>
            <a:endParaRPr lang="en-US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B663D2-FA13-CA43-A32A-897C9EC1B18A}"/>
              </a:ext>
            </a:extLst>
          </p:cNvPr>
          <p:cNvSpPr txBox="1"/>
          <p:nvPr/>
        </p:nvSpPr>
        <p:spPr>
          <a:xfrm>
            <a:off x="2217138" y="1604146"/>
            <a:ext cx="2012089" cy="1230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缺乏时序结构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缺乏记忆能力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257832-A92C-3444-A3DC-07C11FBCB2D7}"/>
              </a:ext>
            </a:extLst>
          </p:cNvPr>
          <p:cNvSpPr/>
          <p:nvPr/>
        </p:nvSpPr>
        <p:spPr>
          <a:xfrm>
            <a:off x="5421008" y="1128117"/>
            <a:ext cx="1337759" cy="2536371"/>
          </a:xfrm>
          <a:prstGeom prst="rect">
            <a:avLst/>
          </a:prstGeom>
          <a:solidFill>
            <a:srgbClr val="C05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D6BB4B-3BF0-0449-B9AD-4D305819D24B}"/>
              </a:ext>
            </a:extLst>
          </p:cNvPr>
          <p:cNvSpPr/>
          <p:nvPr/>
        </p:nvSpPr>
        <p:spPr>
          <a:xfrm>
            <a:off x="6758767" y="1117231"/>
            <a:ext cx="4953788" cy="25472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9DD01C-8A33-A94A-A7C3-09B36D3F690A}"/>
              </a:ext>
            </a:extLst>
          </p:cNvPr>
          <p:cNvSpPr txBox="1"/>
          <p:nvPr/>
        </p:nvSpPr>
        <p:spPr>
          <a:xfrm>
            <a:off x="5652288" y="1463807"/>
            <a:ext cx="1038708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循环神经网络</a:t>
            </a:r>
            <a:endParaRPr kumimoji="1" lang="zh-CN" altLang="en-US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8304CA-C98A-D945-9B19-F45FB1E386B4}"/>
              </a:ext>
            </a:extLst>
          </p:cNvPr>
          <p:cNvSpPr txBox="1"/>
          <p:nvPr/>
        </p:nvSpPr>
        <p:spPr>
          <a:xfrm>
            <a:off x="6922276" y="1367149"/>
            <a:ext cx="4576894" cy="1846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具有层间反馈连接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可维护隐状态序列来捕捉上下文依赖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输入序列长度可变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3A26EE-9E54-1242-BE2A-44E66AAB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0950" y="3777750"/>
            <a:ext cx="2103574" cy="286086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915D69E-E143-DA47-945E-55ABB92A951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6045" t="10650" r="32996" b="-2627"/>
          <a:stretch/>
        </p:blipFill>
        <p:spPr>
          <a:xfrm>
            <a:off x="1034400" y="3777750"/>
            <a:ext cx="3672346" cy="286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30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C7BE577-E3BB-B84C-AE24-0EA4722B7F84}"/>
              </a:ext>
            </a:extLst>
          </p:cNvPr>
          <p:cNvGrpSpPr/>
          <p:nvPr/>
        </p:nvGrpSpPr>
        <p:grpSpPr>
          <a:xfrm>
            <a:off x="914400" y="2327590"/>
            <a:ext cx="10608892" cy="4652330"/>
            <a:chOff x="914400" y="2327590"/>
            <a:chExt cx="10608892" cy="465233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9878884-B71A-8541-B349-9D59C83D1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488728" y="2327590"/>
              <a:ext cx="3420831" cy="4652330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98DEBB-8C14-1743-B003-E48AC62A476F}"/>
                </a:ext>
              </a:extLst>
            </p:cNvPr>
            <p:cNvSpPr/>
            <p:nvPr/>
          </p:nvSpPr>
          <p:spPr>
            <a:xfrm>
              <a:off x="6318019" y="6238501"/>
              <a:ext cx="94062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输入</a:t>
              </a:r>
              <a:r>
                <a: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x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2A1A7C-B236-AB48-9889-D4752E0EFFA9}"/>
                </a:ext>
              </a:extLst>
            </p:cNvPr>
            <p:cNvSpPr/>
            <p:nvPr/>
          </p:nvSpPr>
          <p:spPr>
            <a:xfrm>
              <a:off x="3857044" y="4472405"/>
              <a:ext cx="15614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隐藏状态</a:t>
              </a:r>
              <a:r>
                <a: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h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B309F54-7E94-8144-AB61-E08C76963EDB}"/>
                </a:ext>
              </a:extLst>
            </p:cNvPr>
            <p:cNvSpPr/>
            <p:nvPr/>
          </p:nvSpPr>
          <p:spPr>
            <a:xfrm>
              <a:off x="6318019" y="2727533"/>
              <a:ext cx="94062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输出</a:t>
              </a:r>
              <a:r>
                <a: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y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464D403-432A-BE4C-A4DF-854C0B8AC7D6}"/>
                </a:ext>
              </a:extLst>
            </p:cNvPr>
            <p:cNvSpPr/>
            <p:nvPr/>
          </p:nvSpPr>
          <p:spPr>
            <a:xfrm>
              <a:off x="914400" y="5378879"/>
              <a:ext cx="4151327" cy="499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权重矩阵</a:t>
              </a:r>
              <a:r>
                <a:rPr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U</a:t>
              </a:r>
              <a:r>
                <a:rPr lang="zh-CN" altLang="en-US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：输入层到隐藏层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9CFF637-776C-AF48-A83F-7CE76A64FC38}"/>
                </a:ext>
              </a:extLst>
            </p:cNvPr>
            <p:cNvSpPr/>
            <p:nvPr/>
          </p:nvSpPr>
          <p:spPr>
            <a:xfrm>
              <a:off x="914400" y="3675499"/>
              <a:ext cx="3837373" cy="499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权重矩阵</a:t>
              </a:r>
              <a:r>
                <a:rPr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V</a:t>
              </a:r>
              <a:r>
                <a:rPr lang="zh-CN" altLang="en-US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：隐藏层到输出层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0072B7B-F76F-0444-AF8B-7EA622122783}"/>
                </a:ext>
              </a:extLst>
            </p:cNvPr>
            <p:cNvSpPr/>
            <p:nvPr/>
          </p:nvSpPr>
          <p:spPr>
            <a:xfrm>
              <a:off x="7909559" y="4265598"/>
              <a:ext cx="3613733" cy="499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权重矩阵</a:t>
              </a:r>
              <a:r>
                <a:rPr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W</a:t>
              </a:r>
              <a:r>
                <a:rPr lang="zh-CN" altLang="en-US" sz="2000" dirty="0">
                  <a:solidFill>
                    <a:schemeClr val="accent2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：隐藏层内部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42065CB7-5AD5-C848-874B-DA30758FBCAF}"/>
              </a:ext>
            </a:extLst>
          </p:cNvPr>
          <p:cNvSpPr/>
          <p:nvPr/>
        </p:nvSpPr>
        <p:spPr>
          <a:xfrm>
            <a:off x="617113" y="1475531"/>
            <a:ext cx="11213709" cy="961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RNN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引入一个环形结构，使得信息可在网络内部循环。在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RNN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中，每个时间步的输入不仅影响当前步的输出，还会更新一个内部状态，随后该状态用于下一个时间步的输入和内部状态的计算。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DCD5F-1604-3661-AB8D-9252E8349811}"/>
              </a:ext>
            </a:extLst>
          </p:cNvPr>
          <p:cNvSpPr txBox="1"/>
          <p:nvPr/>
        </p:nvSpPr>
        <p:spPr>
          <a:xfrm>
            <a:off x="71645" y="6368837"/>
            <a:ext cx="4860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https://d2l.ai/chapter_recurrent-neural-networks/rnn.html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03173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5FBFE7-F902-0844-A247-1EDB284D5DC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61959" y="1985010"/>
            <a:ext cx="6344882" cy="35623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6BC7C5D-CCBF-784E-A76B-5FAE8417F4D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3442" y="2020455"/>
            <a:ext cx="2813779" cy="3826739"/>
          </a:xfrm>
          <a:prstGeom prst="rect">
            <a:avLst/>
          </a:prstGeom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18D3BF03-60C6-7247-801A-45F927C1EABA}"/>
              </a:ext>
            </a:extLst>
          </p:cNvPr>
          <p:cNvCxnSpPr>
            <a:cxnSpLocks/>
          </p:cNvCxnSpPr>
          <p:nvPr/>
        </p:nvCxnSpPr>
        <p:spPr>
          <a:xfrm flipV="1">
            <a:off x="3727221" y="3933823"/>
            <a:ext cx="1634738" cy="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85C50361-6D53-FF40-B7A7-BD310878E179}"/>
              </a:ext>
            </a:extLst>
          </p:cNvPr>
          <p:cNvSpPr/>
          <p:nvPr/>
        </p:nvSpPr>
        <p:spPr>
          <a:xfrm>
            <a:off x="4222804" y="3436086"/>
            <a:ext cx="8825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展开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8746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>
            <a:extLst>
              <a:ext uri="{FF2B5EF4-FFF2-40B4-BE49-F238E27FC236}">
                <a16:creationId xmlns:a16="http://schemas.microsoft.com/office/drawing/2014/main" id="{7A0873FB-1A0F-7B48-9598-60FD41BDA502}"/>
              </a:ext>
            </a:extLst>
          </p:cNvPr>
          <p:cNvSpPr/>
          <p:nvPr/>
        </p:nvSpPr>
        <p:spPr>
          <a:xfrm>
            <a:off x="-4734" y="1766522"/>
            <a:ext cx="6550731" cy="4541512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F2E6828-1291-EB4E-AD7F-5B0B5CF3BDB2}"/>
              </a:ext>
            </a:extLst>
          </p:cNvPr>
          <p:cNvSpPr/>
          <p:nvPr/>
        </p:nvSpPr>
        <p:spPr>
          <a:xfrm>
            <a:off x="6545997" y="1766522"/>
            <a:ext cx="5646003" cy="454151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62E71A-5080-AA4B-8984-2D1F0165D02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734" y="2085228"/>
            <a:ext cx="6550731" cy="36779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1CBF4B8-08C1-144E-A161-B9BD24B092F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4953" y="2519432"/>
            <a:ext cx="4348481" cy="4790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5CC749-739C-9147-B215-EB13058A525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48937" y="3941926"/>
            <a:ext cx="5137047" cy="498370"/>
          </a:xfrm>
          <a:prstGeom prst="rect">
            <a:avLst/>
          </a:prstGeom>
        </p:spPr>
      </p:pic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C4E5E76F-D921-CA4E-8F46-0E4F80939AD6}"/>
              </a:ext>
            </a:extLst>
          </p:cNvPr>
          <p:cNvCxnSpPr/>
          <p:nvPr/>
        </p:nvCxnSpPr>
        <p:spPr>
          <a:xfrm>
            <a:off x="2329015" y="3957320"/>
            <a:ext cx="51816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5D3A05A-BBF0-E046-9707-C3778C744036}"/>
              </a:ext>
            </a:extLst>
          </p:cNvPr>
          <p:cNvCxnSpPr>
            <a:cxnSpLocks/>
          </p:cNvCxnSpPr>
          <p:nvPr/>
        </p:nvCxnSpPr>
        <p:spPr>
          <a:xfrm flipV="1">
            <a:off x="3264004" y="4386955"/>
            <a:ext cx="0" cy="45163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9A08B0AE-DF06-5042-8808-FE58FBB98979}"/>
              </a:ext>
            </a:extLst>
          </p:cNvPr>
          <p:cNvSpPr/>
          <p:nvPr/>
        </p:nvSpPr>
        <p:spPr>
          <a:xfrm>
            <a:off x="2833923" y="3512311"/>
            <a:ext cx="874644" cy="874644"/>
          </a:xfrm>
          <a:prstGeom prst="ellipse">
            <a:avLst/>
          </a:prstGeom>
          <a:noFill/>
          <a:ln w="34925">
            <a:solidFill>
              <a:schemeClr val="accent2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9799619-71E8-0349-855C-6BBB5CE4ADB8}"/>
              </a:ext>
            </a:extLst>
          </p:cNvPr>
          <p:cNvSpPr/>
          <p:nvPr/>
        </p:nvSpPr>
        <p:spPr>
          <a:xfrm>
            <a:off x="6711704" y="3299654"/>
            <a:ext cx="36118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隐藏状态（时间步 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sz="2400" b="1" i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179804-1C06-534A-A80A-44FCB00200A8}"/>
              </a:ext>
            </a:extLst>
          </p:cNvPr>
          <p:cNvSpPr/>
          <p:nvPr/>
        </p:nvSpPr>
        <p:spPr>
          <a:xfrm>
            <a:off x="6746727" y="4842694"/>
            <a:ext cx="36118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网络输出（时间步 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sz="2400" b="1" i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E1DB341-438F-9246-B1A8-6FF644863D8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28044" y="5610786"/>
            <a:ext cx="2925772" cy="513987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D453D3FA-158F-AB45-BB68-00E6720DE992}"/>
              </a:ext>
            </a:extLst>
          </p:cNvPr>
          <p:cNvSpPr/>
          <p:nvPr/>
        </p:nvSpPr>
        <p:spPr>
          <a:xfrm>
            <a:off x="6711703" y="1854395"/>
            <a:ext cx="11464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D5872DDF-F4C5-C941-AFB6-1BF349A59D49}"/>
              </a:ext>
            </a:extLst>
          </p:cNvPr>
          <p:cNvSpPr/>
          <p:nvPr/>
        </p:nvSpPr>
        <p:spPr>
          <a:xfrm>
            <a:off x="11714922" y="3947077"/>
            <a:ext cx="238539" cy="453130"/>
          </a:xfrm>
          <a:prstGeom prst="roundRect">
            <a:avLst/>
          </a:prstGeom>
          <a:noFill/>
          <a:ln w="28575">
            <a:solidFill>
              <a:srgbClr val="FFA3A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7435ACEE-DD60-C649-8F30-6475785B42C4}"/>
              </a:ext>
            </a:extLst>
          </p:cNvPr>
          <p:cNvSpPr/>
          <p:nvPr/>
        </p:nvSpPr>
        <p:spPr>
          <a:xfrm>
            <a:off x="9215942" y="5641214"/>
            <a:ext cx="238539" cy="453130"/>
          </a:xfrm>
          <a:prstGeom prst="roundRect">
            <a:avLst/>
          </a:prstGeom>
          <a:noFill/>
          <a:ln w="28575">
            <a:solidFill>
              <a:srgbClr val="FFA3A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4742515F-C800-7641-AF5D-41CFCDF56AA6}"/>
              </a:ext>
            </a:extLst>
          </p:cNvPr>
          <p:cNvSpPr/>
          <p:nvPr/>
        </p:nvSpPr>
        <p:spPr>
          <a:xfrm>
            <a:off x="7763842" y="3957320"/>
            <a:ext cx="238539" cy="453130"/>
          </a:xfrm>
          <a:prstGeom prst="roundRect">
            <a:avLst/>
          </a:prstGeom>
          <a:noFill/>
          <a:ln w="28575">
            <a:solidFill>
              <a:srgbClr val="82D8D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47B63936-363E-1744-8F5C-F03D73EB4913}"/>
              </a:ext>
            </a:extLst>
          </p:cNvPr>
          <p:cNvSpPr/>
          <p:nvPr/>
        </p:nvSpPr>
        <p:spPr>
          <a:xfrm>
            <a:off x="8974121" y="3957320"/>
            <a:ext cx="238539" cy="453130"/>
          </a:xfrm>
          <a:prstGeom prst="roundRect">
            <a:avLst/>
          </a:prstGeom>
          <a:noFill/>
          <a:ln w="28575">
            <a:solidFill>
              <a:srgbClr val="82D8D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C19DF013-249A-304A-ADDB-3A9D641828CB}"/>
              </a:ext>
            </a:extLst>
          </p:cNvPr>
          <p:cNvSpPr/>
          <p:nvPr/>
        </p:nvSpPr>
        <p:spPr>
          <a:xfrm>
            <a:off x="7856880" y="5642197"/>
            <a:ext cx="238539" cy="453130"/>
          </a:xfrm>
          <a:prstGeom prst="roundRect">
            <a:avLst/>
          </a:prstGeom>
          <a:noFill/>
          <a:ln w="28575">
            <a:solidFill>
              <a:srgbClr val="82D8D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B7E5511-16FF-CC46-AA4A-14DEA7773B3F}"/>
              </a:ext>
            </a:extLst>
          </p:cNvPr>
          <p:cNvSpPr/>
          <p:nvPr/>
        </p:nvSpPr>
        <p:spPr>
          <a:xfrm>
            <a:off x="11255834" y="5610786"/>
            <a:ext cx="6976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981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偏置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092DF12-9531-0A42-B620-D8F82D7B301E}"/>
              </a:ext>
            </a:extLst>
          </p:cNvPr>
          <p:cNvSpPr/>
          <p:nvPr/>
        </p:nvSpPr>
        <p:spPr>
          <a:xfrm>
            <a:off x="7912353" y="4471246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548D8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激活函数</a:t>
            </a:r>
          </a:p>
        </p:txBody>
      </p:sp>
    </p:spTree>
    <p:extLst>
      <p:ext uri="{BB962C8B-B14F-4D97-AF65-F5344CB8AC3E}">
        <p14:creationId xmlns:p14="http://schemas.microsoft.com/office/powerpoint/2010/main" val="33914732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8" grpId="0"/>
      <p:bldP spid="30" grpId="0"/>
      <p:bldP spid="33" grpId="0" animBg="1"/>
      <p:bldP spid="34" grpId="0" animBg="1"/>
      <p:bldP spid="35" grpId="0" animBg="1"/>
      <p:bldP spid="37" grpId="0" animBg="1"/>
      <p:bldP spid="38" grpId="0" animBg="1"/>
      <p:bldP spid="39" grpId="0"/>
      <p:bldP spid="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5431BD-2CEC-2F43-880E-0D20F5BB4A89}"/>
              </a:ext>
            </a:extLst>
          </p:cNvPr>
          <p:cNvSpPr/>
          <p:nvPr/>
        </p:nvSpPr>
        <p:spPr>
          <a:xfrm>
            <a:off x="752455" y="1671617"/>
            <a:ext cx="20697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多对多结构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560CFA-6D9B-2547-ACE3-6BB836473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3" y="2973398"/>
            <a:ext cx="6184900" cy="31242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EA94E8B4-13A9-B248-B88F-B615B2BCE076}"/>
              </a:ext>
            </a:extLst>
          </p:cNvPr>
          <p:cNvSpPr/>
          <p:nvPr/>
        </p:nvSpPr>
        <p:spPr>
          <a:xfrm>
            <a:off x="1090411" y="2268708"/>
            <a:ext cx="99854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每一个时间步都会有一个输入与一个输出，使得输入序列和输出序列的长度保持一致 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69E5AC5-39B4-6D46-88F1-989F8795FD4F}"/>
              </a:ext>
            </a:extLst>
          </p:cNvPr>
          <p:cNvSpPr/>
          <p:nvPr/>
        </p:nvSpPr>
        <p:spPr>
          <a:xfrm>
            <a:off x="6792329" y="3593220"/>
            <a:ext cx="5514596" cy="1884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词性标注：标注文本中每一个词的词性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命名实体识别：从文本中识别分类特定实体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机器翻译：源语言词汇到目标语言词汇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视频帧预测：利用先前视频帧预测下一帧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8781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5431BD-2CEC-2F43-880E-0D20F5BB4A89}"/>
              </a:ext>
            </a:extLst>
          </p:cNvPr>
          <p:cNvSpPr/>
          <p:nvPr/>
        </p:nvSpPr>
        <p:spPr>
          <a:xfrm>
            <a:off x="752455" y="1671617"/>
            <a:ext cx="20697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一对多结构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C30E4D-DA42-5544-BEB2-3147510A992C}"/>
              </a:ext>
            </a:extLst>
          </p:cNvPr>
          <p:cNvSpPr/>
          <p:nvPr/>
        </p:nvSpPr>
        <p:spPr>
          <a:xfrm>
            <a:off x="1090411" y="2268708"/>
            <a:ext cx="41793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从单一输入产生多个输出的形式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A87BACF-708A-754A-A615-89EDECEEEFE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114" y="2973398"/>
            <a:ext cx="5566770" cy="2762331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29EAD0-AF91-BA4D-8114-338766D4DD2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34251" y="2973398"/>
            <a:ext cx="5564238" cy="2762331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EA8560C-C6B0-AC49-A13C-C5EA9AE8815B}"/>
              </a:ext>
            </a:extLst>
          </p:cNvPr>
          <p:cNvSpPr/>
          <p:nvPr/>
        </p:nvSpPr>
        <p:spPr>
          <a:xfrm>
            <a:off x="442140" y="6030835"/>
            <a:ext cx="5538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模式一：将输入 </a:t>
            </a:r>
            <a:r>
              <a:rPr lang="sq-AL" altLang="zh-CN" dirty="0">
                <a:latin typeface="LMRomanDemi10-Regular-Identity-H"/>
              </a:rPr>
              <a:t>x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整合到初始时间步的隐藏状态 </a:t>
            </a:r>
            <a:r>
              <a:rPr lang="sq-AL" altLang="zh-CN" dirty="0">
                <a:latin typeface="LMRomanDemi10-Regular-Identity-H"/>
              </a:rPr>
              <a:t>h</a:t>
            </a:r>
            <a:r>
              <a:rPr lang="sq-AL" altLang="zh-CN" sz="800" dirty="0">
                <a:latin typeface="CMR7"/>
              </a:rPr>
              <a:t>1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en-US" dirty="0">
                <a:latin typeface="FandolSong-Regular-Identity-H"/>
              </a:rPr>
              <a:t>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3D8BA0-959A-B146-9559-8E92B9DE523B}"/>
              </a:ext>
            </a:extLst>
          </p:cNvPr>
          <p:cNvSpPr/>
          <p:nvPr/>
        </p:nvSpPr>
        <p:spPr>
          <a:xfrm>
            <a:off x="6128187" y="6030835"/>
            <a:ext cx="6067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模式二：输入 </a:t>
            </a:r>
            <a:r>
              <a:rPr lang="sq-AL" altLang="zh-CN" dirty="0">
                <a:latin typeface="LMRomanDemi10-Regular-Identity-H"/>
              </a:rPr>
              <a:t>x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在每个时间步都与隐藏状态 </a:t>
            </a:r>
            <a:r>
              <a:rPr lang="sq-AL" altLang="zh-CN" dirty="0">
                <a:latin typeface="LMRomanDemi10-Regular-Identity-H"/>
              </a:rPr>
              <a:t>h</a:t>
            </a:r>
            <a:r>
              <a:rPr lang="sq-AL" altLang="zh-CN" sz="800" dirty="0">
                <a:latin typeface="CMR7"/>
              </a:rPr>
              <a:t>1</a:t>
            </a:r>
            <a:r>
              <a:rPr lang="sq-AL" altLang="zh-CN" dirty="0">
                <a:latin typeface="CMMI10"/>
              </a:rPr>
              <a:t>,</a:t>
            </a:r>
            <a:r>
              <a:rPr lang="sq-AL" altLang="zh-CN" dirty="0">
                <a:latin typeface="LMRomanDemi10-Regular-Identity-H"/>
              </a:rPr>
              <a:t>h</a:t>
            </a:r>
            <a:r>
              <a:rPr lang="sq-AL" altLang="zh-CN" sz="800" dirty="0">
                <a:latin typeface="CMR7"/>
              </a:rPr>
              <a:t>2</a:t>
            </a:r>
            <a:r>
              <a:rPr lang="sq-AL" altLang="zh-CN" dirty="0">
                <a:latin typeface="CMMI10"/>
              </a:rPr>
              <a:t>,...,</a:t>
            </a:r>
            <a:r>
              <a:rPr lang="sq-AL" altLang="zh-CN" dirty="0">
                <a:latin typeface="LMRomanDemi10-Regular-Identity-H"/>
              </a:rPr>
              <a:t>h</a:t>
            </a:r>
            <a:r>
              <a:rPr lang="sq-AL" altLang="zh-CN" sz="800" i="1" dirty="0">
                <a:latin typeface="CMMI7"/>
              </a:rPr>
              <a:t>N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交互</a:t>
            </a:r>
            <a:r>
              <a:rPr lang="zh-CN" altLang="en-US" dirty="0">
                <a:latin typeface="FandolSong-Regular-Identity-H"/>
              </a:rPr>
              <a:t> 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6027DC-DE30-924D-9A96-1325A5CDD022}"/>
              </a:ext>
            </a:extLst>
          </p:cNvPr>
          <p:cNvSpPr/>
          <p:nvPr/>
        </p:nvSpPr>
        <p:spPr>
          <a:xfrm>
            <a:off x="5403320" y="1191004"/>
            <a:ext cx="6788680" cy="961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图像描述：模型生成短语或单词序列用以描述指定图像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文本生成：提示词作为输入，模型输出扩展的文本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307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4.3.1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循环神经网络结构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5431BD-2CEC-2F43-880E-0D20F5BB4A89}"/>
              </a:ext>
            </a:extLst>
          </p:cNvPr>
          <p:cNvSpPr/>
          <p:nvPr/>
        </p:nvSpPr>
        <p:spPr>
          <a:xfrm>
            <a:off x="752455" y="1671617"/>
            <a:ext cx="20697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多对一结构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4C8AC0-EFCF-4746-9C19-0CC16A20C74E}"/>
              </a:ext>
            </a:extLst>
          </p:cNvPr>
          <p:cNvSpPr/>
          <p:nvPr/>
        </p:nvSpPr>
        <p:spPr>
          <a:xfrm>
            <a:off x="1090411" y="2268708"/>
            <a:ext cx="41793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从多个输入产生单个输出的形式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85F626-DE01-8949-9827-8EE81ED1B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3924"/>
            <a:ext cx="5861246" cy="315348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A596C52-1338-DA4D-8FFA-8F391EEF0005}"/>
              </a:ext>
            </a:extLst>
          </p:cNvPr>
          <p:cNvSpPr/>
          <p:nvPr/>
        </p:nvSpPr>
        <p:spPr>
          <a:xfrm>
            <a:off x="6096000" y="3429000"/>
            <a:ext cx="5861246" cy="234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情感分析：给定文本序列，输出情感极性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文档分类：给定文档，输出类别标签（如垃圾邮件分类）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异常检测：给定时间序列，输出是否存在异常数据（如金融市场股票价格或工业生产中的数据）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3371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4.3.2 RNNLM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8C1AE7-66E1-9845-ADBA-DAE8FFB6EFAC}"/>
              </a:ext>
            </a:extLst>
          </p:cNvPr>
          <p:cNvSpPr/>
          <p:nvPr/>
        </p:nvSpPr>
        <p:spPr>
          <a:xfrm>
            <a:off x="752455" y="1720621"/>
            <a:ext cx="11439545" cy="1422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2010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年由 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Mikolov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等人提出基于循环神经网络的语言模型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Recurrent Neural Network Language Model</a:t>
            </a:r>
            <a:r>
              <a:rPr lang="zh-CN" altLang="sq-AL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RNNLM)</a:t>
            </a:r>
            <a:r>
              <a:rPr lang="zh-CN" altLang="sq-AL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该模型使用一种被称为简单循环神经网络或 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Elman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网络的架构。网络包括输入层、隐藏层和输出层。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EC815A-0B56-D846-8D84-B3D7C4F7BDCE}"/>
              </a:ext>
            </a:extLst>
          </p:cNvPr>
          <p:cNvSpPr/>
          <p:nvPr/>
        </p:nvSpPr>
        <p:spPr>
          <a:xfrm>
            <a:off x="752455" y="3714490"/>
            <a:ext cx="4927793" cy="1976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符号表示说明：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0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sz="20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时刻网络的输入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时刻（隐藏层）隐藏状态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时刻网络输出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ED6C3-79A5-60EF-CD81-0E6A974162E9}"/>
              </a:ext>
            </a:extLst>
          </p:cNvPr>
          <p:cNvSpPr txBox="1"/>
          <p:nvPr/>
        </p:nvSpPr>
        <p:spPr>
          <a:xfrm>
            <a:off x="466724" y="6100491"/>
            <a:ext cx="9350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https://www.isca-archive.org/interspeech_2010/mikolov10_interspeech.pdf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87EA9-A6BB-7A57-E4D3-BDEFB49C0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3844256"/>
            <a:ext cx="6112933" cy="1555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17019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4.3.2 RNNLM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模型的原理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75CAF-01AE-F746-9A42-1D519FFAFE3D}"/>
              </a:ext>
            </a:extLst>
          </p:cNvPr>
          <p:cNvSpPr/>
          <p:nvPr/>
        </p:nvSpPr>
        <p:spPr>
          <a:xfrm>
            <a:off x="752455" y="1671617"/>
            <a:ext cx="1454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62C89A-8C9C-4B45-9395-ECB26D50B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50" y="2571750"/>
            <a:ext cx="10452100" cy="1714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9074550-E2E4-7F44-89A1-D4184297960A}"/>
              </a:ext>
            </a:extLst>
          </p:cNvPr>
          <p:cNvSpPr/>
          <p:nvPr/>
        </p:nvSpPr>
        <p:spPr>
          <a:xfrm>
            <a:off x="4009275" y="4724718"/>
            <a:ext cx="3937296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sq-AL" sz="20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 </a:t>
            </a:r>
            <a:r>
              <a:rPr lang="sq-AL" altLang="zh-CN" sz="20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sq-AL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(0)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初始化为一个较小的值 </a:t>
            </a:r>
          </a:p>
        </p:txBody>
      </p:sp>
    </p:spTree>
    <p:extLst>
      <p:ext uri="{BB962C8B-B14F-4D97-AF65-F5344CB8AC3E}">
        <p14:creationId xmlns:p14="http://schemas.microsoft.com/office/powerpoint/2010/main" val="949421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4.3.2 RNNLM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模型的原理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75CAF-01AE-F746-9A42-1D519FFAFE3D}"/>
              </a:ext>
            </a:extLst>
          </p:cNvPr>
          <p:cNvSpPr/>
          <p:nvPr/>
        </p:nvSpPr>
        <p:spPr>
          <a:xfrm>
            <a:off x="752455" y="1671617"/>
            <a:ext cx="1454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隐藏层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CA45AB-0285-2642-91B7-1CE161397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50" y="2642016"/>
            <a:ext cx="10452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921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4.3.2 RNNLM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模型的原理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75CAF-01AE-F746-9A42-1D519FFAFE3D}"/>
              </a:ext>
            </a:extLst>
          </p:cNvPr>
          <p:cNvSpPr/>
          <p:nvPr/>
        </p:nvSpPr>
        <p:spPr>
          <a:xfrm>
            <a:off x="752455" y="1671617"/>
            <a:ext cx="1454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8A7155-F245-2942-9F51-6AB94D045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50" y="2467095"/>
            <a:ext cx="10452100" cy="336550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59D37704-E5F3-4E47-B89E-1330E9F6FBE2}"/>
              </a:ext>
            </a:extLst>
          </p:cNvPr>
          <p:cNvGrpSpPr/>
          <p:nvPr/>
        </p:nvGrpSpPr>
        <p:grpSpPr>
          <a:xfrm>
            <a:off x="8099425" y="4119410"/>
            <a:ext cx="3433763" cy="412996"/>
            <a:chOff x="4644737" y="1762267"/>
            <a:chExt cx="4179309" cy="50266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5269E2E-0927-F34B-A003-614CD9636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44737" y="1762267"/>
              <a:ext cx="4179309" cy="50266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487359B8-9F43-EE45-8AED-6F03186BC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411859" y="1985470"/>
              <a:ext cx="146667" cy="186668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D511755-0D55-BA4F-848F-FE53F6C63611}"/>
              </a:ext>
            </a:extLst>
          </p:cNvPr>
          <p:cNvSpPr txBox="1"/>
          <p:nvPr/>
        </p:nvSpPr>
        <p:spPr>
          <a:xfrm>
            <a:off x="7700131" y="4070741"/>
            <a:ext cx="413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kumimoji="1" lang="zh-CN" altLang="en-US" sz="2400"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B4D3F6-4AD6-D24C-B05E-9905BE9846BD}"/>
              </a:ext>
            </a:extLst>
          </p:cNvPr>
          <p:cNvSpPr/>
          <p:nvPr/>
        </p:nvSpPr>
        <p:spPr>
          <a:xfrm>
            <a:off x="3128963" y="2957513"/>
            <a:ext cx="3500437" cy="47148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11032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4.3.2 RNNLM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模型的原理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75CAF-01AE-F746-9A42-1D519FFAFE3D}"/>
              </a:ext>
            </a:extLst>
          </p:cNvPr>
          <p:cNvSpPr/>
          <p:nvPr/>
        </p:nvSpPr>
        <p:spPr>
          <a:xfrm>
            <a:off x="752455" y="1671617"/>
            <a:ext cx="20697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罕见词处理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B868B6-BCAB-4841-AA87-699BF3993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316" y="3429000"/>
            <a:ext cx="8555038" cy="1130124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F152508B-0009-7148-BEB7-3871A3EBD4DD}"/>
              </a:ext>
            </a:extLst>
          </p:cNvPr>
          <p:cNvGrpSpPr/>
          <p:nvPr/>
        </p:nvGrpSpPr>
        <p:grpSpPr>
          <a:xfrm>
            <a:off x="1035833" y="2261979"/>
            <a:ext cx="9565492" cy="961225"/>
            <a:chOff x="1035833" y="2261979"/>
            <a:chExt cx="9565492" cy="96122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097447C-4CCB-B643-9B67-9E0AB4441B52}"/>
                </a:ext>
              </a:extLst>
            </p:cNvPr>
            <p:cNvSpPr/>
            <p:nvPr/>
          </p:nvSpPr>
          <p:spPr>
            <a:xfrm>
              <a:off x="1035833" y="2261979"/>
              <a:ext cx="9565492" cy="961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为了处理罕见词（即出现次数少于阈值</a:t>
              </a:r>
              <a:r>
                <a:rPr lang="en-US" altLang="zh-CN" sz="20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) </a:t>
              </a:r>
              <a:r>
                <a:rPr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，通常会引入一个罕见词类别，计作           ，将所有罕见词的概率归为一类： </a:t>
              </a: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4ECF5D3-D3A3-7347-81A3-2083F3780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59950" y="2455266"/>
              <a:ext cx="641350" cy="287325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2A5ACD-06FE-3E28-5384-A5D081281A83}"/>
              </a:ext>
            </a:extLst>
          </p:cNvPr>
          <p:cNvSpPr txBox="1"/>
          <p:nvPr/>
        </p:nvSpPr>
        <p:spPr>
          <a:xfrm>
            <a:off x="1168673" y="4883865"/>
            <a:ext cx="9299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number of words in the vocabulary that occur less often than the threshold.</a:t>
            </a:r>
          </a:p>
        </p:txBody>
      </p:sp>
    </p:spTree>
    <p:extLst>
      <p:ext uri="{BB962C8B-B14F-4D97-AF65-F5344CB8AC3E}">
        <p14:creationId xmlns:p14="http://schemas.microsoft.com/office/powerpoint/2010/main" val="3722152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基于循环神经网络的语言模型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566351-19A5-D147-AE65-1E0680AED2A7}"/>
              </a:ext>
            </a:extLst>
          </p:cNvPr>
          <p:cNvSpPr txBox="1">
            <a:spLocks/>
          </p:cNvSpPr>
          <p:nvPr/>
        </p:nvSpPr>
        <p:spPr>
          <a:xfrm>
            <a:off x="752455" y="1025405"/>
            <a:ext cx="4179309" cy="4031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">
              <a:spcBef>
                <a:spcPts val="12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4.3.3 RNNLM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75CAF-01AE-F746-9A42-1D519FFAFE3D}"/>
              </a:ext>
            </a:extLst>
          </p:cNvPr>
          <p:cNvSpPr/>
          <p:nvPr/>
        </p:nvSpPr>
        <p:spPr>
          <a:xfrm>
            <a:off x="752455" y="1671617"/>
            <a:ext cx="105880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截断的时间反向传播（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Truncated Back-propagation Through Time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6FCCA7-4617-B84F-90AC-BC8290621B53}"/>
              </a:ext>
            </a:extLst>
          </p:cNvPr>
          <p:cNvSpPr/>
          <p:nvPr/>
        </p:nvSpPr>
        <p:spPr>
          <a:xfrm>
            <a:off x="1028700" y="2188414"/>
            <a:ext cx="10134600" cy="1422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在固定长度的时间窗口内展开和计算梯度，仅考虑当前时间窗口内的信息进行权重更新。可（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）显著降低计算复杂度和内存需求，提高训练效率；（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）在一定程度上缓解了梯度消失和梯度爆炸问题 。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2DCC93-D97E-F74E-A3C9-FC2931334957}"/>
              </a:ext>
            </a:extLst>
          </p:cNvPr>
          <p:cNvSpPr/>
          <p:nvPr/>
        </p:nvSpPr>
        <p:spPr>
          <a:xfrm>
            <a:off x="752455" y="3774694"/>
            <a:ext cx="26853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批量梯度下降法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54191F-72E1-2947-94FF-41C6A13019C6}"/>
              </a:ext>
            </a:extLst>
          </p:cNvPr>
          <p:cNvSpPr/>
          <p:nvPr/>
        </p:nvSpPr>
        <p:spPr>
          <a:xfrm>
            <a:off x="1049018" y="4355610"/>
            <a:ext cx="9994900" cy="961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在每个训练步骤中，使用一小批训练样本来计算梯度和更新权重。可（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）加速训练；（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）使梯度估计更加平稳，避免陷入局部最优解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57469B-6D0D-7648-A3EC-E61B374A6809}"/>
              </a:ext>
            </a:extLst>
          </p:cNvPr>
          <p:cNvSpPr/>
          <p:nvPr/>
        </p:nvSpPr>
        <p:spPr>
          <a:xfrm>
            <a:off x="638155" y="5545435"/>
            <a:ext cx="17620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梯度裁剪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666917-156E-7447-936B-8E60C5D12969}"/>
              </a:ext>
            </a:extLst>
          </p:cNvPr>
          <p:cNvSpPr/>
          <p:nvPr/>
        </p:nvSpPr>
        <p:spPr>
          <a:xfrm>
            <a:off x="1028700" y="6061654"/>
            <a:ext cx="9994900" cy="49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当梯度的范数超过预设阈值时，对梯度进行裁剪，从而 保证模型训练的稳定性。</a:t>
            </a:r>
          </a:p>
        </p:txBody>
      </p:sp>
    </p:spTree>
    <p:extLst>
      <p:ext uri="{BB962C8B-B14F-4D97-AF65-F5344CB8AC3E}">
        <p14:creationId xmlns:p14="http://schemas.microsoft.com/office/powerpoint/2010/main" val="31516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752455" y="219389"/>
            <a:ext cx="7194116" cy="5139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5240">
              <a:spcBef>
                <a:spcPts val="120"/>
              </a:spcBef>
            </a:pP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随堂习题</a:t>
            </a:r>
            <a:r>
              <a:rPr lang="en-US" altLang="zh-CN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2">
            <a:extLst>
              <a:ext uri="{FF2B5EF4-FFF2-40B4-BE49-F238E27FC236}">
                <a16:creationId xmlns:a16="http://schemas.microsoft.com/office/drawing/2014/main" id="{D17D6613-91CC-6740-A19B-FE2041911452}"/>
              </a:ext>
            </a:extLst>
          </p:cNvPr>
          <p:cNvSpPr/>
          <p:nvPr/>
        </p:nvSpPr>
        <p:spPr>
          <a:xfrm rot="5400000">
            <a:off x="-195580" y="315411"/>
            <a:ext cx="713105" cy="321945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9620F3-8B72-CE47-9ABB-633DEBE79892}"/>
              </a:ext>
            </a:extLst>
          </p:cNvPr>
          <p:cNvSpPr txBox="1"/>
          <p:nvPr/>
        </p:nvSpPr>
        <p:spPr>
          <a:xfrm>
            <a:off x="482600" y="1209040"/>
            <a:ext cx="10846435" cy="9612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 anchor="t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习题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神经网络语言模型是如何在语言建模中发挥作用的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它相比于传统统计方法有什么优势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3D0FEF-710F-AE4E-AFFD-C0CE7D5E2B49}"/>
              </a:ext>
            </a:extLst>
          </p:cNvPr>
          <p:cNvSpPr txBox="1"/>
          <p:nvPr/>
        </p:nvSpPr>
        <p:spPr>
          <a:xfrm>
            <a:off x="482599" y="2482248"/>
            <a:ext cx="10846435" cy="9612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 anchor="t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习题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4.2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什么是循环神经网络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RNN)?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它与传统的前馈神经网络有何不同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 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6CA169-599F-FC4A-96D9-AC0915E5FBDF}"/>
              </a:ext>
            </a:extLst>
          </p:cNvPr>
          <p:cNvSpPr txBox="1"/>
          <p:nvPr/>
        </p:nvSpPr>
        <p:spPr>
          <a:xfrm>
            <a:off x="482599" y="3755456"/>
            <a:ext cx="10846435" cy="9612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 anchor="t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习题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请写出循环神经网络中的基本更新公式，即如何计算隐藏状态 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 输出 </a:t>
            </a:r>
            <a:r>
              <a:rPr lang="sq-AL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yt?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8AD95E-72C3-1947-BE7A-2EF7C505169F}"/>
              </a:ext>
            </a:extLst>
          </p:cNvPr>
          <p:cNvSpPr txBox="1"/>
          <p:nvPr/>
        </p:nvSpPr>
        <p:spPr>
          <a:xfrm>
            <a:off x="482598" y="5009363"/>
            <a:ext cx="10846435" cy="14228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 anchor="t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习题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4.4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请阐述在循环神经网络中权重共享的概念，并解释为什么这种机制有助于模型在处理序列数据时的学习和泛化。</a:t>
            </a:r>
          </a:p>
        </p:txBody>
      </p:sp>
    </p:spTree>
    <p:extLst>
      <p:ext uri="{BB962C8B-B14F-4D97-AF65-F5344CB8AC3E}">
        <p14:creationId xmlns:p14="http://schemas.microsoft.com/office/powerpoint/2010/main" val="2872648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118A38FC-D425-FD3D-8240-503E30908348}"/>
              </a:ext>
            </a:extLst>
          </p:cNvPr>
          <p:cNvSpPr/>
          <p:nvPr/>
        </p:nvSpPr>
        <p:spPr>
          <a:xfrm>
            <a:off x="0" y="2165655"/>
            <a:ext cx="12192000" cy="28282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01E3E895-3214-7D62-9B78-C29683737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269" y="2704381"/>
            <a:ext cx="2262158" cy="1067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54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0C21BEA-9DFF-E7AE-2D9B-00010078C361}"/>
              </a:ext>
            </a:extLst>
          </p:cNvPr>
          <p:cNvGrpSpPr/>
          <p:nvPr/>
        </p:nvGrpSpPr>
        <p:grpSpPr>
          <a:xfrm>
            <a:off x="528083" y="345279"/>
            <a:ext cx="1056877" cy="1043488"/>
            <a:chOff x="3136373" y="1952459"/>
            <a:chExt cx="2006695" cy="2043945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BFEDB4B2-7AA6-2E90-9EFD-9E543CE2E934}"/>
                </a:ext>
              </a:extLst>
            </p:cNvPr>
            <p:cNvSpPr/>
            <p:nvPr/>
          </p:nvSpPr>
          <p:spPr>
            <a:xfrm>
              <a:off x="3547096" y="2435635"/>
              <a:ext cx="1595972" cy="1560769"/>
            </a:xfrm>
            <a:prstGeom prst="roundRect">
              <a:avLst>
                <a:gd name="adj" fmla="val 6111"/>
              </a:avLst>
            </a:prstGeom>
            <a:solidFill>
              <a:srgbClr val="B8C3D2"/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BB0DEA0-045D-3FB9-1F81-39BABA8D457C}"/>
                </a:ext>
              </a:extLst>
            </p:cNvPr>
            <p:cNvSpPr/>
            <p:nvPr/>
          </p:nvSpPr>
          <p:spPr>
            <a:xfrm>
              <a:off x="3136373" y="2039478"/>
              <a:ext cx="1565306" cy="150596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30" name="文本框 31">
              <a:extLst>
                <a:ext uri="{FF2B5EF4-FFF2-40B4-BE49-F238E27FC236}">
                  <a16:creationId xmlns:a16="http://schemas.microsoft.com/office/drawing/2014/main" id="{5D2C1F8A-040E-827B-6890-C7F26A4C33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989" y="1952459"/>
              <a:ext cx="892073" cy="1409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lang="en-US" altLang="zh-CN" sz="7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幼圆" panose="02010509060101010101" pitchFamily="49" charset="-122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272044AD-4A31-844B-9B86-359C1D85D560}"/>
              </a:ext>
            </a:extLst>
          </p:cNvPr>
          <p:cNvSpPr txBox="1"/>
          <p:nvPr/>
        </p:nvSpPr>
        <p:spPr>
          <a:xfrm>
            <a:off x="4226952" y="3950756"/>
            <a:ext cx="4142791" cy="597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F7F7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第四章   神经语言模型</a:t>
            </a:r>
            <a:endParaRPr lang="en-US" altLang="zh-CN" sz="2800" b="1" dirty="0">
              <a:solidFill>
                <a:srgbClr val="7F7F7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752CFA-CD7D-ECB8-F2F7-62824286A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D0BB8-7AD7-41EE-9CF9-64237F018351}" type="slidenum">
              <a:rPr lang="zh-CN" altLang="en-US" smtClean="0"/>
              <a:t>36</a:t>
            </a:fld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A13DC89-060C-6E47-BC9C-BA81FE5E0ADD}"/>
              </a:ext>
            </a:extLst>
          </p:cNvPr>
          <p:cNvGrpSpPr/>
          <p:nvPr/>
        </p:nvGrpSpPr>
        <p:grpSpPr>
          <a:xfrm>
            <a:off x="7726681" y="198120"/>
            <a:ext cx="3649218" cy="772123"/>
            <a:chOff x="6096000" y="266700"/>
            <a:chExt cx="3041015" cy="64343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434E2BC-B9F9-8741-B0C0-CD5027265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266700"/>
              <a:ext cx="3041015" cy="565044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2CF7D99-5355-C341-A024-75AA72213345}"/>
                </a:ext>
              </a:extLst>
            </p:cNvPr>
            <p:cNvSpPr/>
            <p:nvPr userDrawn="1"/>
          </p:nvSpPr>
          <p:spPr>
            <a:xfrm>
              <a:off x="8756015" y="571500"/>
              <a:ext cx="381000" cy="338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106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37"/>
    </mc:Choice>
    <mc:Fallback xmlns="">
      <p:transition spd="slow" advTm="2637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</a:spPr>
      <a:bodyPr wrap="square" rtlCol="0" anchor="ctr">
        <a:spAutoFit/>
      </a:bodyPr>
      <a:lstStyle>
        <a:defPPr marL="285750" indent="-285750" algn="l">
          <a:lnSpc>
            <a:spcPct val="150000"/>
          </a:lnSpc>
          <a:buFont typeface="Arial" panose="020B0604020202020204" pitchFamily="34" charset="0"/>
          <a:buChar char="•"/>
          <a:defRPr kumimoji="1" sz="20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15036</TotalTime>
  <Words>2055</Words>
  <Application>Microsoft Macintosh PowerPoint</Application>
  <PresentationFormat>Widescreen</PresentationFormat>
  <Paragraphs>247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CMMI10</vt:lpstr>
      <vt:lpstr>CMMI7</vt:lpstr>
      <vt:lpstr>CMR7</vt:lpstr>
      <vt:lpstr>等线</vt:lpstr>
      <vt:lpstr>等线 Light</vt:lpstr>
      <vt:lpstr>FandolSong-Regular-Identity-H</vt:lpstr>
      <vt:lpstr>LMRomanDemi10-Regular-Identity-H</vt:lpstr>
      <vt:lpstr>微软雅黑</vt:lpstr>
      <vt:lpstr>微软雅黑</vt:lpstr>
      <vt:lpstr>Arial</vt:lpstr>
      <vt:lpstr>Bell MT</vt:lpstr>
      <vt:lpstr>Cambria Math</vt:lpstr>
      <vt:lpstr>Times New Roman</vt:lpstr>
      <vt:lpstr>Wingdings</vt:lpstr>
      <vt:lpstr>Office 主题​​</vt:lpstr>
      <vt:lpstr>第四章 神经语言模型</vt:lpstr>
      <vt:lpstr>4.1 概述 4.2 神经概率语言模型  4.2.1 概率约束条件  4.2.2 模型架构  4.2.3 具体过程 4.3 基于循环神经网络的语言模型   4.3.1 循环神经网络结构  4.3.2 基于循环神经网络的语言模型原理  4.3.3 基于循环神经网络的语言模型的训练</vt:lpstr>
      <vt:lpstr>4.1 概述</vt:lpstr>
      <vt:lpstr>4.1 概述</vt:lpstr>
      <vt:lpstr>4.1 概述 4.2 神经概率语言模型  4.2.1 概率约束条件  4.2.2 模型架构  4.2.3 具体过程 4.3 基于循环神经网络的语言模型   4.3.1 循环神经网络结构  4.3.2 基于循环神经网络的语言模型原理  4.3.3 基于循环神经网络的语言模型的训练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4.2 神经概率语言模型</vt:lpstr>
      <vt:lpstr>4.1 概述 4.2 神经概率语言模型  4.2.1 概率约束条件  4.2.2 模型架构  4.2.3 具体过程 4.3 基于循环神经网络的语言模型   4.3.1 循环神经网络结构  4.3.2 基于循环神经网络的语言模型原理  4.3.3 基于循环神经网络的语言模型的训练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4.3 基于循环神经网络的语言模型 </vt:lpstr>
      <vt:lpstr>4.4 随堂习题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绪论</dc:title>
  <dc:creator>Microsoft Office User</dc:creator>
  <cp:lastModifiedBy>Zhongpu Chen</cp:lastModifiedBy>
  <cp:revision>87</cp:revision>
  <dcterms:created xsi:type="dcterms:W3CDTF">2024-09-13T11:28:02Z</dcterms:created>
  <dcterms:modified xsi:type="dcterms:W3CDTF">2025-10-11T06:43:29Z</dcterms:modified>
</cp:coreProperties>
</file>