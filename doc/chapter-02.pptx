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7" r:id="rId2"/>
    <p:sldId id="259" r:id="rId3"/>
    <p:sldId id="778" r:id="rId4"/>
    <p:sldId id="261" r:id="rId5"/>
    <p:sldId id="780" r:id="rId6"/>
    <p:sldId id="751" r:id="rId7"/>
    <p:sldId id="753" r:id="rId8"/>
    <p:sldId id="755" r:id="rId9"/>
    <p:sldId id="777" r:id="rId10"/>
    <p:sldId id="779" r:id="rId11"/>
    <p:sldId id="782" r:id="rId12"/>
    <p:sldId id="756" r:id="rId13"/>
    <p:sldId id="757" r:id="rId14"/>
    <p:sldId id="758" r:id="rId15"/>
    <p:sldId id="781" r:id="rId16"/>
    <p:sldId id="760" r:id="rId17"/>
    <p:sldId id="761" r:id="rId18"/>
    <p:sldId id="783" r:id="rId19"/>
    <p:sldId id="784" r:id="rId20"/>
    <p:sldId id="762" r:id="rId21"/>
    <p:sldId id="764" r:id="rId22"/>
    <p:sldId id="765" r:id="rId23"/>
    <p:sldId id="785" r:id="rId24"/>
    <p:sldId id="766" r:id="rId25"/>
    <p:sldId id="767" r:id="rId26"/>
    <p:sldId id="788" r:id="rId27"/>
    <p:sldId id="787" r:id="rId28"/>
    <p:sldId id="789" r:id="rId29"/>
    <p:sldId id="768" r:id="rId30"/>
    <p:sldId id="769" r:id="rId31"/>
    <p:sldId id="770" r:id="rId32"/>
    <p:sldId id="771" r:id="rId33"/>
    <p:sldId id="772" r:id="rId34"/>
    <p:sldId id="774" r:id="rId35"/>
    <p:sldId id="775" r:id="rId36"/>
    <p:sldId id="776" r:id="rId37"/>
    <p:sldId id="773" r:id="rId38"/>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44" autoAdjust="0"/>
    <p:restoredTop sz="94633"/>
  </p:normalViewPr>
  <p:slideViewPr>
    <p:cSldViewPr snapToGrid="0" showGuides="1">
      <p:cViewPr varScale="1">
        <p:scale>
          <a:sx n="99" d="100"/>
          <a:sy n="99" d="100"/>
        </p:scale>
        <p:origin x="200" y="656"/>
      </p:cViewPr>
      <p:guideLst>
        <p:guide orient="horz" pos="2228"/>
        <p:guide pos="389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2025/9/17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2</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4</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6</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7</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8</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92BC0-2FC1-BFCC-2E71-F3E3033036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1C1E28-BB56-4D9E-208C-CB5453A21F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6943AA-E5D3-C4EE-82AD-6BE30AC9D96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41FD251-A2F8-7807-182D-91C7DDA42449}"/>
              </a:ext>
            </a:extLst>
          </p:cNvPr>
          <p:cNvSpPr>
            <a:spLocks noGrp="1"/>
          </p:cNvSpPr>
          <p:nvPr>
            <p:ph type="sldNum" sz="quarter" idx="5"/>
          </p:nvPr>
        </p:nvSpPr>
        <p:spPr/>
        <p:txBody>
          <a:bodyPr/>
          <a:lstStyle/>
          <a:p>
            <a:fld id="{22B32B55-6CD0-40C0-BAFE-D331F0A28190}" type="slidenum">
              <a:rPr lang="en-US" altLang="zh-CN" smtClean="0"/>
              <a:t>9</a:t>
            </a:fld>
            <a:endParaRPr lang="en-US" altLang="zh-CN"/>
          </a:p>
        </p:txBody>
      </p:sp>
    </p:spTree>
    <p:extLst>
      <p:ext uri="{BB962C8B-B14F-4D97-AF65-F5344CB8AC3E}">
        <p14:creationId xmlns:p14="http://schemas.microsoft.com/office/powerpoint/2010/main" val="1680735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ACF04-E372-C5AC-0A55-15723520A1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13C4F8-F878-538B-C7B2-CD3CFB71C9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2102B05-DD81-E20E-B376-EDE0DFCFDA8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FFBDFB3-0452-B6E0-00F3-A7208F22434F}"/>
              </a:ext>
            </a:extLst>
          </p:cNvPr>
          <p:cNvSpPr>
            <a:spLocks noGrp="1"/>
          </p:cNvSpPr>
          <p:nvPr>
            <p:ph type="sldNum" sz="quarter" idx="5"/>
          </p:nvPr>
        </p:nvSpPr>
        <p:spPr/>
        <p:txBody>
          <a:bodyPr/>
          <a:lstStyle/>
          <a:p>
            <a:fld id="{22B32B55-6CD0-40C0-BAFE-D331F0A28190}" type="slidenum">
              <a:rPr lang="en-US" altLang="zh-CN" smtClean="0"/>
              <a:t>10</a:t>
            </a:fld>
            <a:endParaRPr lang="en-US" altLang="zh-CN"/>
          </a:p>
        </p:txBody>
      </p:sp>
    </p:spTree>
    <p:extLst>
      <p:ext uri="{BB962C8B-B14F-4D97-AF65-F5344CB8AC3E}">
        <p14:creationId xmlns:p14="http://schemas.microsoft.com/office/powerpoint/2010/main" val="1394693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12</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13</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14</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16</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17</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4064285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20</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21</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22</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F9836-8D4F-ECE5-E432-01BB538303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BDF8F6-2DDF-A578-0104-DEB7034E85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E20C64-EC69-CB4A-443D-3C29A4ACF6B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39500B7-88B7-1B13-72AD-0BC8E8A8B1C0}"/>
              </a:ext>
            </a:extLst>
          </p:cNvPr>
          <p:cNvSpPr>
            <a:spLocks noGrp="1"/>
          </p:cNvSpPr>
          <p:nvPr>
            <p:ph type="sldNum" sz="quarter" idx="5"/>
          </p:nvPr>
        </p:nvSpPr>
        <p:spPr/>
        <p:txBody>
          <a:bodyPr/>
          <a:lstStyle/>
          <a:p>
            <a:fld id="{22B32B55-6CD0-40C0-BAFE-D331F0A28190}" type="slidenum">
              <a:rPr lang="en-US" altLang="zh-CN" smtClean="0"/>
              <a:t>23</a:t>
            </a:fld>
            <a:endParaRPr lang="en-US" altLang="zh-CN"/>
          </a:p>
        </p:txBody>
      </p:sp>
    </p:spTree>
    <p:extLst>
      <p:ext uri="{BB962C8B-B14F-4D97-AF65-F5344CB8AC3E}">
        <p14:creationId xmlns:p14="http://schemas.microsoft.com/office/powerpoint/2010/main" val="27261327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24</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25</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9211919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29</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30</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31</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32</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33</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34</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35</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36</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a:t>
            </a:r>
            <a:r>
              <a:rPr lang="en-US" altLang="zh-CN" dirty="0" err="1"/>
              <a:t>arxiv.org</a:t>
            </a:r>
            <a:r>
              <a:rPr lang="en-US" altLang="zh-CN" dirty="0"/>
              <a:t>/pdf/1310.4546</a:t>
            </a:r>
            <a:endParaRPr lang="zh-CN" altLang="en-US" dirty="0"/>
          </a:p>
        </p:txBody>
      </p:sp>
      <p:sp>
        <p:nvSpPr>
          <p:cNvPr id="4" name="灯片编号占位符 3"/>
          <p:cNvSpPr>
            <a:spLocks noGrp="1"/>
          </p:cNvSpPr>
          <p:nvPr>
            <p:ph type="sldNum" sz="quarter" idx="5"/>
          </p:nvPr>
        </p:nvSpPr>
        <p:spPr/>
        <p:txBody>
          <a:bodyPr/>
          <a:lstStyle/>
          <a:p>
            <a:fld id="{22B32B55-6CD0-40C0-BAFE-D331F0A28190}" type="slidenum">
              <a:rPr lang="en-US" altLang="zh-CN" smtClean="0"/>
              <a:t>37</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slideMaster" Target="../slideMasters/slideMaster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Master" Target="../slideMasters/slideMaster1.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slideMaster" Target="../slideMasters/slideMaster1.xml"/><Relationship Id="rId4" Type="http://schemas.openxmlformats.org/officeDocument/2006/relationships/tags" Target="../tags/tag58.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2025/9/17</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2025/9/17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2025/9/17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2025/9/17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2025/9/17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2025/9/17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2025/9/17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2025/9/17</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2025/9/17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2025/9/17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2025/9/17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2025/9/17</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latform.openai.com/tokenizer"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blog.sciencenet.cn/blog-94143-1198831.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carbon.now.sh/"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hyperlink" Target="https://arxiv.org/pdf/1310.4546"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https://arxiv.org/pdf/1301.3781" TargetMode="Externa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hyperlink" Target="https://d2l.ai/chapter_multilayer-perceptrons/mlp.html" TargetMode="Externa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1.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hyperlink" Target="https://docs.pytorch.org/docs/stable/generated/torch.nn.Softmax.html" TargetMode="External"/><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1.png"/><Relationship Id="rId7" Type="http://schemas.openxmlformats.org/officeDocument/2006/relationships/image" Target="../media/image6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2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png"/><Relationship Id="rId7" Type="http://schemas.openxmlformats.org/officeDocument/2006/relationships/image" Target="../media/image7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62.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22.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1.png"/><Relationship Id="rId7" Type="http://schemas.openxmlformats.org/officeDocument/2006/relationships/image" Target="../media/image7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9" Type="http://schemas.openxmlformats.org/officeDocument/2006/relationships/image" Target="../media/image8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en.wikipedia.org/wiki/Huffman_coding" TargetMode="External"/><Relationship Id="rId4" Type="http://schemas.openxmlformats.org/officeDocument/2006/relationships/image" Target="../media/image8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25.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1.png"/><Relationship Id="rId7" Type="http://schemas.openxmlformats.org/officeDocument/2006/relationships/image" Target="../media/image8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8.png"/></Relationships>
</file>

<file path=ppt/slides/_rels/slide2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geeksforgeeks.org/python/implement-your-own-word2vecskip-gram-model-in-python/"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radimrehurek.com/gensim/auto_examples/index.html" TargetMode="External"/><Relationship Id="rId5" Type="http://schemas.openxmlformats.org/officeDocument/2006/relationships/image" Target="../media/image90.png"/><Relationship Id="rId4" Type="http://schemas.openxmlformats.org/officeDocument/2006/relationships/hyperlink" Target="https://github.com/dav/word2vec"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32.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png"/><Relationship Id="rId7" Type="http://schemas.openxmlformats.org/officeDocument/2006/relationships/image" Target="../media/image99.png"/><Relationship Id="rId12" Type="http://schemas.openxmlformats.org/officeDocument/2006/relationships/image" Target="../media/image10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98.png"/><Relationship Id="rId11" Type="http://schemas.openxmlformats.org/officeDocument/2006/relationships/image" Target="../media/image103.png"/><Relationship Id="rId5" Type="http://schemas.openxmlformats.org/officeDocument/2006/relationships/image" Target="../media/image97.png"/><Relationship Id="rId10" Type="http://schemas.openxmlformats.org/officeDocument/2006/relationships/image" Target="../media/image102.png"/><Relationship Id="rId4" Type="http://schemas.openxmlformats.org/officeDocument/2006/relationships/image" Target="../media/image96.png"/><Relationship Id="rId9" Type="http://schemas.openxmlformats.org/officeDocument/2006/relationships/image" Target="../media/image10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png"/><Relationship Id="rId7" Type="http://schemas.openxmlformats.org/officeDocument/2006/relationships/image" Target="../media/image10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36.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23.png"/><Relationship Id="rId3" Type="http://schemas.openxmlformats.org/officeDocument/2006/relationships/image" Target="../media/image1.png"/><Relationship Id="rId7" Type="http://schemas.openxmlformats.org/officeDocument/2006/relationships/image" Target="../media/image117.png"/><Relationship Id="rId12" Type="http://schemas.openxmlformats.org/officeDocument/2006/relationships/image" Target="../media/image12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16.png"/><Relationship Id="rId11" Type="http://schemas.openxmlformats.org/officeDocument/2006/relationships/image" Target="../media/image121.png"/><Relationship Id="rId5" Type="http://schemas.openxmlformats.org/officeDocument/2006/relationships/image" Target="../media/image115.png"/><Relationship Id="rId15" Type="http://schemas.openxmlformats.org/officeDocument/2006/relationships/image" Target="../media/image12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 Id="rId14" Type="http://schemas.openxmlformats.org/officeDocument/2006/relationships/image" Target="../media/image124.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981200" y="2047876"/>
            <a:ext cx="8229600" cy="901065"/>
          </a:xfrm>
          <a:prstGeom prst="rect">
            <a:avLst/>
          </a:prstGeom>
        </p:spPr>
        <p:txBody>
          <a:bodyPr vert="horz" wrap="square" lIns="0" tIns="15240" rIns="0" bIns="0" rtlCol="0">
            <a:spAutoFit/>
          </a:bodyPr>
          <a:lstStyle/>
          <a:p>
            <a:pPr marL="12700" algn="ctr">
              <a:lnSpc>
                <a:spcPct val="100000"/>
              </a:lnSpc>
              <a:spcBef>
                <a:spcPts val="100"/>
              </a:spcBef>
            </a:pPr>
            <a:r>
              <a:rPr lang="zh-CN" altLang="en-US" sz="5760" dirty="0">
                <a:solidFill>
                  <a:srgbClr val="0070C0"/>
                </a:solidFill>
                <a:latin typeface="Arial" panose="020B0604020202020204" pitchFamily="34" charset="0"/>
                <a:ea typeface="微软雅黑" panose="020B0503020204020204" pitchFamily="34" charset="-122"/>
                <a:cs typeface="Arial" panose="020B0604020202020204" pitchFamily="34" charset="0"/>
              </a:rPr>
              <a:t>第二章</a:t>
            </a:r>
            <a:r>
              <a:rPr lang="en-US" altLang="zh-CN" sz="5760" dirty="0">
                <a:solidFill>
                  <a:srgbClr val="0070C0"/>
                </a:solidFill>
                <a:latin typeface="Arial" panose="020B0604020202020204" pitchFamily="34" charset="0"/>
                <a:ea typeface="微软雅黑" panose="020B0503020204020204" pitchFamily="34" charset="-122"/>
                <a:cs typeface="Arial" panose="020B0604020202020204" pitchFamily="34" charset="0"/>
              </a:rPr>
              <a:t> </a:t>
            </a:r>
            <a:r>
              <a:rPr lang="zh-CN" altLang="en-US" sz="5760" dirty="0">
                <a:solidFill>
                  <a:srgbClr val="0070C0"/>
                </a:solidFill>
                <a:latin typeface="Arial" panose="020B0604020202020204" pitchFamily="34" charset="0"/>
                <a:ea typeface="微软雅黑" panose="020B0503020204020204" pitchFamily="34" charset="-122"/>
                <a:cs typeface="Arial" panose="020B0604020202020204" pitchFamily="34" charset="0"/>
              </a:rPr>
              <a:t>词向量</a:t>
            </a:r>
            <a:endParaRPr lang="zh-CN" altLang="en-US" sz="576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4" name="组合 3"/>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2"/>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object 3"/>
          <p:cNvSpPr txBox="1"/>
          <p:nvPr/>
        </p:nvSpPr>
        <p:spPr>
          <a:xfrm>
            <a:off x="4140200" y="3874388"/>
            <a:ext cx="3911600" cy="1349728"/>
          </a:xfrm>
          <a:prstGeom prst="rect">
            <a:avLst/>
          </a:prstGeom>
        </p:spPr>
        <p:txBody>
          <a:bodyPr vert="horz" wrap="square" lIns="0" tIns="155575" rIns="0" bIns="0" rtlCol="0">
            <a:spAutoFit/>
          </a:bodyPr>
          <a:lstStyle/>
          <a:p>
            <a:pPr algn="ctr">
              <a:lnSpc>
                <a:spcPct val="100000"/>
              </a:lnSpc>
              <a:spcBef>
                <a:spcPts val="1225"/>
              </a:spcBef>
            </a:pPr>
            <a:r>
              <a:rPr lang="zh-CN" altLang="en-US" sz="2000" dirty="0">
                <a:latin typeface="Arial" panose="020B0604020202020204" pitchFamily="34" charset="0"/>
                <a:ea typeface="微软雅黑" panose="020B0503020204020204" pitchFamily="34" charset="-122"/>
                <a:cs typeface="Arial" panose="020B0604020202020204" pitchFamily="34" charset="0"/>
              </a:rPr>
              <a:t>通用人工智能与数字经济创新团队</a:t>
            </a:r>
          </a:p>
          <a:p>
            <a:pPr algn="ctr">
              <a:lnSpc>
                <a:spcPct val="100000"/>
              </a:lnSpc>
              <a:spcBef>
                <a:spcPts val="1130"/>
              </a:spcBef>
            </a:pPr>
            <a:r>
              <a:rPr lang="zh-CN" altLang="en-US" sz="2000" b="1" dirty="0">
                <a:solidFill>
                  <a:srgbClr val="404040"/>
                </a:solidFill>
                <a:latin typeface="Arial" panose="020B0604020202020204" pitchFamily="34" charset="0"/>
                <a:ea typeface="微软雅黑" panose="020B0503020204020204" pitchFamily="34" charset="-122"/>
                <a:cs typeface="Arial" panose="020B0604020202020204" pitchFamily="34" charset="0"/>
              </a:rPr>
              <a:t>西南财经大学</a:t>
            </a:r>
            <a:endParaRPr lang="zh-CN" altLang="en-US" sz="2000" b="1" dirty="0">
              <a:latin typeface="Arial" panose="020B0604020202020204" pitchFamily="34" charset="0"/>
              <a:ea typeface="微软雅黑" panose="020B0503020204020204" pitchFamily="34" charset="-122"/>
              <a:cs typeface="Arial" panose="020B0604020202020204" pitchFamily="34" charset="0"/>
            </a:endParaRPr>
          </a:p>
          <a:p>
            <a:pPr algn="ctr">
              <a:lnSpc>
                <a:spcPct val="100000"/>
              </a:lnSpc>
              <a:spcBef>
                <a:spcPts val="1030"/>
              </a:spcBef>
            </a:pPr>
            <a:r>
              <a:rPr lang="en-US" altLang="zh-CN" sz="2000" spc="-5" dirty="0">
                <a:solidFill>
                  <a:srgbClr val="7F7F7F"/>
                </a:solidFill>
                <a:latin typeface="Arial" panose="020B0604020202020204" pitchFamily="34" charset="0"/>
                <a:ea typeface="微软雅黑" panose="020B0503020204020204" pitchFamily="34" charset="-122"/>
                <a:cs typeface="Arial" panose="020B0604020202020204" pitchFamily="34" charset="0"/>
              </a:rPr>
              <a:t> </a:t>
            </a:r>
            <a:endParaRPr sz="2000" dirty="0">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9" name="object 3"/>
          <p:cNvSpPr txBox="1"/>
          <p:nvPr/>
        </p:nvSpPr>
        <p:spPr>
          <a:xfrm>
            <a:off x="533400" y="504825"/>
            <a:ext cx="5560060" cy="511422"/>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zh-CN" altLang="en-US" sz="3600" b="1" dirty="0">
                <a:solidFill>
                  <a:srgbClr val="0070C0"/>
                </a:solidFill>
                <a:latin typeface="微软雅黑" panose="020B0503020204020204" pitchFamily="34" charset="-122"/>
                <a:ea typeface="微软雅黑" panose="020B0503020204020204" pitchFamily="34" charset="-122"/>
              </a:rPr>
              <a:t>目录</a:t>
            </a:r>
          </a:p>
        </p:txBody>
      </p:sp>
      <p:sp>
        <p:nvSpPr>
          <p:cNvPr id="10" name="object 3"/>
          <p:cNvSpPr txBox="1">
            <a:spLocks noGrp="1"/>
          </p:cNvSpPr>
          <p:nvPr>
            <p:ph type="title"/>
          </p:nvPr>
        </p:nvSpPr>
        <p:spPr>
          <a:xfrm>
            <a:off x="1227455" y="1390777"/>
            <a:ext cx="7620000" cy="3890645"/>
          </a:xfrm>
          <a:prstGeom prst="rect">
            <a:avLst/>
          </a:prstGeom>
        </p:spPr>
        <p:txBody>
          <a:bodyPr vert="horz" wrap="square" lIns="0" tIns="12700" rIns="0" bIns="0" rtlCol="0">
            <a:spAutoFit/>
          </a:bodyPr>
          <a:lstStyle/>
          <a:p>
            <a:pPr marL="0" indent="0">
              <a:lnSpc>
                <a:spcPct val="150000"/>
              </a:lnSpc>
              <a:tabLst>
                <a:tab pos="354965" algn="l"/>
                <a:tab pos="355600" algn="l"/>
              </a:tabLst>
            </a:pPr>
            <a:r>
              <a:rPr lang="en-US" altLang="zh-CN" sz="2800" b="1" dirty="0">
                <a:solidFill>
                  <a:srgbClr val="0070C0"/>
                </a:solidFill>
                <a:latin typeface="微软雅黑" panose="020B0503020204020204" pitchFamily="34" charset="-122"/>
                <a:ea typeface="微软雅黑" panose="020B0503020204020204" pitchFamily="34" charset="-122"/>
              </a:rPr>
              <a:t>2.1</a:t>
            </a:r>
            <a:r>
              <a:rPr lang="zh-CN" altLang="en-US" sz="2800" b="1" dirty="0">
                <a:solidFill>
                  <a:srgbClr val="0070C0"/>
                </a:solidFill>
                <a:latin typeface="微软雅黑" panose="020B0503020204020204" pitchFamily="34" charset="-122"/>
                <a:ea typeface="微软雅黑" panose="020B0503020204020204" pitchFamily="34" charset="-122"/>
              </a:rPr>
              <a:t>概述</a:t>
            </a:r>
            <a:br>
              <a:rPr lang="en-US" altLang="zh-CN" sz="2800" b="1" dirty="0">
                <a:solidFill>
                  <a:srgbClr val="0070C0"/>
                </a:solidFill>
                <a:latin typeface="微软雅黑" panose="020B0503020204020204" pitchFamily="34" charset="-122"/>
                <a:ea typeface="微软雅黑" panose="020B0503020204020204" pitchFamily="34" charset="-122"/>
              </a:rPr>
            </a:br>
            <a:r>
              <a:rPr lang="en-US" altLang="zh-CN" sz="2800" b="1" dirty="0">
                <a:solidFill>
                  <a:srgbClr val="0070C0"/>
                </a:solidFill>
                <a:latin typeface="微软雅黑" panose="020B0503020204020204" pitchFamily="34" charset="-122"/>
                <a:ea typeface="微软雅黑" panose="020B0503020204020204" pitchFamily="34" charset="-122"/>
              </a:rPr>
              <a:t>2.2</a:t>
            </a:r>
            <a:r>
              <a:rPr lang="zh-CN" altLang="en-US" sz="2800" b="1" dirty="0">
                <a:solidFill>
                  <a:srgbClr val="0070C0"/>
                </a:solidFill>
                <a:latin typeface="微软雅黑" panose="020B0503020204020204" pitchFamily="34" charset="-122"/>
                <a:ea typeface="微软雅黑" panose="020B0503020204020204" pitchFamily="34" charset="-122"/>
              </a:rPr>
              <a:t>文本表示方法</a:t>
            </a:r>
            <a:br>
              <a:rPr lang="en-US" altLang="zh-CN" sz="2800" b="1" dirty="0">
                <a:solidFill>
                  <a:srgbClr val="0070C0"/>
                </a:solidFill>
                <a:latin typeface="微软雅黑" panose="020B0503020204020204" pitchFamily="34" charset="-122"/>
                <a:ea typeface="微软雅黑" panose="020B0503020204020204" pitchFamily="34" charset="-122"/>
              </a:rPr>
            </a:br>
            <a:r>
              <a:rPr lang="en-US" altLang="zh-CN" sz="2800" b="1" dirty="0">
                <a:solidFill>
                  <a:srgbClr val="0070C0"/>
                </a:solidFill>
                <a:latin typeface="微软雅黑" panose="020B0503020204020204" pitchFamily="34" charset="-122"/>
                <a:ea typeface="微软雅黑" panose="020B0503020204020204" pitchFamily="34" charset="-122"/>
              </a:rPr>
              <a:t>2.3Word2Vec</a:t>
            </a:r>
            <a:r>
              <a:rPr lang="zh-CN" altLang="en-US" sz="2800" b="1" dirty="0">
                <a:solidFill>
                  <a:srgbClr val="0070C0"/>
                </a:solidFill>
                <a:latin typeface="微软雅黑" panose="020B0503020204020204" pitchFamily="34" charset="-122"/>
                <a:ea typeface="微软雅黑" panose="020B0503020204020204" pitchFamily="34" charset="-122"/>
              </a:rPr>
              <a:t>模型</a:t>
            </a:r>
            <a:r>
              <a:rPr lang="en-US" altLang="zh-CN" sz="2800" b="1" dirty="0">
                <a:solidFill>
                  <a:srgbClr val="0070C0"/>
                </a:solidFill>
                <a:latin typeface="微软雅黑" panose="020B0503020204020204" pitchFamily="34" charset="-122"/>
                <a:ea typeface="微软雅黑" panose="020B0503020204020204" pitchFamily="34" charset="-122"/>
              </a:rPr>
              <a:t> </a:t>
            </a:r>
            <a:br>
              <a:rPr lang="en-US" altLang="zh-CN" sz="2800" b="1" dirty="0">
                <a:solidFill>
                  <a:srgbClr val="0070C0"/>
                </a:solidFill>
                <a:latin typeface="微软雅黑" panose="020B0503020204020204" pitchFamily="34" charset="-122"/>
                <a:ea typeface="微软雅黑" panose="020B0503020204020204" pitchFamily="34" charset="-122"/>
              </a:rPr>
            </a:br>
            <a:r>
              <a:rPr lang="en-US" altLang="zh-CN" sz="2800" b="1" dirty="0">
                <a:solidFill>
                  <a:srgbClr val="0070C0"/>
                </a:solidFill>
                <a:latin typeface="微软雅黑" panose="020B0503020204020204" pitchFamily="34" charset="-122"/>
                <a:ea typeface="微软雅黑" panose="020B0503020204020204" pitchFamily="34" charset="-122"/>
              </a:rPr>
              <a:t>2.4GloVe</a:t>
            </a:r>
            <a:r>
              <a:rPr lang="zh-CN" altLang="en-US" sz="2800" b="1" dirty="0">
                <a:solidFill>
                  <a:srgbClr val="0070C0"/>
                </a:solidFill>
                <a:latin typeface="微软雅黑" panose="020B0503020204020204" pitchFamily="34" charset="-122"/>
                <a:ea typeface="微软雅黑" panose="020B0503020204020204" pitchFamily="34" charset="-122"/>
              </a:rPr>
              <a:t>模型</a:t>
            </a:r>
            <a:br>
              <a:rPr lang="zh-CN" altLang="en-US" sz="2800" b="1" dirty="0">
                <a:solidFill>
                  <a:srgbClr val="0070C0"/>
                </a:solidFill>
                <a:latin typeface="微软雅黑" panose="020B0503020204020204" pitchFamily="34" charset="-122"/>
                <a:ea typeface="微软雅黑" panose="020B0503020204020204" pitchFamily="34" charset="-122"/>
              </a:rPr>
            </a:br>
            <a:r>
              <a:rPr lang="en-US" altLang="zh-CN" sz="2800" b="1" dirty="0">
                <a:solidFill>
                  <a:srgbClr val="0070C0"/>
                </a:solidFill>
                <a:latin typeface="微软雅黑" panose="020B0503020204020204" pitchFamily="34" charset="-122"/>
                <a:ea typeface="微软雅黑" panose="020B0503020204020204" pitchFamily="34" charset="-122"/>
              </a:rPr>
              <a:t>2.5ELMo</a:t>
            </a:r>
            <a:r>
              <a:rPr lang="zh-CN" altLang="en-US" sz="2800" b="1" dirty="0">
                <a:solidFill>
                  <a:srgbClr val="0070C0"/>
                </a:solidFill>
                <a:latin typeface="微软雅黑" panose="020B0503020204020204" pitchFamily="34" charset="-122"/>
                <a:ea typeface="微软雅黑" panose="020B0503020204020204" pitchFamily="34" charset="-122"/>
              </a:rPr>
              <a:t>模型</a:t>
            </a:r>
            <a:br>
              <a:rPr lang="zh-CN" altLang="en-US" sz="2800" b="1" dirty="0">
                <a:solidFill>
                  <a:srgbClr val="0070C0"/>
                </a:solidFill>
                <a:latin typeface="微软雅黑" panose="020B0503020204020204" pitchFamily="34" charset="-122"/>
                <a:ea typeface="微软雅黑" panose="020B0503020204020204" pitchFamily="34" charset="-122"/>
              </a:rPr>
            </a:br>
            <a:r>
              <a:rPr lang="en-US" altLang="zh-CN" sz="2800" b="1" dirty="0">
                <a:solidFill>
                  <a:srgbClr val="0070C0"/>
                </a:solidFill>
                <a:latin typeface="微软雅黑" panose="020B0503020204020204" pitchFamily="34" charset="-122"/>
                <a:ea typeface="微软雅黑" panose="020B0503020204020204" pitchFamily="34" charset="-122"/>
              </a:rPr>
              <a:t>2.6</a:t>
            </a:r>
            <a:r>
              <a:rPr lang="zh-CN" altLang="en-US" sz="2800" b="1" dirty="0">
                <a:solidFill>
                  <a:srgbClr val="0070C0"/>
                </a:solidFill>
                <a:latin typeface="微软雅黑" panose="020B0503020204020204" pitchFamily="34" charset="-122"/>
                <a:ea typeface="微软雅黑" panose="020B0503020204020204" pitchFamily="34" charset="-122"/>
              </a:rPr>
              <a:t>讨论</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8EEE8-52B5-E75D-BCE8-6F65EC19EE6D}"/>
              </a:ext>
            </a:extLst>
          </p:cNvPr>
          <p:cNvSpPr>
            <a:spLocks noGrp="1"/>
          </p:cNvSpPr>
          <p:nvPr>
            <p:ph type="title"/>
          </p:nvPr>
        </p:nvSpPr>
        <p:spPr/>
        <p:txBody>
          <a:bodyPr/>
          <a:lstStyle/>
          <a:p>
            <a:r>
              <a:rPr lang="en-US" dirty="0" err="1"/>
              <a:t>Token长什么样子</a:t>
            </a:r>
            <a:r>
              <a:rPr lang="zh-CN" altLang="en-US" dirty="0"/>
              <a:t>？</a:t>
            </a:r>
            <a:endParaRPr lang="en-US" dirty="0"/>
          </a:p>
        </p:txBody>
      </p:sp>
      <p:pic>
        <p:nvPicPr>
          <p:cNvPr id="6" name="Picture 5">
            <a:extLst>
              <a:ext uri="{FF2B5EF4-FFF2-40B4-BE49-F238E27FC236}">
                <a16:creationId xmlns:a16="http://schemas.microsoft.com/office/drawing/2014/main" id="{D5BEDFF3-0BA2-8E27-E1F1-0D7CA5807A21}"/>
              </a:ext>
            </a:extLst>
          </p:cNvPr>
          <p:cNvPicPr>
            <a:picLocks noChangeAspect="1"/>
          </p:cNvPicPr>
          <p:nvPr/>
        </p:nvPicPr>
        <p:blipFill>
          <a:blip r:embed="rId2"/>
          <a:stretch>
            <a:fillRect/>
          </a:stretch>
        </p:blipFill>
        <p:spPr>
          <a:xfrm>
            <a:off x="692483" y="1521838"/>
            <a:ext cx="6450724" cy="490296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90EB9BB4-1849-672E-1474-A93A5FDC9D61}"/>
              </a:ext>
            </a:extLst>
          </p:cNvPr>
          <p:cNvSpPr txBox="1"/>
          <p:nvPr/>
        </p:nvSpPr>
        <p:spPr>
          <a:xfrm>
            <a:off x="5717628" y="776534"/>
            <a:ext cx="6096000" cy="646331"/>
          </a:xfrm>
          <a:prstGeom prst="rect">
            <a:avLst/>
          </a:prstGeom>
          <a:noFill/>
        </p:spPr>
        <p:txBody>
          <a:bodyPr wrap="square">
            <a:spAutoFit/>
          </a:bodyPr>
          <a:lstStyle/>
          <a:p>
            <a:r>
              <a:rPr lang="en-US" dirty="0">
                <a:hlinkClick r:id="rId3"/>
              </a:rPr>
              <a:t>https://platform.openai.com/tokenizer</a:t>
            </a:r>
            <a:endParaRPr lang="en-US" dirty="0"/>
          </a:p>
          <a:p>
            <a:endParaRPr lang="en-US" dirty="0"/>
          </a:p>
        </p:txBody>
      </p:sp>
    </p:spTree>
    <p:extLst>
      <p:ext uri="{BB962C8B-B14F-4D97-AF65-F5344CB8AC3E}">
        <p14:creationId xmlns:p14="http://schemas.microsoft.com/office/powerpoint/2010/main" val="2670214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2.1</a:t>
            </a:r>
            <a:r>
              <a:rPr lang="zh-CN" altLang="en-US" sz="2880" dirty="0">
                <a:solidFill>
                  <a:srgbClr val="0070C0"/>
                </a:solidFill>
                <a:latin typeface="微软雅黑" panose="020B0503020204020204" pitchFamily="34" charset="-122"/>
                <a:ea typeface="微软雅黑" panose="020B0503020204020204" pitchFamily="34" charset="-122"/>
              </a:rPr>
              <a:t>概述</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文本框 7"/>
          <p:cNvSpPr txBox="1"/>
          <p:nvPr/>
        </p:nvSpPr>
        <p:spPr>
          <a:xfrm>
            <a:off x="657225" y="1000125"/>
            <a:ext cx="6640195" cy="368300"/>
          </a:xfrm>
          <a:prstGeom prst="rect">
            <a:avLst/>
          </a:prstGeom>
          <a:noFill/>
        </p:spPr>
        <p:txBody>
          <a:bodyPr wrap="square" rtlCol="0" anchor="t">
            <a:spAutoFit/>
          </a:bodyPr>
          <a:lstStyle/>
          <a:p>
            <a:pPr marL="285750" indent="-285750">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词向量起源概述：</a:t>
            </a:r>
          </a:p>
        </p:txBody>
      </p:sp>
      <p:sp>
        <p:nvSpPr>
          <p:cNvPr id="9" name="文本框 8"/>
          <p:cNvSpPr txBox="1"/>
          <p:nvPr/>
        </p:nvSpPr>
        <p:spPr>
          <a:xfrm>
            <a:off x="987425" y="1437005"/>
            <a:ext cx="10493375" cy="829310"/>
          </a:xfrm>
          <a:prstGeom prst="rect">
            <a:avLst/>
          </a:prstGeom>
          <a:noFill/>
        </p:spPr>
        <p:txBody>
          <a:bodyPr wrap="square">
            <a:noAutofit/>
          </a:bodyPr>
          <a:lstStyle/>
          <a:p>
            <a:pPr indent="0" algn="just" fontAlgn="auto">
              <a:lnSpc>
                <a:spcPct val="120000"/>
              </a:lnSpc>
            </a:pPr>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rPr>
              <a:t>虽然人类能够通过文字交流，</a:t>
            </a:r>
            <a:r>
              <a:rPr lang="zh-CN" altLang="en-US" b="1" dirty="0">
                <a:latin typeface="微软雅黑" panose="020B0503020204020204" pitchFamily="34" charset="-122"/>
                <a:ea typeface="微软雅黑" panose="020B0503020204020204" pitchFamily="34" charset="-122"/>
              </a:rPr>
              <a:t>但计算机只能处理数字形式的信息（</a:t>
            </a:r>
            <a:r>
              <a:rPr lang="en-US" altLang="zh-CN" b="1" dirty="0">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和</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。为了使计算机能够解析和处理人类语言，必须将语言（如文本和声音）</a:t>
            </a:r>
            <a:r>
              <a:rPr lang="en-US" altLang="zh-CN" dirty="0">
                <a:latin typeface="微软雅黑" panose="020B0503020204020204" pitchFamily="34" charset="-122"/>
                <a:ea typeface="微软雅黑" panose="020B0503020204020204" pitchFamily="34" charset="-122"/>
              </a:rPr>
              <a:t>转化为数字形式。</a:t>
            </a:r>
          </a:p>
          <a:p>
            <a:pPr indent="457200" algn="just" fontAlgn="auto">
              <a:lnSpc>
                <a:spcPct val="120000"/>
              </a:lnSpc>
            </a:pPr>
            <a:endParaRPr lang="en-US" altLang="zh-CN" dirty="0">
              <a:latin typeface="微软雅黑" panose="020B0503020204020204" pitchFamily="34" charset="-122"/>
              <a:ea typeface="微软雅黑" panose="020B0503020204020204" pitchFamily="34" charset="-122"/>
            </a:endParaRPr>
          </a:p>
          <a:p>
            <a:pPr indent="0" algn="just" fontAlgn="auto">
              <a:lnSpc>
                <a:spcPct val="120000"/>
              </a:lnSpc>
            </a:pPr>
            <a:endParaRPr lang="zh-CN" altLang="en-US"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355600" y="6366748"/>
            <a:ext cx="5571350" cy="260350"/>
          </a:xfrm>
          <a:prstGeom prst="rect">
            <a:avLst/>
          </a:prstGeom>
          <a:noFill/>
        </p:spPr>
        <p:txBody>
          <a:bodyPr wrap="square">
            <a:spAutoFit/>
          </a:bodyPr>
          <a:lstStyle/>
          <a:p>
            <a:r>
              <a:rPr lang="zh-CN" altLang="en-US" sz="1100" dirty="0">
                <a:hlinkClick r:id="rId4"/>
              </a:rPr>
              <a:t>图片来源：https://cloud.tencent.com/developer/article/1448040</a:t>
            </a:r>
            <a:endParaRPr lang="zh-CN" altLang="en-US" sz="1100" dirty="0"/>
          </a:p>
        </p:txBody>
      </p:sp>
      <p:pic>
        <p:nvPicPr>
          <p:cNvPr id="4" name="图片 3"/>
          <p:cNvPicPr>
            <a:picLocks noChangeAspect="1"/>
          </p:cNvPicPr>
          <p:nvPr/>
        </p:nvPicPr>
        <p:blipFill>
          <a:blip r:embed="rId5"/>
          <a:stretch>
            <a:fillRect/>
          </a:stretch>
        </p:blipFill>
        <p:spPr>
          <a:xfrm>
            <a:off x="3077845" y="2233930"/>
            <a:ext cx="5705475" cy="2266950"/>
          </a:xfrm>
          <a:prstGeom prst="rect">
            <a:avLst/>
          </a:prstGeom>
        </p:spPr>
      </p:pic>
      <p:sp>
        <p:nvSpPr>
          <p:cNvPr id="10" name="文本框 9"/>
          <p:cNvSpPr txBox="1"/>
          <p:nvPr/>
        </p:nvSpPr>
        <p:spPr>
          <a:xfrm>
            <a:off x="987425" y="4538345"/>
            <a:ext cx="10419080" cy="1751965"/>
          </a:xfrm>
          <a:prstGeom prst="rect">
            <a:avLst/>
          </a:prstGeom>
          <a:noFill/>
        </p:spPr>
        <p:txBody>
          <a:bodyPr wrap="square" rtlCol="0" anchor="t">
            <a:spAutoFit/>
          </a:bodyPr>
          <a:lstStyle/>
          <a:p>
            <a:pPr algn="just">
              <a:lnSpc>
                <a:spcPct val="120000"/>
              </a:lnSpc>
            </a:pP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en-US" altLang="zh-CN" dirty="0">
                <a:latin typeface="微软雅黑" panose="020B0503020204020204" pitchFamily="34" charset="-122"/>
                <a:ea typeface="微软雅黑" panose="020B0503020204020204" pitchFamily="34" charset="-122"/>
                <a:sym typeface="+mn-ea"/>
              </a:rPr>
              <a:t>文本表示成为了自然语言处理的关键任务之一，其</a:t>
            </a:r>
            <a:r>
              <a:rPr lang="en-US" altLang="zh-CN" b="1" dirty="0">
                <a:latin typeface="微软雅黑" panose="020B0503020204020204" pitchFamily="34" charset="-122"/>
                <a:ea typeface="微软雅黑" panose="020B0503020204020204" pitchFamily="34" charset="-122"/>
                <a:sym typeface="+mn-ea"/>
              </a:rPr>
              <a:t>主要目标是将文本元素（如词、句子或段落）转化为数值数据</a:t>
            </a:r>
            <a:r>
              <a:rPr lang="en-US" altLang="zh-CN" dirty="0">
                <a:latin typeface="微软雅黑" panose="020B0503020204020204" pitchFamily="34" charset="-122"/>
                <a:ea typeface="微软雅黑" panose="020B0503020204020204" pitchFamily="34" charset="-122"/>
                <a:sym typeface="+mn-ea"/>
              </a:rPr>
              <a:t>，通常是向量形式。</a:t>
            </a:r>
            <a:endParaRPr lang="en-US" altLang="zh-CN" dirty="0">
              <a:latin typeface="微软雅黑" panose="020B0503020204020204" pitchFamily="34" charset="-122"/>
              <a:ea typeface="微软雅黑" panose="020B0503020204020204" pitchFamily="34" charset="-122"/>
            </a:endParaRPr>
          </a:p>
          <a:p>
            <a:pPr algn="just">
              <a:lnSpc>
                <a:spcPct val="120000"/>
              </a:lnSpc>
            </a:pPr>
            <a:endParaRPr lang="en-US" altLang="zh-CN" dirty="0">
              <a:latin typeface="微软雅黑" panose="020B0503020204020204" pitchFamily="34" charset="-122"/>
              <a:ea typeface="微软雅黑" panose="020B0503020204020204" pitchFamily="34" charset="-122"/>
            </a:endParaRPr>
          </a:p>
          <a:p>
            <a:pPr algn="just">
              <a:lnSpc>
                <a:spcPct val="120000"/>
              </a:lnSpc>
            </a:pPr>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mn-ea"/>
              </a:rPr>
              <a:t>我们将这些表示称之为</a:t>
            </a:r>
            <a:r>
              <a:rPr lang="zh-CN" altLang="en-US" b="1" dirty="0">
                <a:latin typeface="微软雅黑" panose="020B0503020204020204" pitchFamily="34" charset="-122"/>
                <a:ea typeface="微软雅黑" panose="020B0503020204020204" pitchFamily="34" charset="-122"/>
                <a:sym typeface="+mn-ea"/>
              </a:rPr>
              <a:t>词向量</a:t>
            </a:r>
            <a:r>
              <a:rPr lang="zh-CN" altLang="en-US" dirty="0">
                <a:latin typeface="微软雅黑" panose="020B0503020204020204" pitchFamily="34" charset="-122"/>
                <a:ea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sym typeface="+mn-ea"/>
              </a:rPr>
              <a:t>Word Vector</a:t>
            </a:r>
            <a:r>
              <a:rPr lang="zh-CN" altLang="en-US" dirty="0">
                <a:latin typeface="微软雅黑" panose="020B0503020204020204" pitchFamily="34" charset="-122"/>
                <a:ea typeface="微软雅黑" panose="020B0503020204020204" pitchFamily="34" charset="-122"/>
                <a:sym typeface="+mn-ea"/>
              </a:rPr>
              <a:t>）、</a:t>
            </a:r>
            <a:r>
              <a:rPr lang="zh-CN" altLang="en-US" b="1" dirty="0">
                <a:latin typeface="微软雅黑" panose="020B0503020204020204" pitchFamily="34" charset="-122"/>
                <a:ea typeface="微软雅黑" panose="020B0503020204020204" pitchFamily="34" charset="-122"/>
                <a:sym typeface="+mn-ea"/>
              </a:rPr>
              <a:t>词嵌入</a:t>
            </a:r>
            <a:r>
              <a:rPr lang="zh-CN" altLang="en-US" dirty="0">
                <a:latin typeface="微软雅黑" panose="020B0503020204020204" pitchFamily="34" charset="-122"/>
                <a:ea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sym typeface="+mn-ea"/>
              </a:rPr>
              <a:t>Word Embedding</a:t>
            </a:r>
            <a:r>
              <a:rPr lang="zh-CN" altLang="en-US" dirty="0">
                <a:latin typeface="微软雅黑" panose="020B0503020204020204" pitchFamily="34" charset="-122"/>
                <a:ea typeface="微软雅黑" panose="020B0503020204020204" pitchFamily="34" charset="-122"/>
                <a:sym typeface="+mn-ea"/>
              </a:rPr>
              <a:t>）或者</a:t>
            </a:r>
            <a:r>
              <a:rPr lang="zh-CN" altLang="en-US" b="1" dirty="0">
                <a:latin typeface="微软雅黑" panose="020B0503020204020204" pitchFamily="34" charset="-122"/>
                <a:ea typeface="微软雅黑" panose="020B0503020204020204" pitchFamily="34" charset="-122"/>
                <a:sym typeface="+mn-ea"/>
              </a:rPr>
              <a:t>词表示</a:t>
            </a:r>
            <a:r>
              <a:rPr lang="zh-CN" altLang="en-US" dirty="0">
                <a:latin typeface="微软雅黑" panose="020B0503020204020204" pitchFamily="34" charset="-122"/>
                <a:ea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sym typeface="+mn-ea"/>
              </a:rPr>
              <a:t>Word Representation</a:t>
            </a:r>
            <a:r>
              <a:rPr lang="zh-CN" altLang="en-US" dirty="0">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988E7-11A2-C350-9BE4-0AF152BC78A3}"/>
              </a:ext>
            </a:extLst>
          </p:cNvPr>
          <p:cNvSpPr>
            <a:spLocks noGrp="1"/>
          </p:cNvSpPr>
          <p:nvPr>
            <p:ph type="title"/>
          </p:nvPr>
        </p:nvSpPr>
        <p:spPr/>
        <p:txBody>
          <a:bodyPr/>
          <a:lstStyle/>
          <a:p>
            <a:r>
              <a:rPr lang="en-US" dirty="0"/>
              <a:t>Embedding/Vector Representation</a:t>
            </a:r>
          </a:p>
        </p:txBody>
      </p:sp>
      <p:pic>
        <p:nvPicPr>
          <p:cNvPr id="5" name="Picture 4">
            <a:extLst>
              <a:ext uri="{FF2B5EF4-FFF2-40B4-BE49-F238E27FC236}">
                <a16:creationId xmlns:a16="http://schemas.microsoft.com/office/drawing/2014/main" id="{F3ED4C6B-5516-18A7-32B7-9F620A01B767}"/>
              </a:ext>
            </a:extLst>
          </p:cNvPr>
          <p:cNvPicPr>
            <a:picLocks noChangeAspect="1"/>
          </p:cNvPicPr>
          <p:nvPr/>
        </p:nvPicPr>
        <p:blipFill>
          <a:blip r:embed="rId2"/>
          <a:stretch>
            <a:fillRect/>
          </a:stretch>
        </p:blipFill>
        <p:spPr>
          <a:xfrm>
            <a:off x="4223958" y="5662012"/>
            <a:ext cx="7772400" cy="964970"/>
          </a:xfrm>
          <a:prstGeom prst="rect">
            <a:avLst/>
          </a:prstGeom>
        </p:spPr>
      </p:pic>
      <p:pic>
        <p:nvPicPr>
          <p:cNvPr id="6" name="Picture 5">
            <a:extLst>
              <a:ext uri="{FF2B5EF4-FFF2-40B4-BE49-F238E27FC236}">
                <a16:creationId xmlns:a16="http://schemas.microsoft.com/office/drawing/2014/main" id="{E15E38F0-A6AE-5988-3529-1C00090F98F1}"/>
              </a:ext>
            </a:extLst>
          </p:cNvPr>
          <p:cNvPicPr>
            <a:picLocks noChangeAspect="1"/>
          </p:cNvPicPr>
          <p:nvPr/>
        </p:nvPicPr>
        <p:blipFill>
          <a:blip r:embed="rId3"/>
          <a:stretch>
            <a:fillRect/>
          </a:stretch>
        </p:blipFill>
        <p:spPr>
          <a:xfrm>
            <a:off x="693683" y="1314000"/>
            <a:ext cx="6215774" cy="4259156"/>
          </a:xfrm>
          <a:prstGeom prst="rect">
            <a:avLst/>
          </a:prstGeom>
        </p:spPr>
      </p:pic>
      <p:sp>
        <p:nvSpPr>
          <p:cNvPr id="8" name="TextBox 7">
            <a:extLst>
              <a:ext uri="{FF2B5EF4-FFF2-40B4-BE49-F238E27FC236}">
                <a16:creationId xmlns:a16="http://schemas.microsoft.com/office/drawing/2014/main" id="{8059EE56-E39E-8E20-17C3-71E41E8A0369}"/>
              </a:ext>
            </a:extLst>
          </p:cNvPr>
          <p:cNvSpPr txBox="1"/>
          <p:nvPr/>
        </p:nvSpPr>
        <p:spPr>
          <a:xfrm>
            <a:off x="608400" y="6144497"/>
            <a:ext cx="3447393" cy="646331"/>
          </a:xfrm>
          <a:prstGeom prst="rect">
            <a:avLst/>
          </a:prstGeom>
          <a:noFill/>
        </p:spPr>
        <p:txBody>
          <a:bodyPr wrap="square">
            <a:spAutoFit/>
          </a:bodyPr>
          <a:lstStyle/>
          <a:p>
            <a:r>
              <a:rPr lang="en-US" dirty="0">
                <a:hlinkClick r:id="rId4"/>
              </a:rPr>
              <a:t>https://carbon.now.sh/</a:t>
            </a:r>
            <a:endParaRPr lang="en-US" dirty="0"/>
          </a:p>
          <a:p>
            <a:endParaRPr lang="en-US" dirty="0"/>
          </a:p>
        </p:txBody>
      </p:sp>
    </p:spTree>
    <p:extLst>
      <p:ext uri="{BB962C8B-B14F-4D97-AF65-F5344CB8AC3E}">
        <p14:creationId xmlns:p14="http://schemas.microsoft.com/office/powerpoint/2010/main" val="681711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2.2</a:t>
            </a:r>
            <a:r>
              <a:rPr lang="zh-CN" altLang="en-US" sz="2880" dirty="0">
                <a:solidFill>
                  <a:srgbClr val="0070C0"/>
                </a:solidFill>
                <a:latin typeface="微软雅黑" panose="020B0503020204020204" pitchFamily="34" charset="-122"/>
                <a:ea typeface="微软雅黑" panose="020B0503020204020204" pitchFamily="34" charset="-122"/>
              </a:rPr>
              <a:t>文本表示方法</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文本框 7"/>
          <p:cNvSpPr txBox="1"/>
          <p:nvPr/>
        </p:nvSpPr>
        <p:spPr>
          <a:xfrm>
            <a:off x="647700" y="2095500"/>
            <a:ext cx="10846435" cy="645160"/>
          </a:xfrm>
          <a:prstGeom prst="rect">
            <a:avLst/>
          </a:prstGeom>
          <a:noFill/>
        </p:spPr>
        <p:txBody>
          <a:bodyPr wrap="square" rtlCol="0" anchor="t">
            <a:spAutoFit/>
          </a:bodyPr>
          <a:lstStyle/>
          <a:p>
            <a:pPr marL="285750" indent="-285750">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独热表示：</a:t>
            </a:r>
            <a:r>
              <a:rPr lang="zh-CN" altLang="en-US" dirty="0">
                <a:latin typeface="微软雅黑" panose="020B0503020204020204" pitchFamily="34" charset="-122"/>
                <a:ea typeface="微软雅黑" panose="020B0503020204020204" pitchFamily="34" charset="-122"/>
                <a:sym typeface="Wingdings 2" panose="05020102010507070707" charset="0"/>
              </a:rPr>
              <a:t>独热表示是一种将词汇映射为向量的策略。每个词汇都被转换为一个唯一的向量，仅有一个元素为</a:t>
            </a:r>
            <a:r>
              <a:rPr lang="en-US" altLang="zh-CN" dirty="0">
                <a:latin typeface="微软雅黑" panose="020B0503020204020204" pitchFamily="34" charset="-122"/>
                <a:ea typeface="微软雅黑" panose="020B0503020204020204" pitchFamily="34" charset="-122"/>
                <a:sym typeface="Wingdings 2" panose="05020102010507070707" charset="0"/>
              </a:rPr>
              <a:t>1</a:t>
            </a:r>
            <a:r>
              <a:rPr lang="zh-CN" altLang="en-US" dirty="0">
                <a:latin typeface="微软雅黑" panose="020B0503020204020204" pitchFamily="34" charset="-122"/>
                <a:ea typeface="微软雅黑" panose="020B0503020204020204" pitchFamily="34" charset="-122"/>
                <a:sym typeface="Wingdings 2" panose="05020102010507070707" charset="0"/>
              </a:rPr>
              <a:t>，其余元素均为</a:t>
            </a:r>
            <a:r>
              <a:rPr lang="en-US" altLang="zh-CN" dirty="0">
                <a:latin typeface="微软雅黑" panose="020B0503020204020204" pitchFamily="34" charset="-122"/>
                <a:ea typeface="微软雅黑" panose="020B0503020204020204" pitchFamily="34" charset="-122"/>
                <a:sym typeface="Wingdings 2" panose="05020102010507070707" charset="0"/>
              </a:rPr>
              <a:t>0</a:t>
            </a:r>
            <a:r>
              <a:rPr lang="zh-CN" altLang="en-US" dirty="0">
                <a:latin typeface="微软雅黑" panose="020B0503020204020204" pitchFamily="34" charset="-122"/>
                <a:ea typeface="微软雅黑" panose="020B0503020204020204" pitchFamily="34" charset="-122"/>
                <a:sym typeface="Wingdings 2" panose="05020102010507070707" charset="0"/>
              </a:rPr>
              <a:t>。举例如下：</a:t>
            </a:r>
          </a:p>
        </p:txBody>
      </p:sp>
      <p:sp>
        <p:nvSpPr>
          <p:cNvPr id="4" name="文本框 3"/>
          <p:cNvSpPr txBox="1"/>
          <p:nvPr/>
        </p:nvSpPr>
        <p:spPr>
          <a:xfrm>
            <a:off x="657225" y="1078230"/>
            <a:ext cx="10493375" cy="423545"/>
          </a:xfrm>
          <a:prstGeom prst="rect">
            <a:avLst/>
          </a:prstGeom>
          <a:noFill/>
        </p:spPr>
        <p:txBody>
          <a:bodyPr wrap="square">
            <a:spAutoFit/>
          </a:bodyPr>
          <a:lstStyle/>
          <a:p>
            <a:pPr indent="0" algn="just" fontAlgn="auto">
              <a:lnSpc>
                <a:spcPct val="120000"/>
              </a:lnSpc>
            </a:pPr>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文本表示的核心在于将文本数据转换为计算机能够理解和处理的形式。</a:t>
            </a:r>
          </a:p>
        </p:txBody>
      </p:sp>
      <p:sp>
        <p:nvSpPr>
          <p:cNvPr id="10" name="文本框 9"/>
          <p:cNvSpPr txBox="1"/>
          <p:nvPr/>
        </p:nvSpPr>
        <p:spPr>
          <a:xfrm>
            <a:off x="647700" y="1591310"/>
            <a:ext cx="10493375" cy="423545"/>
          </a:xfrm>
          <a:prstGeom prst="rect">
            <a:avLst/>
          </a:prstGeom>
          <a:noFill/>
        </p:spPr>
        <p:txBody>
          <a:bodyPr wrap="square">
            <a:spAutoFit/>
          </a:bodyPr>
          <a:lstStyle/>
          <a:p>
            <a:pPr indent="0" algn="just" fontAlgn="auto">
              <a:lnSpc>
                <a:spcPct val="120000"/>
              </a:lnSpc>
            </a:pPr>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代表性表示方法：</a:t>
            </a:r>
            <a:r>
              <a:rPr lang="zh-CN" altLang="en-US" b="1" dirty="0">
                <a:latin typeface="微软雅黑" panose="020B0503020204020204" pitchFamily="34" charset="-122"/>
                <a:ea typeface="微软雅黑" panose="020B0503020204020204" pitchFamily="34" charset="-122"/>
                <a:sym typeface="Wingdings 2" panose="05020102010507070707" charset="0"/>
              </a:rPr>
              <a:t>独热表示</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zh-CN" altLang="en-US" b="1" dirty="0">
                <a:latin typeface="微软雅黑" panose="020B0503020204020204" pitchFamily="34" charset="-122"/>
                <a:ea typeface="微软雅黑" panose="020B0503020204020204" pitchFamily="34" charset="-122"/>
                <a:sym typeface="Wingdings 2" panose="05020102010507070707" charset="0"/>
              </a:rPr>
              <a:t>分布式表示</a:t>
            </a:r>
            <a:r>
              <a:rPr lang="zh-CN" altLang="en-US" dirty="0">
                <a:latin typeface="微软雅黑" panose="020B0503020204020204" pitchFamily="34" charset="-122"/>
                <a:ea typeface="微软雅黑" panose="020B0503020204020204" pitchFamily="34" charset="-122"/>
                <a:sym typeface="Wingdings 2" panose="05020102010507070707" charset="0"/>
              </a:rPr>
              <a:t>。</a:t>
            </a:r>
          </a:p>
        </p:txBody>
      </p:sp>
      <p:pic>
        <p:nvPicPr>
          <p:cNvPr id="15" name="图片 14"/>
          <p:cNvPicPr>
            <a:picLocks noChangeAspect="1"/>
          </p:cNvPicPr>
          <p:nvPr/>
        </p:nvPicPr>
        <p:blipFill>
          <a:blip r:embed="rId4"/>
          <a:stretch>
            <a:fillRect/>
          </a:stretch>
        </p:blipFill>
        <p:spPr>
          <a:xfrm>
            <a:off x="4230370" y="4300220"/>
            <a:ext cx="3933825" cy="1019175"/>
          </a:xfrm>
          <a:prstGeom prst="rect">
            <a:avLst/>
          </a:prstGeom>
        </p:spPr>
      </p:pic>
      <p:sp>
        <p:nvSpPr>
          <p:cNvPr id="16" name="文本框 15"/>
          <p:cNvSpPr txBox="1"/>
          <p:nvPr/>
        </p:nvSpPr>
        <p:spPr>
          <a:xfrm>
            <a:off x="583565" y="5626100"/>
            <a:ext cx="10846435" cy="368300"/>
          </a:xfrm>
          <a:prstGeom prst="rect">
            <a:avLst/>
          </a:prstGeom>
          <a:noFill/>
        </p:spPr>
        <p:txBody>
          <a:bodyPr wrap="square" rtlCol="0" anchor="t">
            <a:spAutoFit/>
          </a:bodyPr>
          <a:lstStyle/>
          <a:p>
            <a:pPr indent="0">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其中，向量中数值</a:t>
            </a:r>
            <a:r>
              <a:rPr lang="en-US" altLang="zh-CN" dirty="0">
                <a:latin typeface="微软雅黑" panose="020B0503020204020204" pitchFamily="34" charset="-122"/>
                <a:ea typeface="微软雅黑" panose="020B0503020204020204" pitchFamily="34" charset="-122"/>
                <a:sym typeface="Wingdings 2" panose="05020102010507070707" charset="0"/>
              </a:rPr>
              <a:t>“1”</a:t>
            </a:r>
            <a:r>
              <a:rPr lang="zh-CN" altLang="en-US" dirty="0">
                <a:latin typeface="微软雅黑" panose="020B0503020204020204" pitchFamily="34" charset="-122"/>
                <a:ea typeface="微软雅黑" panose="020B0503020204020204" pitchFamily="34" charset="-122"/>
                <a:sym typeface="Wingdings 2" panose="05020102010507070707" charset="0"/>
              </a:rPr>
              <a:t>的位置是根据词汇在词汇表中的索引确定的。</a:t>
            </a:r>
          </a:p>
        </p:txBody>
      </p:sp>
      <p:pic>
        <p:nvPicPr>
          <p:cNvPr id="18" name="图片 17"/>
          <p:cNvPicPr>
            <a:picLocks noChangeAspect="1"/>
          </p:cNvPicPr>
          <p:nvPr/>
        </p:nvPicPr>
        <p:blipFill>
          <a:blip r:embed="rId5"/>
          <a:stretch>
            <a:fillRect/>
          </a:stretch>
        </p:blipFill>
        <p:spPr>
          <a:xfrm>
            <a:off x="2701290" y="2905125"/>
            <a:ext cx="6991350" cy="1123950"/>
          </a:xfrm>
          <a:prstGeom prst="rect">
            <a:avLst/>
          </a:prstGeom>
        </p:spPr>
      </p:pic>
      <p:sp>
        <p:nvSpPr>
          <p:cNvPr id="19" name="文本框 18"/>
          <p:cNvSpPr txBox="1"/>
          <p:nvPr/>
        </p:nvSpPr>
        <p:spPr>
          <a:xfrm>
            <a:off x="741045" y="3185795"/>
            <a:ext cx="1509395" cy="368300"/>
          </a:xfrm>
          <a:prstGeom prst="rect">
            <a:avLst/>
          </a:prstGeom>
          <a:noFill/>
        </p:spPr>
        <p:txBody>
          <a:bodyPr wrap="square">
            <a:spAutoFit/>
          </a:bodyPr>
          <a:lstStyle/>
          <a:p>
            <a:r>
              <a:rPr lang="zh-CN" altLang="en-US" dirty="0">
                <a:solidFill>
                  <a:srgbClr val="FF0000"/>
                </a:solidFill>
              </a:rPr>
              <a:t>示例词汇表</a:t>
            </a:r>
          </a:p>
        </p:txBody>
      </p:sp>
      <p:sp>
        <p:nvSpPr>
          <p:cNvPr id="21" name="箭头: 下 20"/>
          <p:cNvSpPr/>
          <p:nvPr/>
        </p:nvSpPr>
        <p:spPr>
          <a:xfrm rot="16200000">
            <a:off x="2320290" y="3226435"/>
            <a:ext cx="170180" cy="3105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41045" y="4625975"/>
            <a:ext cx="1610360" cy="368300"/>
          </a:xfrm>
          <a:prstGeom prst="rect">
            <a:avLst/>
          </a:prstGeom>
          <a:noFill/>
        </p:spPr>
        <p:txBody>
          <a:bodyPr wrap="square">
            <a:spAutoFit/>
          </a:bodyPr>
          <a:lstStyle/>
          <a:p>
            <a:r>
              <a:rPr lang="zh-CN" altLang="en-US" dirty="0">
                <a:solidFill>
                  <a:srgbClr val="FF0000"/>
                </a:solidFill>
              </a:rPr>
              <a:t>独热向量表示</a:t>
            </a:r>
          </a:p>
        </p:txBody>
      </p:sp>
      <p:sp>
        <p:nvSpPr>
          <p:cNvPr id="22" name="箭头: 下 20"/>
          <p:cNvSpPr/>
          <p:nvPr/>
        </p:nvSpPr>
        <p:spPr>
          <a:xfrm rot="16200000">
            <a:off x="3144520" y="4653915"/>
            <a:ext cx="170180" cy="3105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2.2.1</a:t>
            </a:r>
            <a:r>
              <a:rPr lang="zh-CN" altLang="en-US" sz="2880" dirty="0">
                <a:solidFill>
                  <a:srgbClr val="0070C0"/>
                </a:solidFill>
                <a:latin typeface="微软雅黑" panose="020B0503020204020204" pitchFamily="34" charset="-122"/>
                <a:ea typeface="微软雅黑" panose="020B0503020204020204" pitchFamily="34" charset="-122"/>
              </a:rPr>
              <a:t>独热表示</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9" name="文本框 8"/>
          <p:cNvSpPr txBox="1"/>
          <p:nvPr/>
        </p:nvSpPr>
        <p:spPr>
          <a:xfrm>
            <a:off x="647700" y="1849755"/>
            <a:ext cx="6640195" cy="368300"/>
          </a:xfrm>
          <a:prstGeom prst="rect">
            <a:avLst/>
          </a:prstGeom>
          <a:noFill/>
        </p:spPr>
        <p:txBody>
          <a:bodyPr wrap="square" rtlCol="0" anchor="t">
            <a:spAutoFit/>
          </a:bodyPr>
          <a:lstStyle/>
          <a:p>
            <a:pPr marL="285750" indent="-285750">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独热表示方法存在的问题：</a:t>
            </a:r>
          </a:p>
        </p:txBody>
      </p:sp>
      <p:sp>
        <p:nvSpPr>
          <p:cNvPr id="11" name="左大括号 10"/>
          <p:cNvSpPr/>
          <p:nvPr/>
        </p:nvSpPr>
        <p:spPr>
          <a:xfrm>
            <a:off x="3848735" y="1473200"/>
            <a:ext cx="102235" cy="1122045"/>
          </a:xfrm>
          <a:prstGeom prst="lef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2" name="文本框 11"/>
          <p:cNvSpPr txBox="1"/>
          <p:nvPr/>
        </p:nvSpPr>
        <p:spPr>
          <a:xfrm>
            <a:off x="4545965" y="1473200"/>
            <a:ext cx="1130935" cy="423545"/>
          </a:xfrm>
          <a:prstGeom prst="rect">
            <a:avLst/>
          </a:prstGeom>
          <a:noFill/>
        </p:spPr>
        <p:txBody>
          <a:bodyPr wrap="square">
            <a:spAutoFit/>
          </a:bodyPr>
          <a:lstStyle/>
          <a:p>
            <a:pPr indent="0" algn="just" fontAlgn="auto">
              <a:lnSpc>
                <a:spcPct val="120000"/>
              </a:lnSpc>
            </a:pPr>
            <a:r>
              <a:rPr lang="zh-CN" altLang="en-US" dirty="0">
                <a:latin typeface="微软雅黑" panose="020B0503020204020204" pitchFamily="34" charset="-122"/>
                <a:ea typeface="微软雅黑" panose="020B0503020204020204" pitchFamily="34" charset="-122"/>
                <a:sym typeface="Wingdings 2" panose="05020102010507070707" charset="0"/>
              </a:rPr>
              <a:t>维度灾难</a:t>
            </a:r>
          </a:p>
        </p:txBody>
      </p:sp>
      <p:sp>
        <p:nvSpPr>
          <p:cNvPr id="13" name="文本框 12"/>
          <p:cNvSpPr txBox="1"/>
          <p:nvPr/>
        </p:nvSpPr>
        <p:spPr>
          <a:xfrm>
            <a:off x="4091940" y="2096770"/>
            <a:ext cx="2353945" cy="423545"/>
          </a:xfrm>
          <a:prstGeom prst="rect">
            <a:avLst/>
          </a:prstGeom>
          <a:noFill/>
        </p:spPr>
        <p:txBody>
          <a:bodyPr wrap="square">
            <a:spAutoFit/>
          </a:bodyPr>
          <a:lstStyle/>
          <a:p>
            <a:pPr indent="0" algn="just" fontAlgn="auto">
              <a:lnSpc>
                <a:spcPct val="120000"/>
              </a:lnSpc>
            </a:pPr>
            <a:r>
              <a:rPr lang="zh-CN" altLang="en-US" dirty="0">
                <a:latin typeface="微软雅黑" panose="020B0503020204020204" pitchFamily="34" charset="-122"/>
                <a:ea typeface="微软雅黑" panose="020B0503020204020204" pitchFamily="34" charset="-122"/>
                <a:sym typeface="Wingdings 2" panose="05020102010507070707" charset="0"/>
              </a:rPr>
              <a:t>无法度量语义相关性</a:t>
            </a:r>
          </a:p>
        </p:txBody>
      </p:sp>
      <p:sp>
        <p:nvSpPr>
          <p:cNvPr id="14" name="文本框 13"/>
          <p:cNvSpPr txBox="1"/>
          <p:nvPr/>
        </p:nvSpPr>
        <p:spPr>
          <a:xfrm>
            <a:off x="647700" y="3127375"/>
            <a:ext cx="10659110" cy="368300"/>
          </a:xfrm>
          <a:prstGeom prst="rect">
            <a:avLst/>
          </a:prstGeom>
          <a:noFill/>
        </p:spPr>
        <p:txBody>
          <a:bodyPr wrap="square" rtlCol="0" anchor="t">
            <a:spAutoFit/>
          </a:bodyPr>
          <a:lstStyle/>
          <a:p>
            <a:pPr marL="285750" indent="-285750">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维度灾难：</a:t>
            </a:r>
            <a:r>
              <a:rPr lang="zh-CN" altLang="en-US" dirty="0">
                <a:latin typeface="微软雅黑" panose="020B0503020204020204" pitchFamily="34" charset="-122"/>
                <a:ea typeface="微软雅黑" panose="020B0503020204020204" pitchFamily="34" charset="-122"/>
                <a:sym typeface="Wingdings 2" panose="05020102010507070707" charset="0"/>
              </a:rPr>
              <a:t>随着特征空间的维度增加，数据的分布变得更加稀疏，需要更长维度的向量来表达词汇。</a:t>
            </a:r>
          </a:p>
        </p:txBody>
      </p:sp>
      <p:sp>
        <p:nvSpPr>
          <p:cNvPr id="23" name="文本框 22"/>
          <p:cNvSpPr txBox="1"/>
          <p:nvPr/>
        </p:nvSpPr>
        <p:spPr>
          <a:xfrm>
            <a:off x="647700" y="4027805"/>
            <a:ext cx="10659110" cy="645160"/>
          </a:xfrm>
          <a:prstGeom prst="rect">
            <a:avLst/>
          </a:prstGeom>
          <a:noFill/>
        </p:spPr>
        <p:txBody>
          <a:bodyPr wrap="square" rtlCol="0" anchor="t">
            <a:spAutoFit/>
          </a:bodyPr>
          <a:lstStyle/>
          <a:p>
            <a:pPr marL="285750" indent="-285750">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度量语义相关性：</a:t>
            </a:r>
            <a:r>
              <a:rPr lang="zh-CN" altLang="en-US" dirty="0">
                <a:latin typeface="微软雅黑" panose="020B0503020204020204" pitchFamily="34" charset="-122"/>
                <a:ea typeface="微软雅黑" panose="020B0503020204020204" pitchFamily="34" charset="-122"/>
                <a:sym typeface="Wingdings 2" panose="05020102010507070707" charset="0"/>
              </a:rPr>
              <a:t>考虑词汇</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猫</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狗</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，假设在</a:t>
            </a:r>
            <a:r>
              <a:rPr lang="en-US" altLang="zh-CN"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10000</a:t>
            </a:r>
            <a:r>
              <a:rPr lang="zh-CN" altLang="en-US" dirty="0">
                <a:latin typeface="微软雅黑" panose="020B0503020204020204" pitchFamily="34" charset="-122"/>
                <a:ea typeface="微软雅黑" panose="020B0503020204020204" pitchFamily="34" charset="-122"/>
                <a:sym typeface="Wingdings 2" panose="05020102010507070707" charset="0"/>
              </a:rPr>
              <a:t>维的独热表示中，</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猫</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和狗的独热表示如下：</a:t>
            </a:r>
          </a:p>
        </p:txBody>
      </p:sp>
      <p:grpSp>
        <p:nvGrpSpPr>
          <p:cNvPr id="20" name="组合 19"/>
          <p:cNvGrpSpPr/>
          <p:nvPr/>
        </p:nvGrpSpPr>
        <p:grpSpPr>
          <a:xfrm>
            <a:off x="1259840" y="4726305"/>
            <a:ext cx="4263390" cy="847090"/>
            <a:chOff x="709" y="7443"/>
            <a:chExt cx="6714" cy="1334"/>
          </a:xfrm>
        </p:grpSpPr>
        <p:grpSp>
          <p:nvGrpSpPr>
            <p:cNvPr id="26" name="组合 25"/>
            <p:cNvGrpSpPr/>
            <p:nvPr/>
          </p:nvGrpSpPr>
          <p:grpSpPr>
            <a:xfrm>
              <a:off x="709" y="7443"/>
              <a:ext cx="4267" cy="1334"/>
              <a:chOff x="3883" y="7443"/>
              <a:chExt cx="4267" cy="1334"/>
            </a:xfrm>
          </p:grpSpPr>
          <p:sp>
            <p:nvSpPr>
              <p:cNvPr id="24" name="文本框 23"/>
              <p:cNvSpPr txBox="1"/>
              <p:nvPr/>
            </p:nvSpPr>
            <p:spPr>
              <a:xfrm>
                <a:off x="3883" y="7443"/>
                <a:ext cx="4267" cy="580"/>
              </a:xfrm>
              <a:prstGeom prst="rect">
                <a:avLst/>
              </a:prstGeom>
              <a:noFill/>
            </p:spPr>
            <p:txBody>
              <a:bodyPr wrap="square" rtlCol="0" anchor="t">
                <a:spAutoFit/>
              </a:bodyPr>
              <a:lstStyle/>
              <a:p>
                <a:pPr indent="0">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猫</a:t>
                </a:r>
                <a:r>
                  <a:rPr lang="en-US" altLang="zh-CN" dirty="0">
                    <a:latin typeface="微软雅黑" panose="020B0503020204020204" pitchFamily="34" charset="-122"/>
                    <a:ea typeface="微软雅黑" panose="020B0503020204020204" pitchFamily="34" charset="-122"/>
                    <a:sym typeface="Wingdings 2" panose="05020102010507070707" charset="0"/>
                  </a:rPr>
                  <a:t>”→ [1, 0, 0, .... , 0]</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sp>
            <p:nvSpPr>
              <p:cNvPr id="25" name="文本框 24"/>
              <p:cNvSpPr txBox="1"/>
              <p:nvPr/>
            </p:nvSpPr>
            <p:spPr>
              <a:xfrm>
                <a:off x="3883" y="8197"/>
                <a:ext cx="4267" cy="580"/>
              </a:xfrm>
              <a:prstGeom prst="rect">
                <a:avLst/>
              </a:prstGeom>
              <a:noFill/>
            </p:spPr>
            <p:txBody>
              <a:bodyPr wrap="square" rtlCol="0" anchor="t">
                <a:spAutoFit/>
              </a:bodyPr>
              <a:lstStyle/>
              <a:p>
                <a:pPr indent="0">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狗</a:t>
                </a:r>
                <a:r>
                  <a:rPr lang="en-US" altLang="zh-CN" dirty="0">
                    <a:latin typeface="微软雅黑" panose="020B0503020204020204" pitchFamily="34" charset="-122"/>
                    <a:ea typeface="微软雅黑" panose="020B0503020204020204" pitchFamily="34" charset="-122"/>
                    <a:sym typeface="Wingdings 2" panose="05020102010507070707" charset="0"/>
                  </a:rPr>
                  <a:t>”→ [0, 1, 0, .... , 0]</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grpSp>
        <p:sp>
          <p:nvSpPr>
            <p:cNvPr id="27" name="箭头: 下 20"/>
            <p:cNvSpPr/>
            <p:nvPr/>
          </p:nvSpPr>
          <p:spPr>
            <a:xfrm rot="16200000">
              <a:off x="5775" y="7340"/>
              <a:ext cx="268" cy="16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5092" y="7485"/>
              <a:ext cx="1635" cy="531"/>
            </a:xfrm>
            <a:prstGeom prst="rect">
              <a:avLst/>
            </a:prstGeom>
            <a:noFill/>
          </p:spPr>
          <p:txBody>
            <a:bodyPr wrap="square">
              <a:spAutoFit/>
            </a:bodyPr>
            <a:lstStyle/>
            <a:p>
              <a:r>
                <a:rPr lang="zh-CN" altLang="en-US" sz="1600" dirty="0">
                  <a:solidFill>
                    <a:srgbClr val="FF0000"/>
                  </a:solidFill>
                </a:rPr>
                <a:t>欧式距离</a:t>
              </a:r>
            </a:p>
          </p:txBody>
        </p:sp>
        <p:pic>
          <p:nvPicPr>
            <p:cNvPr id="30" name="图片 29"/>
            <p:cNvPicPr>
              <a:picLocks noChangeAspect="1"/>
            </p:cNvPicPr>
            <p:nvPr/>
          </p:nvPicPr>
          <p:blipFill>
            <a:blip r:embed="rId4"/>
            <a:stretch>
              <a:fillRect/>
            </a:stretch>
          </p:blipFill>
          <p:spPr>
            <a:xfrm>
              <a:off x="6899" y="7932"/>
              <a:ext cx="525" cy="465"/>
            </a:xfrm>
            <a:prstGeom prst="rect">
              <a:avLst/>
            </a:prstGeom>
          </p:spPr>
        </p:pic>
      </p:grpSp>
      <p:sp>
        <p:nvSpPr>
          <p:cNvPr id="31" name="文本框 30"/>
          <p:cNvSpPr txBox="1"/>
          <p:nvPr/>
        </p:nvSpPr>
        <p:spPr>
          <a:xfrm>
            <a:off x="1471930" y="5934075"/>
            <a:ext cx="8558530" cy="368300"/>
          </a:xfrm>
          <a:prstGeom prst="rect">
            <a:avLst/>
          </a:prstGeom>
          <a:solidFill>
            <a:schemeClr val="accent1">
              <a:lumMod val="20000"/>
              <a:lumOff val="80000"/>
            </a:schemeClr>
          </a:solidFill>
        </p:spPr>
        <p:txBody>
          <a:bodyPr wrap="square" rtlCol="0" anchor="t">
            <a:spAutoFit/>
          </a:bodyPr>
          <a:lstStyle/>
          <a:p>
            <a:pPr indent="0">
              <a:buFont typeface="Wingdings" panose="05000000000000000000" charset="0"/>
              <a:buNone/>
            </a:pPr>
            <a:r>
              <a:rPr lang="zh-CN" altLang="en-US" dirty="0">
                <a:solidFill>
                  <a:srgbClr val="002060"/>
                </a:solidFill>
                <a:latin typeface="微软雅黑" panose="020B0503020204020204" pitchFamily="34" charset="-122"/>
                <a:ea typeface="微软雅黑" panose="020B0503020204020204" pitchFamily="34" charset="-122"/>
                <a:sym typeface="Wingdings 2" panose="05020102010507070707" charset="0"/>
              </a:rPr>
              <a:t>由此易知，任意两个词汇之间的距离都是相同的，无法反应词汇之间的语义相似度。</a:t>
            </a:r>
          </a:p>
        </p:txBody>
      </p:sp>
      <p:grpSp>
        <p:nvGrpSpPr>
          <p:cNvPr id="21" name="组合 20"/>
          <p:cNvGrpSpPr/>
          <p:nvPr/>
        </p:nvGrpSpPr>
        <p:grpSpPr>
          <a:xfrm>
            <a:off x="6588125" y="4672965"/>
            <a:ext cx="4257675" cy="847090"/>
            <a:chOff x="9520" y="7359"/>
            <a:chExt cx="6705" cy="1334"/>
          </a:xfrm>
        </p:grpSpPr>
        <p:grpSp>
          <p:nvGrpSpPr>
            <p:cNvPr id="4" name="组合 3"/>
            <p:cNvGrpSpPr/>
            <p:nvPr/>
          </p:nvGrpSpPr>
          <p:grpSpPr>
            <a:xfrm>
              <a:off x="9520" y="7359"/>
              <a:ext cx="4267" cy="1334"/>
              <a:chOff x="3883" y="7443"/>
              <a:chExt cx="4267" cy="1334"/>
            </a:xfrm>
          </p:grpSpPr>
          <p:sp>
            <p:nvSpPr>
              <p:cNvPr id="8" name="文本框 7"/>
              <p:cNvSpPr txBox="1"/>
              <p:nvPr/>
            </p:nvSpPr>
            <p:spPr>
              <a:xfrm>
                <a:off x="3883" y="7443"/>
                <a:ext cx="4267" cy="580"/>
              </a:xfrm>
              <a:prstGeom prst="rect">
                <a:avLst/>
              </a:prstGeom>
              <a:noFill/>
            </p:spPr>
            <p:txBody>
              <a:bodyPr wrap="square" rtlCol="0" anchor="t">
                <a:spAutoFit/>
              </a:bodyPr>
              <a:lstStyle/>
              <a:p>
                <a:pPr indent="0">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猫</a:t>
                </a:r>
                <a:r>
                  <a:rPr lang="en-US" altLang="zh-CN" dirty="0">
                    <a:latin typeface="微软雅黑" panose="020B0503020204020204" pitchFamily="34" charset="-122"/>
                    <a:ea typeface="微软雅黑" panose="020B0503020204020204" pitchFamily="34" charset="-122"/>
                    <a:sym typeface="Wingdings 2" panose="05020102010507070707" charset="0"/>
                  </a:rPr>
                  <a:t>”→ [1, 0, 0, .... , 0]</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sp>
            <p:nvSpPr>
              <p:cNvPr id="10" name="文本框 9"/>
              <p:cNvSpPr txBox="1"/>
              <p:nvPr/>
            </p:nvSpPr>
            <p:spPr>
              <a:xfrm>
                <a:off x="3883" y="8197"/>
                <a:ext cx="4267" cy="580"/>
              </a:xfrm>
              <a:prstGeom prst="rect">
                <a:avLst/>
              </a:prstGeom>
              <a:noFill/>
            </p:spPr>
            <p:txBody>
              <a:bodyPr wrap="square" rtlCol="0" anchor="t">
                <a:spAutoFit/>
              </a:bodyPr>
              <a:lstStyle/>
              <a:p>
                <a:pPr indent="0">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花</a:t>
                </a:r>
                <a:r>
                  <a:rPr lang="en-US" altLang="zh-CN" dirty="0">
                    <a:latin typeface="微软雅黑" panose="020B0503020204020204" pitchFamily="34" charset="-122"/>
                    <a:ea typeface="微软雅黑" panose="020B0503020204020204" pitchFamily="34" charset="-122"/>
                    <a:sym typeface="Wingdings 2" panose="05020102010507070707" charset="0"/>
                  </a:rPr>
                  <a:t>”→ [0, 0, 1, .... , 0]</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grpSp>
        <p:sp>
          <p:nvSpPr>
            <p:cNvPr id="16" name="箭头: 下 20"/>
            <p:cNvSpPr/>
            <p:nvPr/>
          </p:nvSpPr>
          <p:spPr>
            <a:xfrm rot="16200000">
              <a:off x="14470" y="7298"/>
              <a:ext cx="268" cy="16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13787" y="7443"/>
              <a:ext cx="1635" cy="531"/>
            </a:xfrm>
            <a:prstGeom prst="rect">
              <a:avLst/>
            </a:prstGeom>
            <a:noFill/>
          </p:spPr>
          <p:txBody>
            <a:bodyPr wrap="square">
              <a:spAutoFit/>
            </a:bodyPr>
            <a:lstStyle/>
            <a:p>
              <a:r>
                <a:rPr lang="zh-CN" altLang="en-US" sz="1600" dirty="0">
                  <a:solidFill>
                    <a:srgbClr val="FF0000"/>
                  </a:solidFill>
                </a:rPr>
                <a:t>欧式距离</a:t>
              </a:r>
            </a:p>
          </p:txBody>
        </p:sp>
        <p:pic>
          <p:nvPicPr>
            <p:cNvPr id="19" name="图片 18"/>
            <p:cNvPicPr>
              <a:picLocks noChangeAspect="1"/>
            </p:cNvPicPr>
            <p:nvPr/>
          </p:nvPicPr>
          <p:blipFill>
            <a:blip r:embed="rId5"/>
            <a:stretch>
              <a:fillRect/>
            </a:stretch>
          </p:blipFill>
          <p:spPr>
            <a:xfrm>
              <a:off x="15701" y="7826"/>
              <a:ext cx="525" cy="465"/>
            </a:xfrm>
            <a:prstGeom prst="rect">
              <a:avLst/>
            </a:prstGeom>
          </p:spPr>
        </p:pic>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2.2.2</a:t>
            </a:r>
            <a:r>
              <a:rPr lang="zh-CN" altLang="en-US" sz="2880" dirty="0">
                <a:solidFill>
                  <a:srgbClr val="0070C0"/>
                </a:solidFill>
                <a:latin typeface="微软雅黑" panose="020B0503020204020204" pitchFamily="34" charset="-122"/>
                <a:ea typeface="微软雅黑" panose="020B0503020204020204" pitchFamily="34" charset="-122"/>
              </a:rPr>
              <a:t>分布式表示</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文本框 7"/>
          <p:cNvSpPr txBox="1"/>
          <p:nvPr/>
        </p:nvSpPr>
        <p:spPr>
          <a:xfrm>
            <a:off x="583565" y="1132205"/>
            <a:ext cx="10846435" cy="645160"/>
          </a:xfrm>
          <a:prstGeom prst="rect">
            <a:avLst/>
          </a:prstGeom>
          <a:noFill/>
        </p:spPr>
        <p:txBody>
          <a:bodyPr wrap="square" rtlCol="0" anchor="t">
            <a:spAutoFit/>
          </a:bodyPr>
          <a:lstStyle/>
          <a:p>
            <a:pPr marL="285750" indent="-285750">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分布式表示：</a:t>
            </a:r>
            <a:r>
              <a:rPr lang="zh-CN" altLang="en-US" dirty="0">
                <a:latin typeface="微软雅黑" panose="020B0503020204020204" pitchFamily="34" charset="-122"/>
                <a:ea typeface="微软雅黑" panose="020B0503020204020204" pitchFamily="34" charset="-122"/>
                <a:sym typeface="Wingdings 2" panose="05020102010507070707" charset="0"/>
              </a:rPr>
              <a:t>分布式表示由</a:t>
            </a:r>
            <a:r>
              <a:rPr lang="en-US" altLang="zh-CN" dirty="0">
                <a:latin typeface="微软雅黑" panose="020B0503020204020204" pitchFamily="34" charset="-122"/>
                <a:ea typeface="微软雅黑" panose="020B0503020204020204" pitchFamily="34" charset="-122"/>
                <a:sym typeface="Wingdings 2" panose="05020102010507070707" charset="0"/>
              </a:rPr>
              <a:t>Hinton</a:t>
            </a:r>
            <a:r>
              <a:rPr lang="zh-CN" altLang="en-US" dirty="0">
                <a:latin typeface="微软雅黑" panose="020B0503020204020204" pitchFamily="34" charset="-122"/>
                <a:ea typeface="微软雅黑" panose="020B0503020204020204" pitchFamily="34" charset="-122"/>
                <a:sym typeface="Wingdings 2" panose="05020102010507070707" charset="0"/>
              </a:rPr>
              <a:t>等多位计算机科学家和神经网络研究者在</a:t>
            </a:r>
            <a:r>
              <a:rPr lang="en-US" altLang="zh-CN" dirty="0">
                <a:latin typeface="微软雅黑" panose="020B0503020204020204" pitchFamily="34" charset="-122"/>
                <a:ea typeface="微软雅黑" panose="020B0503020204020204" pitchFamily="34" charset="-122"/>
                <a:sym typeface="Wingdings 2" panose="05020102010507070707" charset="0"/>
              </a:rPr>
              <a:t>20</a:t>
            </a:r>
            <a:r>
              <a:rPr lang="zh-CN" altLang="en-US" dirty="0">
                <a:latin typeface="微软雅黑" panose="020B0503020204020204" pitchFamily="34" charset="-122"/>
                <a:ea typeface="微软雅黑" panose="020B0503020204020204" pitchFamily="34" charset="-122"/>
                <a:sym typeface="Wingdings 2" panose="05020102010507070707" charset="0"/>
              </a:rPr>
              <a:t>世纪</a:t>
            </a:r>
            <a:r>
              <a:rPr lang="en-US" altLang="zh-CN" dirty="0">
                <a:latin typeface="微软雅黑" panose="020B0503020204020204" pitchFamily="34" charset="-122"/>
                <a:ea typeface="微软雅黑" panose="020B0503020204020204" pitchFamily="34" charset="-122"/>
                <a:sym typeface="Wingdings 2" panose="05020102010507070707" charset="0"/>
              </a:rPr>
              <a:t>80</a:t>
            </a:r>
            <a:r>
              <a:rPr lang="zh-CN" altLang="en-US" dirty="0">
                <a:latin typeface="微软雅黑" panose="020B0503020204020204" pitchFamily="34" charset="-122"/>
                <a:ea typeface="微软雅黑" panose="020B0503020204020204" pitchFamily="34" charset="-122"/>
                <a:sym typeface="Wingdings 2" panose="05020102010507070707" charset="0"/>
              </a:rPr>
              <a:t>年代提出，用于有效地捕捉词汇之间的语义和上下文关系，同时克服独热表示的维度灾难问题。其核心思想如下：</a:t>
            </a:r>
          </a:p>
        </p:txBody>
      </p:sp>
      <p:sp>
        <p:nvSpPr>
          <p:cNvPr id="16" name="文本框 15"/>
          <p:cNvSpPr txBox="1"/>
          <p:nvPr/>
        </p:nvSpPr>
        <p:spPr>
          <a:xfrm>
            <a:off x="583565" y="5626100"/>
            <a:ext cx="11139805" cy="645160"/>
          </a:xfrm>
          <a:prstGeom prst="rect">
            <a:avLst/>
          </a:prstGeom>
          <a:noFill/>
        </p:spPr>
        <p:txBody>
          <a:bodyPr wrap="square" rtlCol="0" anchor="t">
            <a:spAutoFit/>
          </a:bodyPr>
          <a:lstStyle/>
          <a:p>
            <a:pPr indent="0">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其中，每个词汇都被映射成一个</a:t>
            </a:r>
            <a:r>
              <a:rPr lang="en-US" altLang="zh-CN" dirty="0">
                <a:latin typeface="微软雅黑" panose="020B0503020204020204" pitchFamily="34" charset="-122"/>
                <a:ea typeface="微软雅黑" panose="020B0503020204020204" pitchFamily="34" charset="-122"/>
                <a:sym typeface="Wingdings 2" panose="05020102010507070707" charset="0"/>
              </a:rPr>
              <a:t>3</a:t>
            </a:r>
            <a:r>
              <a:rPr lang="zh-CN" altLang="en-US" dirty="0">
                <a:latin typeface="微软雅黑" panose="020B0503020204020204" pitchFamily="34" charset="-122"/>
                <a:ea typeface="微软雅黑" panose="020B0503020204020204" pitchFamily="34" charset="-122"/>
                <a:sym typeface="Wingdings 2" panose="05020102010507070707" charset="0"/>
              </a:rPr>
              <a:t>维的实数向量。例如，计算可得，</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猫</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狗</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之间的欧式距离为</a:t>
            </a:r>
            <a:r>
              <a:rPr lang="en-US" altLang="zh-CN" dirty="0">
                <a:latin typeface="微软雅黑" panose="020B0503020204020204" pitchFamily="34" charset="-122"/>
                <a:ea typeface="微软雅黑" panose="020B0503020204020204" pitchFamily="34" charset="-122"/>
                <a:sym typeface="Wingdings 2" panose="05020102010507070707" charset="0"/>
              </a:rPr>
              <a:t>0.245</a:t>
            </a:r>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猫</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鸟</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之间的欧式距离为</a:t>
            </a:r>
            <a:r>
              <a:rPr lang="en-US" altLang="zh-CN" dirty="0">
                <a:latin typeface="微软雅黑" panose="020B0503020204020204" pitchFamily="34" charset="-122"/>
                <a:ea typeface="微软雅黑" panose="020B0503020204020204" pitchFamily="34" charset="-122"/>
                <a:sym typeface="Wingdings 2" panose="05020102010507070707" charset="0"/>
              </a:rPr>
              <a:t>1.02</a:t>
            </a:r>
            <a:r>
              <a:rPr lang="zh-CN" altLang="en-US" dirty="0">
                <a:latin typeface="微软雅黑" panose="020B0503020204020204" pitchFamily="34" charset="-122"/>
                <a:ea typeface="微软雅黑" panose="020B0503020204020204" pitchFamily="34" charset="-122"/>
                <a:sym typeface="Wingdings 2" panose="05020102010507070707" charset="0"/>
              </a:rPr>
              <a:t>，表明</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猫</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狗</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最为相似。</a:t>
            </a:r>
          </a:p>
        </p:txBody>
      </p:sp>
      <p:sp>
        <p:nvSpPr>
          <p:cNvPr id="31" name="文本框 30"/>
          <p:cNvSpPr txBox="1"/>
          <p:nvPr/>
        </p:nvSpPr>
        <p:spPr>
          <a:xfrm>
            <a:off x="2868295" y="1968500"/>
            <a:ext cx="6657975" cy="368300"/>
          </a:xfrm>
          <a:prstGeom prst="rect">
            <a:avLst/>
          </a:prstGeom>
          <a:solidFill>
            <a:schemeClr val="accent1">
              <a:lumMod val="20000"/>
              <a:lumOff val="80000"/>
            </a:schemeClr>
          </a:solidFill>
        </p:spPr>
        <p:txBody>
          <a:bodyPr wrap="square" rtlCol="0" anchor="t">
            <a:spAutoFit/>
          </a:bodyPr>
          <a:lstStyle/>
          <a:p>
            <a:pPr indent="0">
              <a:buFont typeface="Wingdings" panose="05000000000000000000" charset="0"/>
              <a:buNone/>
            </a:pPr>
            <a:r>
              <a:rPr lang="zh-CN" altLang="en-US" dirty="0">
                <a:solidFill>
                  <a:srgbClr val="002060"/>
                </a:solidFill>
                <a:latin typeface="微软雅黑" panose="020B0503020204020204" pitchFamily="34" charset="-122"/>
                <a:ea typeface="微软雅黑" panose="020B0503020204020204" pitchFamily="34" charset="-122"/>
                <a:sym typeface="Wingdings 2" panose="05020102010507070707" charset="0"/>
              </a:rPr>
              <a:t>通过训练将语言中的每个词汇映射到一个固定长度的实数向量上</a:t>
            </a:r>
          </a:p>
        </p:txBody>
      </p:sp>
      <p:sp>
        <p:nvSpPr>
          <p:cNvPr id="9" name="文本框 8"/>
          <p:cNvSpPr txBox="1"/>
          <p:nvPr/>
        </p:nvSpPr>
        <p:spPr>
          <a:xfrm>
            <a:off x="583565" y="2683510"/>
            <a:ext cx="3907155" cy="368300"/>
          </a:xfrm>
          <a:prstGeom prst="rect">
            <a:avLst/>
          </a:prstGeom>
          <a:noFill/>
        </p:spPr>
        <p:txBody>
          <a:bodyPr wrap="square" rtlCol="0" anchor="t">
            <a:spAutoFit/>
          </a:bodyPr>
          <a:lstStyle/>
          <a:p>
            <a:pPr marL="285750" indent="-285750">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通过以下词向量例子说明：</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pic>
        <p:nvPicPr>
          <p:cNvPr id="11" name="图片 10"/>
          <p:cNvPicPr>
            <a:picLocks noChangeAspect="1"/>
          </p:cNvPicPr>
          <p:nvPr/>
        </p:nvPicPr>
        <p:blipFill>
          <a:blip r:embed="rId4"/>
          <a:stretch>
            <a:fillRect/>
          </a:stretch>
        </p:blipFill>
        <p:spPr>
          <a:xfrm>
            <a:off x="4490720" y="3115310"/>
            <a:ext cx="2667000" cy="218122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8443-AAD1-3774-D9B2-82D2589BD80E}"/>
            </a:ext>
          </a:extLst>
        </p:cNvPr>
        <p:cNvGrpSpPr/>
        <p:nvPr/>
      </p:nvGrpSpPr>
      <p:grpSpPr>
        <a:xfrm>
          <a:off x="0" y="0"/>
          <a:ext cx="0" cy="0"/>
          <a:chOff x="0" y="0"/>
          <a:chExt cx="0" cy="0"/>
        </a:xfrm>
      </p:grpSpPr>
      <p:sp>
        <p:nvSpPr>
          <p:cNvPr id="17" name="object 3">
            <a:extLst>
              <a:ext uri="{FF2B5EF4-FFF2-40B4-BE49-F238E27FC236}">
                <a16:creationId xmlns:a16="http://schemas.microsoft.com/office/drawing/2014/main" id="{208CE2B4-D120-E61F-4489-E2D71B4CBDEB}"/>
              </a:ext>
            </a:extLst>
          </p:cNvPr>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err="1">
                <a:solidFill>
                  <a:srgbClr val="0070C0"/>
                </a:solidFill>
                <a:latin typeface="微软雅黑" panose="020B0503020204020204" pitchFamily="34" charset="-122"/>
                <a:ea typeface="微软雅黑" panose="020B0503020204020204" pitchFamily="34" charset="-122"/>
              </a:rPr>
              <a:t>Mikolov</a:t>
            </a:r>
            <a:r>
              <a:rPr lang="zh-CN" altLang="en-US" sz="2880" dirty="0">
                <a:solidFill>
                  <a:srgbClr val="0070C0"/>
                </a:solidFill>
                <a:latin typeface="微软雅黑" panose="020B0503020204020204" pitchFamily="34" charset="-122"/>
                <a:ea typeface="微软雅黑" panose="020B0503020204020204" pitchFamily="34" charset="-122"/>
              </a:rPr>
              <a:t>论文</a:t>
            </a:r>
            <a:r>
              <a:rPr lang="en-US" altLang="zh-CN" sz="2880" dirty="0">
                <a:solidFill>
                  <a:srgbClr val="0070C0"/>
                </a:solidFill>
                <a:latin typeface="微软雅黑" panose="020B0503020204020204" pitchFamily="34" charset="-122"/>
                <a:ea typeface="微软雅黑" panose="020B0503020204020204" pitchFamily="34" charset="-122"/>
              </a:rPr>
              <a:t>1</a:t>
            </a:r>
            <a:endParaRPr lang="zh-CN" altLang="en-US" sz="2880" dirty="0">
              <a:solidFill>
                <a:srgbClr val="0070C0"/>
              </a:solidFill>
              <a:latin typeface="微软雅黑" panose="020B0503020204020204" pitchFamily="34" charset="-122"/>
              <a:ea typeface="微软雅黑" panose="020B0503020204020204" pitchFamily="34" charset="-122"/>
            </a:endParaRPr>
          </a:p>
        </p:txBody>
      </p:sp>
      <p:sp>
        <p:nvSpPr>
          <p:cNvPr id="3" name="等腰三角形 2">
            <a:extLst>
              <a:ext uri="{FF2B5EF4-FFF2-40B4-BE49-F238E27FC236}">
                <a16:creationId xmlns:a16="http://schemas.microsoft.com/office/drawing/2014/main" id="{92BFC350-3430-3BCE-7473-8E71A5D4F298}"/>
              </a:ext>
            </a:extLst>
          </p:cNvPr>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6F57DC5F-6E3C-6978-FE5D-866F49D17BEB}"/>
              </a:ext>
            </a:extLst>
          </p:cNvPr>
          <p:cNvGrpSpPr/>
          <p:nvPr/>
        </p:nvGrpSpPr>
        <p:grpSpPr>
          <a:xfrm>
            <a:off x="8754534" y="171584"/>
            <a:ext cx="3041015" cy="643436"/>
            <a:chOff x="6096000" y="266700"/>
            <a:chExt cx="3041015" cy="643436"/>
          </a:xfrm>
        </p:grpSpPr>
        <p:pic>
          <p:nvPicPr>
            <p:cNvPr id="5" name="图片 4">
              <a:extLst>
                <a:ext uri="{FF2B5EF4-FFF2-40B4-BE49-F238E27FC236}">
                  <a16:creationId xmlns:a16="http://schemas.microsoft.com/office/drawing/2014/main" id="{C8B2DDE3-0EF9-656D-725D-95B7115E0A04}"/>
                </a:ext>
              </a:extLst>
            </p:cNvPr>
            <p:cNvPicPr>
              <a:picLocks noChangeAspect="1"/>
            </p:cNvPicPr>
            <p:nvPr/>
          </p:nvPicPr>
          <p:blipFill>
            <a:blip r:embed="rId3"/>
            <a:stretch>
              <a:fillRect/>
            </a:stretch>
          </p:blipFill>
          <p:spPr>
            <a:xfrm>
              <a:off x="6096000" y="266700"/>
              <a:ext cx="3041015" cy="565044"/>
            </a:xfrm>
            <a:prstGeom prst="rect">
              <a:avLst/>
            </a:prstGeom>
          </p:spPr>
        </p:pic>
        <p:sp>
          <p:nvSpPr>
            <p:cNvPr id="6" name="矩形 5">
              <a:extLst>
                <a:ext uri="{FF2B5EF4-FFF2-40B4-BE49-F238E27FC236}">
                  <a16:creationId xmlns:a16="http://schemas.microsoft.com/office/drawing/2014/main" id="{506609EB-8BB5-A26A-D439-D2DCA5D332CE}"/>
                </a:ext>
              </a:extLst>
            </p:cNvPr>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pic>
        <p:nvPicPr>
          <p:cNvPr id="4" name="Picture 3">
            <a:extLst>
              <a:ext uri="{FF2B5EF4-FFF2-40B4-BE49-F238E27FC236}">
                <a16:creationId xmlns:a16="http://schemas.microsoft.com/office/drawing/2014/main" id="{076F5B05-F37F-D289-C2D2-B78F3C8EC1F0}"/>
              </a:ext>
            </a:extLst>
          </p:cNvPr>
          <p:cNvPicPr>
            <a:picLocks noChangeAspect="1"/>
          </p:cNvPicPr>
          <p:nvPr/>
        </p:nvPicPr>
        <p:blipFill>
          <a:blip r:embed="rId4"/>
          <a:stretch>
            <a:fillRect/>
          </a:stretch>
        </p:blipFill>
        <p:spPr>
          <a:xfrm>
            <a:off x="401145" y="1162786"/>
            <a:ext cx="7401007" cy="399849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10" name="TextBox 9">
            <a:extLst>
              <a:ext uri="{FF2B5EF4-FFF2-40B4-BE49-F238E27FC236}">
                <a16:creationId xmlns:a16="http://schemas.microsoft.com/office/drawing/2014/main" id="{09188E8E-EFD2-0A97-7A2D-EB50AAEF10B1}"/>
              </a:ext>
            </a:extLst>
          </p:cNvPr>
          <p:cNvSpPr txBox="1"/>
          <p:nvPr/>
        </p:nvSpPr>
        <p:spPr>
          <a:xfrm>
            <a:off x="451945" y="5583432"/>
            <a:ext cx="3478924" cy="646331"/>
          </a:xfrm>
          <a:prstGeom prst="rect">
            <a:avLst/>
          </a:prstGeom>
          <a:noFill/>
        </p:spPr>
        <p:txBody>
          <a:bodyPr wrap="square">
            <a:spAutoFit/>
          </a:bodyPr>
          <a:lstStyle/>
          <a:p>
            <a:r>
              <a:rPr lang="en-US" dirty="0">
                <a:hlinkClick r:id="rId5"/>
              </a:rPr>
              <a:t>https://arxiv.org/pdf/1310.4546</a:t>
            </a:r>
            <a:endParaRPr lang="en-US" dirty="0"/>
          </a:p>
          <a:p>
            <a:endParaRPr lang="en-US" dirty="0"/>
          </a:p>
        </p:txBody>
      </p:sp>
      <p:pic>
        <p:nvPicPr>
          <p:cNvPr id="12" name="Picture 11">
            <a:extLst>
              <a:ext uri="{FF2B5EF4-FFF2-40B4-BE49-F238E27FC236}">
                <a16:creationId xmlns:a16="http://schemas.microsoft.com/office/drawing/2014/main" id="{F15FEEEA-AC52-C8C4-6083-FA3F3732B54C}"/>
              </a:ext>
            </a:extLst>
          </p:cNvPr>
          <p:cNvPicPr>
            <a:picLocks noChangeAspect="1"/>
          </p:cNvPicPr>
          <p:nvPr/>
        </p:nvPicPr>
        <p:blipFill>
          <a:blip r:embed="rId6"/>
          <a:stretch>
            <a:fillRect/>
          </a:stretch>
        </p:blipFill>
        <p:spPr>
          <a:xfrm>
            <a:off x="4126940" y="5583432"/>
            <a:ext cx="7127187" cy="1127839"/>
          </a:xfrm>
          <a:prstGeom prst="rect">
            <a:avLst/>
          </a:prstGeom>
        </p:spPr>
      </p:pic>
      <p:sp>
        <p:nvSpPr>
          <p:cNvPr id="13" name="Rectangle 12">
            <a:extLst>
              <a:ext uri="{FF2B5EF4-FFF2-40B4-BE49-F238E27FC236}">
                <a16:creationId xmlns:a16="http://schemas.microsoft.com/office/drawing/2014/main" id="{12DC8B23-D66B-8D89-9D5F-37E6F81184AC}"/>
              </a:ext>
            </a:extLst>
          </p:cNvPr>
          <p:cNvSpPr/>
          <p:nvPr/>
        </p:nvSpPr>
        <p:spPr>
          <a:xfrm>
            <a:off x="5265683" y="6395961"/>
            <a:ext cx="1250731" cy="315310"/>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5" name="Group 14">
            <a:extLst>
              <a:ext uri="{FF2B5EF4-FFF2-40B4-BE49-F238E27FC236}">
                <a16:creationId xmlns:a16="http://schemas.microsoft.com/office/drawing/2014/main" id="{F4E67793-5CBC-014F-4EC6-62F5C713AE4A}"/>
              </a:ext>
            </a:extLst>
          </p:cNvPr>
          <p:cNvGrpSpPr/>
          <p:nvPr/>
        </p:nvGrpSpPr>
        <p:grpSpPr>
          <a:xfrm>
            <a:off x="7331443" y="757485"/>
            <a:ext cx="4706887" cy="5026589"/>
            <a:chOff x="7331443" y="757485"/>
            <a:chExt cx="4706887" cy="5026589"/>
          </a:xfrm>
        </p:grpSpPr>
        <p:sp>
          <p:nvSpPr>
            <p:cNvPr id="14" name="TextBox 13">
              <a:extLst>
                <a:ext uri="{FF2B5EF4-FFF2-40B4-BE49-F238E27FC236}">
                  <a16:creationId xmlns:a16="http://schemas.microsoft.com/office/drawing/2014/main" id="{81C9F8FE-868B-7204-296E-141864D2E0AA}"/>
                </a:ext>
              </a:extLst>
            </p:cNvPr>
            <p:cNvSpPr txBox="1"/>
            <p:nvPr/>
          </p:nvSpPr>
          <p:spPr>
            <a:xfrm>
              <a:off x="7331443" y="2306199"/>
              <a:ext cx="4706887" cy="3477875"/>
            </a:xfrm>
            <a:prstGeom prst="rect">
              <a:avLst/>
            </a:prstGeom>
            <a:solidFill>
              <a:schemeClr val="accent2">
                <a:lumMod val="20000"/>
                <a:lumOff val="80000"/>
              </a:schemeClr>
            </a:solidFill>
          </p:spPr>
          <p:txBody>
            <a:bodyPr wrap="square" rtlCol="0">
              <a:spAutoFit/>
            </a:bodyPr>
            <a:lstStyle/>
            <a:p>
              <a:pPr algn="just"/>
              <a:r>
                <a:rPr lang="en-US" sz="2000" b="1" dirty="0">
                  <a:latin typeface="Kaiti TC" panose="02010600040101010101" pitchFamily="2" charset="-120"/>
                  <a:ea typeface="Kaiti TC" panose="02010600040101010101" pitchFamily="2" charset="-120"/>
                </a:rPr>
                <a:t>"Yesterday we received a </a:t>
              </a:r>
              <a:r>
                <a:rPr lang="en-US" sz="2000" b="1" dirty="0">
                  <a:solidFill>
                    <a:srgbClr val="C00000"/>
                  </a:solidFill>
                  <a:latin typeface="Kaiti TC" panose="02010600040101010101" pitchFamily="2" charset="-120"/>
                  <a:ea typeface="Kaiti TC" panose="02010600040101010101" pitchFamily="2" charset="-120"/>
                </a:rPr>
                <a:t>Test of Time Award</a:t>
              </a:r>
              <a:r>
                <a:rPr lang="en-US" sz="2000" b="1" dirty="0">
                  <a:latin typeface="Kaiti TC" panose="02010600040101010101" pitchFamily="2" charset="-120"/>
                  <a:ea typeface="Kaiti TC" panose="02010600040101010101" pitchFamily="2" charset="-120"/>
                </a:rPr>
                <a:t> at </a:t>
              </a:r>
              <a:r>
                <a:rPr lang="en-US" sz="2000" b="1" dirty="0" err="1">
                  <a:latin typeface="Kaiti TC" panose="02010600040101010101" pitchFamily="2" charset="-120"/>
                  <a:ea typeface="Kaiti TC" panose="02010600040101010101" pitchFamily="2" charset="-120"/>
                </a:rPr>
                <a:t>NeurIPS</a:t>
              </a:r>
              <a:r>
                <a:rPr lang="en-US" sz="2000" b="1" dirty="0">
                  <a:latin typeface="Kaiti TC" panose="02010600040101010101" pitchFamily="2" charset="-120"/>
                  <a:ea typeface="Kaiti TC" panose="02010600040101010101" pitchFamily="2" charset="-120"/>
                </a:rPr>
                <a:t> for the word2vec paper from ten years ago. I'm really happy about it! I think it's the first 'best paper' type of award I ever received. In fact, the original word2vec paper was rejected at the first ICLR conference in 2013 (despite the acceptance rate of around 70%), so it made me think how difficult it is for reviewers to predict future impact of research papers."</a:t>
              </a:r>
            </a:p>
          </p:txBody>
        </p:sp>
        <p:pic>
          <p:nvPicPr>
            <p:cNvPr id="2050" name="Picture 2">
              <a:extLst>
                <a:ext uri="{FF2B5EF4-FFF2-40B4-BE49-F238E27FC236}">
                  <a16:creationId xmlns:a16="http://schemas.microsoft.com/office/drawing/2014/main" id="{9D385DC8-5BA5-8A28-9727-3802FAB788C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8735" t="5641" r="18506" b="43018"/>
            <a:stretch>
              <a:fillRect/>
            </a:stretch>
          </p:blipFill>
          <p:spPr bwMode="auto">
            <a:xfrm>
              <a:off x="7802152" y="757485"/>
              <a:ext cx="1934712" cy="154871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6499217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A5933-1977-C381-1825-D227132A9244}"/>
            </a:ext>
          </a:extLst>
        </p:cNvPr>
        <p:cNvGrpSpPr/>
        <p:nvPr/>
      </p:nvGrpSpPr>
      <p:grpSpPr>
        <a:xfrm>
          <a:off x="0" y="0"/>
          <a:ext cx="0" cy="0"/>
          <a:chOff x="0" y="0"/>
          <a:chExt cx="0" cy="0"/>
        </a:xfrm>
      </p:grpSpPr>
      <p:sp>
        <p:nvSpPr>
          <p:cNvPr id="17" name="object 3">
            <a:extLst>
              <a:ext uri="{FF2B5EF4-FFF2-40B4-BE49-F238E27FC236}">
                <a16:creationId xmlns:a16="http://schemas.microsoft.com/office/drawing/2014/main" id="{A67FFCD7-6871-3460-B6B0-AC641120F721}"/>
              </a:ext>
            </a:extLst>
          </p:cNvPr>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spcBef>
                <a:spcPts val="100"/>
              </a:spcBef>
            </a:pPr>
            <a:r>
              <a:rPr lang="en-US" altLang="zh-CN" sz="2880" dirty="0" err="1">
                <a:solidFill>
                  <a:srgbClr val="0070C0"/>
                </a:solidFill>
                <a:latin typeface="微软雅黑" panose="020B0503020204020204" pitchFamily="34" charset="-122"/>
                <a:ea typeface="微软雅黑" panose="020B0503020204020204" pitchFamily="34" charset="-122"/>
              </a:rPr>
              <a:t>Mikolov</a:t>
            </a:r>
            <a:r>
              <a:rPr lang="zh-CN" altLang="en-US" sz="2880" dirty="0">
                <a:solidFill>
                  <a:srgbClr val="0070C0"/>
                </a:solidFill>
                <a:latin typeface="微软雅黑" panose="020B0503020204020204" pitchFamily="34" charset="-122"/>
                <a:ea typeface="微软雅黑" panose="020B0503020204020204" pitchFamily="34" charset="-122"/>
              </a:rPr>
              <a:t>论文</a:t>
            </a:r>
            <a:r>
              <a:rPr lang="en-US" altLang="zh-CN" sz="2880" dirty="0">
                <a:solidFill>
                  <a:srgbClr val="0070C0"/>
                </a:solidFill>
                <a:latin typeface="微软雅黑" panose="020B0503020204020204" pitchFamily="34" charset="-122"/>
                <a:ea typeface="微软雅黑" panose="020B0503020204020204" pitchFamily="34" charset="-122"/>
              </a:rPr>
              <a:t>2</a:t>
            </a:r>
            <a:endParaRPr lang="zh-CN" altLang="en-US" sz="2880" dirty="0">
              <a:solidFill>
                <a:srgbClr val="0070C0"/>
              </a:solidFill>
              <a:latin typeface="微软雅黑" panose="020B0503020204020204" pitchFamily="34" charset="-122"/>
              <a:ea typeface="微软雅黑" panose="020B0503020204020204" pitchFamily="34" charset="-122"/>
            </a:endParaRPr>
          </a:p>
        </p:txBody>
      </p:sp>
      <p:sp>
        <p:nvSpPr>
          <p:cNvPr id="3" name="等腰三角形 2">
            <a:extLst>
              <a:ext uri="{FF2B5EF4-FFF2-40B4-BE49-F238E27FC236}">
                <a16:creationId xmlns:a16="http://schemas.microsoft.com/office/drawing/2014/main" id="{FC193D9E-54C2-DFC3-785D-93971DF4FB69}"/>
              </a:ext>
            </a:extLst>
          </p:cNvPr>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1ED08C71-F12A-CA31-DF5A-121E490C1D3C}"/>
              </a:ext>
            </a:extLst>
          </p:cNvPr>
          <p:cNvGrpSpPr/>
          <p:nvPr/>
        </p:nvGrpSpPr>
        <p:grpSpPr>
          <a:xfrm>
            <a:off x="8754534" y="171584"/>
            <a:ext cx="3041015" cy="643436"/>
            <a:chOff x="6096000" y="266700"/>
            <a:chExt cx="3041015" cy="643436"/>
          </a:xfrm>
        </p:grpSpPr>
        <p:pic>
          <p:nvPicPr>
            <p:cNvPr id="5" name="图片 4">
              <a:extLst>
                <a:ext uri="{FF2B5EF4-FFF2-40B4-BE49-F238E27FC236}">
                  <a16:creationId xmlns:a16="http://schemas.microsoft.com/office/drawing/2014/main" id="{DBE63E09-6EEE-60BB-7FB6-88B75517E8E9}"/>
                </a:ext>
              </a:extLst>
            </p:cNvPr>
            <p:cNvPicPr>
              <a:picLocks noChangeAspect="1"/>
            </p:cNvPicPr>
            <p:nvPr/>
          </p:nvPicPr>
          <p:blipFill>
            <a:blip r:embed="rId3"/>
            <a:stretch>
              <a:fillRect/>
            </a:stretch>
          </p:blipFill>
          <p:spPr>
            <a:xfrm>
              <a:off x="6096000" y="266700"/>
              <a:ext cx="3041015" cy="565044"/>
            </a:xfrm>
            <a:prstGeom prst="rect">
              <a:avLst/>
            </a:prstGeom>
          </p:spPr>
        </p:pic>
        <p:sp>
          <p:nvSpPr>
            <p:cNvPr id="6" name="矩形 5">
              <a:extLst>
                <a:ext uri="{FF2B5EF4-FFF2-40B4-BE49-F238E27FC236}">
                  <a16:creationId xmlns:a16="http://schemas.microsoft.com/office/drawing/2014/main" id="{F3B4F769-2519-163C-9519-9A5BB84D32EB}"/>
                </a:ext>
              </a:extLst>
            </p:cNvPr>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pic>
        <p:nvPicPr>
          <p:cNvPr id="7" name="Picture 6">
            <a:extLst>
              <a:ext uri="{FF2B5EF4-FFF2-40B4-BE49-F238E27FC236}">
                <a16:creationId xmlns:a16="http://schemas.microsoft.com/office/drawing/2014/main" id="{67F34C42-74FB-D23E-6793-14A40A5254D5}"/>
              </a:ext>
            </a:extLst>
          </p:cNvPr>
          <p:cNvPicPr>
            <a:picLocks noChangeAspect="1"/>
          </p:cNvPicPr>
          <p:nvPr/>
        </p:nvPicPr>
        <p:blipFill>
          <a:blip r:embed="rId4"/>
          <a:stretch>
            <a:fillRect/>
          </a:stretch>
        </p:blipFill>
        <p:spPr>
          <a:xfrm>
            <a:off x="1687830" y="1025801"/>
            <a:ext cx="7772400" cy="40499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xtBox 8">
            <a:extLst>
              <a:ext uri="{FF2B5EF4-FFF2-40B4-BE49-F238E27FC236}">
                <a16:creationId xmlns:a16="http://schemas.microsoft.com/office/drawing/2014/main" id="{99C5CEBE-B480-2BF5-8E3B-60F8B485D463}"/>
              </a:ext>
            </a:extLst>
          </p:cNvPr>
          <p:cNvSpPr txBox="1"/>
          <p:nvPr/>
        </p:nvSpPr>
        <p:spPr>
          <a:xfrm>
            <a:off x="483476" y="5386790"/>
            <a:ext cx="6096000" cy="646331"/>
          </a:xfrm>
          <a:prstGeom prst="rect">
            <a:avLst/>
          </a:prstGeom>
          <a:noFill/>
        </p:spPr>
        <p:txBody>
          <a:bodyPr wrap="square">
            <a:spAutoFit/>
          </a:bodyPr>
          <a:lstStyle/>
          <a:p>
            <a:r>
              <a:rPr lang="en-US" dirty="0">
                <a:hlinkClick r:id="rId5"/>
              </a:rPr>
              <a:t>https://arxiv.org/pdf/1301.3781</a:t>
            </a:r>
            <a:endParaRPr lang="en-US" dirty="0"/>
          </a:p>
          <a:p>
            <a:endParaRPr lang="en-US" dirty="0"/>
          </a:p>
        </p:txBody>
      </p:sp>
      <p:pic>
        <p:nvPicPr>
          <p:cNvPr id="1026" name="Picture 2">
            <a:extLst>
              <a:ext uri="{FF2B5EF4-FFF2-40B4-BE49-F238E27FC236}">
                <a16:creationId xmlns:a16="http://schemas.microsoft.com/office/drawing/2014/main" id="{B479BCD7-DCEF-4384-BB1F-2A7E401264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316" y="5832199"/>
            <a:ext cx="2239141" cy="72548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8971A918-EAA4-AD65-2ADC-E2C96CDD283A}"/>
              </a:ext>
            </a:extLst>
          </p:cNvPr>
          <p:cNvPicPr>
            <a:picLocks noChangeAspect="1"/>
          </p:cNvPicPr>
          <p:nvPr/>
        </p:nvPicPr>
        <p:blipFill>
          <a:blip r:embed="rId7"/>
          <a:stretch>
            <a:fillRect/>
          </a:stretch>
        </p:blipFill>
        <p:spPr>
          <a:xfrm>
            <a:off x="4611370" y="5350010"/>
            <a:ext cx="6645910" cy="1336406"/>
          </a:xfrm>
          <a:prstGeom prst="rect">
            <a:avLst/>
          </a:prstGeom>
        </p:spPr>
      </p:pic>
    </p:spTree>
    <p:extLst>
      <p:ext uri="{BB962C8B-B14F-4D97-AF65-F5344CB8AC3E}">
        <p14:creationId xmlns:p14="http://schemas.microsoft.com/office/powerpoint/2010/main" val="203044043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92E13-1D06-F2C6-13DA-1DD7AF0B79BE}"/>
              </a:ext>
            </a:extLst>
          </p:cNvPr>
          <p:cNvSpPr>
            <a:spLocks noGrp="1"/>
          </p:cNvSpPr>
          <p:nvPr>
            <p:ph type="title"/>
          </p:nvPr>
        </p:nvSpPr>
        <p:spPr/>
        <p:txBody>
          <a:bodyPr/>
          <a:lstStyle/>
          <a:p>
            <a:r>
              <a:rPr lang="en-US" dirty="0" err="1"/>
              <a:t>背景知识</a:t>
            </a:r>
            <a:r>
              <a:rPr lang="zh-CN" altLang="en-US" dirty="0"/>
              <a:t>：深度学习与</a:t>
            </a:r>
            <a:r>
              <a:rPr lang="en-US" altLang="zh-CN" dirty="0"/>
              <a:t>MLP</a:t>
            </a:r>
            <a:endParaRPr lang="en-US" dirty="0"/>
          </a:p>
        </p:txBody>
      </p:sp>
      <p:sp>
        <p:nvSpPr>
          <p:cNvPr id="3" name="Content Placeholder 2">
            <a:extLst>
              <a:ext uri="{FF2B5EF4-FFF2-40B4-BE49-F238E27FC236}">
                <a16:creationId xmlns:a16="http://schemas.microsoft.com/office/drawing/2014/main" id="{1AA2B04F-E350-AB50-DD2F-C294A5D18BAF}"/>
              </a:ext>
            </a:extLst>
          </p:cNvPr>
          <p:cNvSpPr>
            <a:spLocks noGrp="1"/>
          </p:cNvSpPr>
          <p:nvPr>
            <p:ph idx="1"/>
          </p:nvPr>
        </p:nvSpPr>
        <p:spPr>
          <a:xfrm>
            <a:off x="608400" y="1490400"/>
            <a:ext cx="10969200" cy="538097"/>
          </a:xfrm>
        </p:spPr>
        <p:txBody>
          <a:bodyPr/>
          <a:lstStyle/>
          <a:p>
            <a:r>
              <a:rPr lang="en-US" b="1" dirty="0">
                <a:solidFill>
                  <a:schemeClr val="tx1"/>
                </a:solidFill>
              </a:rPr>
              <a:t>Multilayer Perceptron</a:t>
            </a:r>
          </a:p>
        </p:txBody>
      </p:sp>
      <p:sp>
        <p:nvSpPr>
          <p:cNvPr id="4" name="AutoShape 2">
            <a:extLst>
              <a:ext uri="{FF2B5EF4-FFF2-40B4-BE49-F238E27FC236}">
                <a16:creationId xmlns:a16="http://schemas.microsoft.com/office/drawing/2014/main" id="{E9409E24-009E-7676-AA54-E394D84ABF1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45C8B706-5891-EE0B-B737-E852835E00E0}"/>
              </a:ext>
            </a:extLst>
          </p:cNvPr>
          <p:cNvPicPr>
            <a:picLocks noChangeAspect="1"/>
          </p:cNvPicPr>
          <p:nvPr/>
        </p:nvPicPr>
        <p:blipFill>
          <a:blip r:embed="rId2"/>
          <a:stretch>
            <a:fillRect/>
          </a:stretch>
        </p:blipFill>
        <p:spPr>
          <a:xfrm>
            <a:off x="796505" y="2305210"/>
            <a:ext cx="5461370" cy="2708223"/>
          </a:xfrm>
          <a:prstGeom prst="rect">
            <a:avLst/>
          </a:prstGeom>
        </p:spPr>
      </p:pic>
      <p:pic>
        <p:nvPicPr>
          <p:cNvPr id="7" name="Picture 6">
            <a:extLst>
              <a:ext uri="{FF2B5EF4-FFF2-40B4-BE49-F238E27FC236}">
                <a16:creationId xmlns:a16="http://schemas.microsoft.com/office/drawing/2014/main" id="{ADDA392D-9EB1-AA0A-756C-4F75867AD342}"/>
              </a:ext>
            </a:extLst>
          </p:cNvPr>
          <p:cNvPicPr>
            <a:picLocks noChangeAspect="1"/>
          </p:cNvPicPr>
          <p:nvPr/>
        </p:nvPicPr>
        <p:blipFill>
          <a:blip r:embed="rId3"/>
          <a:stretch>
            <a:fillRect/>
          </a:stretch>
        </p:blipFill>
        <p:spPr>
          <a:xfrm>
            <a:off x="6715674" y="1759448"/>
            <a:ext cx="4394200" cy="1270000"/>
          </a:xfrm>
          <a:prstGeom prst="rect">
            <a:avLst/>
          </a:prstGeom>
        </p:spPr>
      </p:pic>
      <p:pic>
        <p:nvPicPr>
          <p:cNvPr id="10" name="Picture 9">
            <a:extLst>
              <a:ext uri="{FF2B5EF4-FFF2-40B4-BE49-F238E27FC236}">
                <a16:creationId xmlns:a16="http://schemas.microsoft.com/office/drawing/2014/main" id="{7484157B-C24F-0BF4-6F9C-E2AE786223A1}"/>
              </a:ext>
            </a:extLst>
          </p:cNvPr>
          <p:cNvPicPr>
            <a:picLocks noChangeAspect="1"/>
          </p:cNvPicPr>
          <p:nvPr/>
        </p:nvPicPr>
        <p:blipFill>
          <a:blip r:embed="rId4"/>
          <a:stretch>
            <a:fillRect/>
          </a:stretch>
        </p:blipFill>
        <p:spPr>
          <a:xfrm>
            <a:off x="6768227" y="3356712"/>
            <a:ext cx="3222784" cy="2708222"/>
          </a:xfrm>
          <a:prstGeom prst="rect">
            <a:avLst/>
          </a:prstGeom>
        </p:spPr>
      </p:pic>
      <p:sp>
        <p:nvSpPr>
          <p:cNvPr id="12" name="TextBox 11">
            <a:extLst>
              <a:ext uri="{FF2B5EF4-FFF2-40B4-BE49-F238E27FC236}">
                <a16:creationId xmlns:a16="http://schemas.microsoft.com/office/drawing/2014/main" id="{89E70CD0-A556-3F86-1A5A-EFB3D0BC4B66}"/>
              </a:ext>
            </a:extLst>
          </p:cNvPr>
          <p:cNvSpPr txBox="1"/>
          <p:nvPr/>
        </p:nvSpPr>
        <p:spPr>
          <a:xfrm>
            <a:off x="619674" y="5880268"/>
            <a:ext cx="6096000" cy="646331"/>
          </a:xfrm>
          <a:prstGeom prst="rect">
            <a:avLst/>
          </a:prstGeom>
          <a:noFill/>
        </p:spPr>
        <p:txBody>
          <a:bodyPr wrap="square">
            <a:spAutoFit/>
          </a:bodyPr>
          <a:lstStyle/>
          <a:p>
            <a:r>
              <a:rPr lang="en-US" dirty="0">
                <a:hlinkClick r:id="rId5"/>
              </a:rPr>
              <a:t>https://d2l.ai/chapter_multilayer-perceptrons/mlp.html</a:t>
            </a:r>
            <a:endParaRPr lang="en-US" dirty="0"/>
          </a:p>
          <a:p>
            <a:endParaRPr lang="en-US" dirty="0"/>
          </a:p>
        </p:txBody>
      </p:sp>
    </p:spTree>
    <p:extLst>
      <p:ext uri="{BB962C8B-B14F-4D97-AF65-F5344CB8AC3E}">
        <p14:creationId xmlns:p14="http://schemas.microsoft.com/office/powerpoint/2010/main" val="315875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2.3Word2Vec</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文本框 7"/>
          <p:cNvSpPr txBox="1"/>
          <p:nvPr/>
        </p:nvSpPr>
        <p:spPr>
          <a:xfrm>
            <a:off x="583565" y="1132205"/>
            <a:ext cx="10846435" cy="922020"/>
          </a:xfrm>
          <a:prstGeom prst="rect">
            <a:avLst/>
          </a:prstGeom>
          <a:noFill/>
        </p:spPr>
        <p:txBody>
          <a:bodyPr wrap="square" rtlCol="0" anchor="t">
            <a:spAutoFit/>
          </a:bodyPr>
          <a:lstStyle/>
          <a:p>
            <a:pPr marL="285750" indent="-285750" algn="just">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Word2Vec</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zh-CN" altLang="en-US" dirty="0">
                <a:latin typeface="微软雅黑" panose="020B0503020204020204" pitchFamily="34" charset="-122"/>
                <a:ea typeface="微软雅黑" panose="020B0503020204020204" pitchFamily="34" charset="-122"/>
                <a:sym typeface="Wingdings 2" panose="05020102010507070707" charset="0"/>
              </a:rPr>
              <a:t>该模型是</a:t>
            </a:r>
            <a:r>
              <a:rPr lang="en-US" altLang="zh-CN" dirty="0">
                <a:latin typeface="微软雅黑" panose="020B0503020204020204" pitchFamily="34" charset="-122"/>
                <a:ea typeface="微软雅黑" panose="020B0503020204020204" pitchFamily="34" charset="-122"/>
                <a:sym typeface="Wingdings 2" panose="05020102010507070707" charset="0"/>
              </a:rPr>
              <a:t> 2013 </a:t>
            </a:r>
            <a:r>
              <a:rPr lang="zh-CN" altLang="en-US" dirty="0">
                <a:latin typeface="微软雅黑" panose="020B0503020204020204" pitchFamily="34" charset="-122"/>
                <a:ea typeface="微软雅黑" panose="020B0503020204020204" pitchFamily="34" charset="-122"/>
                <a:sym typeface="Wingdings 2" panose="05020102010507070707" charset="0"/>
              </a:rPr>
              <a:t>年由</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Tomas Mikolov</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等人提出，用于生成词语的分布式表示。该模型包括</a:t>
            </a:r>
            <a:r>
              <a:rPr lang="zh-CN" altLang="en-US" b="1" dirty="0">
                <a:latin typeface="微软雅黑" panose="020B0503020204020204" pitchFamily="34" charset="-122"/>
                <a:ea typeface="微软雅黑" panose="020B0503020204020204" pitchFamily="34" charset="-122"/>
                <a:sym typeface="Wingdings 2" panose="05020102010507070707" charset="0"/>
              </a:rPr>
              <a:t>输入层</a:t>
            </a:r>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zh-CN" altLang="en-US" b="1" dirty="0">
                <a:latin typeface="微软雅黑" panose="020B0503020204020204" pitchFamily="34" charset="-122"/>
                <a:ea typeface="微软雅黑" panose="020B0503020204020204" pitchFamily="34" charset="-122"/>
                <a:sym typeface="Wingdings 2" panose="05020102010507070707" charset="0"/>
              </a:rPr>
              <a:t>投影层</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zh-CN" altLang="en-US" b="1" dirty="0">
                <a:latin typeface="微软雅黑" panose="020B0503020204020204" pitchFamily="34" charset="-122"/>
                <a:ea typeface="微软雅黑" panose="020B0503020204020204" pitchFamily="34" charset="-122"/>
                <a:sym typeface="Wingdings 2" panose="05020102010507070707" charset="0"/>
              </a:rPr>
              <a:t>输出层</a:t>
            </a:r>
            <a:r>
              <a:rPr lang="zh-CN" altLang="en-US" dirty="0">
                <a:latin typeface="微软雅黑" panose="020B0503020204020204" pitchFamily="34" charset="-122"/>
                <a:ea typeface="微软雅黑" panose="020B0503020204020204" pitchFamily="34" charset="-122"/>
                <a:sym typeface="Wingdings 2" panose="05020102010507070707" charset="0"/>
              </a:rPr>
              <a:t>三个组件。</a:t>
            </a:r>
          </a:p>
          <a:p>
            <a:pPr indent="0" algn="just">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根据输入</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输出关系，</a:t>
            </a:r>
            <a:r>
              <a:rPr lang="en-US" altLang="zh-CN" dirty="0">
                <a:latin typeface="微软雅黑" panose="020B0503020204020204" pitchFamily="34" charset="-122"/>
                <a:ea typeface="微软雅黑" panose="020B0503020204020204" pitchFamily="34" charset="-122"/>
                <a:sym typeface="Wingdings 2" panose="05020102010507070707" charset="0"/>
              </a:rPr>
              <a:t>Word2Vec</a:t>
            </a:r>
            <a:r>
              <a:rPr lang="zh-CN" altLang="en-US" dirty="0">
                <a:latin typeface="微软雅黑" panose="020B0503020204020204" pitchFamily="34" charset="-122"/>
                <a:ea typeface="微软雅黑" panose="020B0503020204020204" pitchFamily="34" charset="-122"/>
                <a:sym typeface="Wingdings 2" panose="05020102010507070707" charset="0"/>
              </a:rPr>
              <a:t>模型包括</a:t>
            </a:r>
            <a:r>
              <a:rPr lang="zh-CN" altLang="en-US" dirty="0">
                <a:solidFill>
                  <a:srgbClr val="FF0000"/>
                </a:solidFill>
                <a:latin typeface="微软雅黑" panose="020B0503020204020204" pitchFamily="34" charset="-122"/>
                <a:ea typeface="微软雅黑" panose="020B0503020204020204" pitchFamily="34" charset="-122"/>
                <a:sym typeface="Wingdings 2" panose="05020102010507070707" charset="0"/>
              </a:rPr>
              <a:t>连续词袋（</a:t>
            </a:r>
            <a:r>
              <a:rPr lang="en-US" altLang="zh-CN" dirty="0">
                <a:solidFill>
                  <a:srgbClr val="FF0000"/>
                </a:solidFill>
                <a:latin typeface="微软雅黑" panose="020B0503020204020204" pitchFamily="34" charset="-122"/>
                <a:ea typeface="微软雅黑" panose="020B0503020204020204" pitchFamily="34" charset="-122"/>
                <a:sym typeface="Wingdings 2" panose="05020102010507070707" charset="0"/>
              </a:rPr>
              <a:t>CBOW</a:t>
            </a:r>
            <a:r>
              <a:rPr lang="zh-CN" altLang="en-US" dirty="0">
                <a:solidFill>
                  <a:srgbClr val="FF0000"/>
                </a:solidFill>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solidFill>
                  <a:srgbClr val="FF0000"/>
                </a:solidFill>
                <a:latin typeface="微软雅黑" panose="020B0503020204020204" pitchFamily="34" charset="-122"/>
                <a:ea typeface="微软雅黑" panose="020B0503020204020204" pitchFamily="34" charset="-122"/>
                <a:sym typeface="Wingdings 2" panose="05020102010507070707" charset="0"/>
              </a:rPr>
              <a:t>Skip-gram</a:t>
            </a:r>
            <a:r>
              <a:rPr lang="zh-CN" altLang="en-US" dirty="0">
                <a:solidFill>
                  <a:srgbClr val="FF0000"/>
                </a:solidFill>
                <a:latin typeface="微软雅黑" panose="020B0503020204020204" pitchFamily="34" charset="-122"/>
                <a:ea typeface="微软雅黑" panose="020B0503020204020204" pitchFamily="34" charset="-122"/>
                <a:sym typeface="Wingdings 2" panose="05020102010507070707" charset="0"/>
              </a:rPr>
              <a:t>模型</a:t>
            </a:r>
            <a:r>
              <a:rPr lang="zh-CN" altLang="en-US" dirty="0">
                <a:latin typeface="微软雅黑" panose="020B0503020204020204" pitchFamily="34" charset="-122"/>
                <a:ea typeface="微软雅黑" panose="020B0503020204020204" pitchFamily="34" charset="-122"/>
                <a:sym typeface="Wingdings 2" panose="05020102010507070707" charset="0"/>
              </a:rPr>
              <a:t>两个变种。</a:t>
            </a:r>
          </a:p>
        </p:txBody>
      </p:sp>
      <p:sp>
        <p:nvSpPr>
          <p:cNvPr id="9" name="文本框 8"/>
          <p:cNvSpPr txBox="1"/>
          <p:nvPr/>
        </p:nvSpPr>
        <p:spPr>
          <a:xfrm>
            <a:off x="583565" y="2245360"/>
            <a:ext cx="10831195" cy="368300"/>
          </a:xfrm>
          <a:prstGeom prst="rect">
            <a:avLst/>
          </a:prstGeom>
          <a:noFill/>
        </p:spPr>
        <p:txBody>
          <a:bodyPr wrap="square" rtlCol="0" anchor="t">
            <a:spAutoFit/>
          </a:bodyPr>
          <a:lstStyle/>
          <a:p>
            <a:pPr marL="285750" indent="-285750">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CBOW</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zh-CN" altLang="en-US" dirty="0">
                <a:latin typeface="微软雅黑" panose="020B0503020204020204" pitchFamily="34" charset="-122"/>
                <a:ea typeface="微软雅黑" panose="020B0503020204020204" pitchFamily="34" charset="-122"/>
                <a:sym typeface="Wingdings 2" panose="05020102010507070707" charset="0"/>
              </a:rPr>
              <a:t>其目标是根据给定词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的上下文</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来预测该词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本身。</a:t>
            </a:r>
            <a:endParaRPr lang="en-US" altLang="zh-CN" dirty="0">
              <a:latin typeface="微软雅黑" panose="020B0503020204020204" pitchFamily="34" charset="-122"/>
              <a:ea typeface="微软雅黑" panose="020B0503020204020204" pitchFamily="34" charset="-122"/>
              <a:sym typeface="Wingdings 2" panose="05020102010507070707" charset="0"/>
            </a:endParaRPr>
          </a:p>
        </p:txBody>
      </p:sp>
      <p:sp>
        <p:nvSpPr>
          <p:cNvPr id="4" name="文本框 3"/>
          <p:cNvSpPr txBox="1"/>
          <p:nvPr/>
        </p:nvSpPr>
        <p:spPr>
          <a:xfrm>
            <a:off x="598805" y="2804795"/>
            <a:ext cx="10367010" cy="368300"/>
          </a:xfrm>
          <a:prstGeom prst="rect">
            <a:avLst/>
          </a:prstGeom>
          <a:noFill/>
        </p:spPr>
        <p:txBody>
          <a:bodyPr wrap="square" rtlCol="0" anchor="t">
            <a:spAutoFit/>
          </a:bodyPr>
          <a:lstStyle/>
          <a:p>
            <a:pPr marL="285750" indent="-285750">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SKip-gram</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zh-CN" altLang="en-US" dirty="0">
                <a:latin typeface="微软雅黑" panose="020B0503020204020204" pitchFamily="34" charset="-122"/>
                <a:ea typeface="微软雅黑" panose="020B0503020204020204" pitchFamily="34" charset="-122"/>
                <a:sym typeface="Wingdings 2" panose="05020102010507070707" charset="0"/>
              </a:rPr>
              <a:t>在给定一个词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的情况下，预测该词的上下文</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a:t>
            </a:r>
          </a:p>
        </p:txBody>
      </p:sp>
      <p:pic>
        <p:nvPicPr>
          <p:cNvPr id="10" name="图片 9"/>
          <p:cNvPicPr>
            <a:picLocks noChangeAspect="1"/>
          </p:cNvPicPr>
          <p:nvPr/>
        </p:nvPicPr>
        <p:blipFill>
          <a:blip r:embed="rId4"/>
          <a:stretch>
            <a:fillRect/>
          </a:stretch>
        </p:blipFill>
        <p:spPr>
          <a:xfrm>
            <a:off x="3544570" y="3322955"/>
            <a:ext cx="4924425" cy="3124200"/>
          </a:xfrm>
          <a:prstGeom prst="rect">
            <a:avLst/>
          </a:prstGeom>
        </p:spPr>
      </p:pic>
      <p:pic>
        <p:nvPicPr>
          <p:cNvPr id="11" name="图片 10"/>
          <p:cNvPicPr>
            <a:picLocks noChangeAspect="1"/>
          </p:cNvPicPr>
          <p:nvPr/>
        </p:nvPicPr>
        <p:blipFill>
          <a:blip r:embed="rId5"/>
          <a:stretch>
            <a:fillRect/>
          </a:stretch>
        </p:blipFill>
        <p:spPr>
          <a:xfrm>
            <a:off x="4500880" y="2248535"/>
            <a:ext cx="476250" cy="361950"/>
          </a:xfrm>
          <a:prstGeom prst="rect">
            <a:avLst/>
          </a:prstGeom>
        </p:spPr>
      </p:pic>
      <p:pic>
        <p:nvPicPr>
          <p:cNvPr id="12" name="图片 11"/>
          <p:cNvPicPr>
            <a:picLocks noChangeAspect="1"/>
          </p:cNvPicPr>
          <p:nvPr/>
        </p:nvPicPr>
        <p:blipFill>
          <a:blip r:embed="rId6"/>
          <a:stretch>
            <a:fillRect/>
          </a:stretch>
        </p:blipFill>
        <p:spPr>
          <a:xfrm>
            <a:off x="5973445" y="2263140"/>
            <a:ext cx="2495550" cy="333375"/>
          </a:xfrm>
          <a:prstGeom prst="rect">
            <a:avLst/>
          </a:prstGeom>
        </p:spPr>
      </p:pic>
      <p:pic>
        <p:nvPicPr>
          <p:cNvPr id="13" name="图片 12"/>
          <p:cNvPicPr>
            <a:picLocks noChangeAspect="1"/>
          </p:cNvPicPr>
          <p:nvPr/>
        </p:nvPicPr>
        <p:blipFill>
          <a:blip r:embed="rId7"/>
          <a:stretch>
            <a:fillRect/>
          </a:stretch>
        </p:blipFill>
        <p:spPr>
          <a:xfrm>
            <a:off x="9665970" y="2248535"/>
            <a:ext cx="476250" cy="361950"/>
          </a:xfrm>
          <a:prstGeom prst="rect">
            <a:avLst/>
          </a:prstGeom>
        </p:spPr>
      </p:pic>
      <p:pic>
        <p:nvPicPr>
          <p:cNvPr id="14" name="图片 13"/>
          <p:cNvPicPr>
            <a:picLocks noChangeAspect="1"/>
          </p:cNvPicPr>
          <p:nvPr/>
        </p:nvPicPr>
        <p:blipFill>
          <a:blip r:embed="rId7"/>
          <a:stretch>
            <a:fillRect/>
          </a:stretch>
        </p:blipFill>
        <p:spPr>
          <a:xfrm>
            <a:off x="4287520" y="2814320"/>
            <a:ext cx="476250" cy="361950"/>
          </a:xfrm>
          <a:prstGeom prst="rect">
            <a:avLst/>
          </a:prstGeom>
        </p:spPr>
      </p:pic>
      <p:pic>
        <p:nvPicPr>
          <p:cNvPr id="15" name="图片 14"/>
          <p:cNvPicPr>
            <a:picLocks noChangeAspect="1"/>
          </p:cNvPicPr>
          <p:nvPr/>
        </p:nvPicPr>
        <p:blipFill>
          <a:blip r:embed="rId8"/>
          <a:stretch>
            <a:fillRect/>
          </a:stretch>
        </p:blipFill>
        <p:spPr>
          <a:xfrm>
            <a:off x="7793990" y="2840355"/>
            <a:ext cx="2476500" cy="32385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2.3.1CBOW</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文本框 7"/>
          <p:cNvSpPr txBox="1"/>
          <p:nvPr/>
        </p:nvSpPr>
        <p:spPr>
          <a:xfrm>
            <a:off x="583565" y="1132205"/>
            <a:ext cx="10846435" cy="645160"/>
          </a:xfrm>
          <a:prstGeom prst="rect">
            <a:avLst/>
          </a:prstGeom>
          <a:noFill/>
        </p:spPr>
        <p:txBody>
          <a:bodyPr wrap="square" rtlCol="0" anchor="t">
            <a:spAutoFit/>
          </a:bodyPr>
          <a:lstStyle/>
          <a:p>
            <a:pPr marL="285750" indent="-285750" algn="l">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简化版</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CBOW</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zh-CN" altLang="en-US" dirty="0">
                <a:latin typeface="微软雅黑" panose="020B0503020204020204" pitchFamily="34" charset="-122"/>
                <a:ea typeface="微软雅黑" panose="020B0503020204020204" pitchFamily="34" charset="-122"/>
                <a:sym typeface="Wingdings 2" panose="05020102010507070707" charset="0"/>
              </a:rPr>
              <a:t>根据一个输入词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预测一个输出词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，相比于传统的前馈神经网络，</a:t>
            </a:r>
            <a:r>
              <a:rPr lang="en-US" altLang="zh-CN" dirty="0">
                <a:latin typeface="微软雅黑" panose="020B0503020204020204" pitchFamily="34" charset="-122"/>
                <a:ea typeface="微软雅黑" panose="020B0503020204020204" pitchFamily="34" charset="-122"/>
                <a:sym typeface="Wingdings 2" panose="05020102010507070707" charset="0"/>
              </a:rPr>
              <a:t>CBOW</a:t>
            </a:r>
            <a:r>
              <a:rPr lang="zh-CN" altLang="en-US" dirty="0">
                <a:latin typeface="微软雅黑" panose="020B0503020204020204" pitchFamily="34" charset="-122"/>
                <a:ea typeface="微软雅黑" panose="020B0503020204020204" pitchFamily="34" charset="-122"/>
                <a:sym typeface="Wingdings 2" panose="05020102010507070707" charset="0"/>
              </a:rPr>
              <a:t>模型移除了隐藏层，降低了模型的计算复杂度，其模型架构如图所示：</a:t>
            </a:r>
          </a:p>
        </p:txBody>
      </p:sp>
      <p:pic>
        <p:nvPicPr>
          <p:cNvPr id="11" name="图片 10"/>
          <p:cNvPicPr>
            <a:picLocks noChangeAspect="1"/>
          </p:cNvPicPr>
          <p:nvPr/>
        </p:nvPicPr>
        <p:blipFill>
          <a:blip r:embed="rId4"/>
          <a:stretch>
            <a:fillRect/>
          </a:stretch>
        </p:blipFill>
        <p:spPr>
          <a:xfrm>
            <a:off x="2651125" y="2510790"/>
            <a:ext cx="6710680" cy="3133090"/>
          </a:xfrm>
          <a:prstGeom prst="rect">
            <a:avLst/>
          </a:prstGeom>
        </p:spPr>
      </p:pic>
      <p:sp>
        <p:nvSpPr>
          <p:cNvPr id="13" name="文本框 12"/>
          <p:cNvSpPr txBox="1"/>
          <p:nvPr/>
        </p:nvSpPr>
        <p:spPr>
          <a:xfrm>
            <a:off x="5006340" y="5864860"/>
            <a:ext cx="2179320" cy="337185"/>
          </a:xfrm>
          <a:prstGeom prst="rect">
            <a:avLst/>
          </a:prstGeom>
          <a:noFill/>
        </p:spPr>
        <p:txBody>
          <a:bodyPr wrap="square" rtlCol="0" anchor="t">
            <a:spAutoFit/>
          </a:bodyPr>
          <a:lstStyle/>
          <a:p>
            <a:pPr indent="0" algn="l">
              <a:buFont typeface="Wingdings" panose="05000000000000000000" charset="0"/>
              <a:buNone/>
            </a:pPr>
            <a:r>
              <a:rPr lang="zh-CN" altLang="en-US" sz="1600" dirty="0">
                <a:latin typeface="微软雅黑" panose="020B0503020204020204" pitchFamily="34" charset="-122"/>
                <a:ea typeface="微软雅黑" panose="020B0503020204020204" pitchFamily="34" charset="-122"/>
                <a:sym typeface="Wingdings 2" panose="05020102010507070707" charset="0"/>
              </a:rPr>
              <a:t>简化版</a:t>
            </a:r>
            <a:r>
              <a:rPr lang="en-US" altLang="zh-CN" sz="1600" dirty="0">
                <a:latin typeface="微软雅黑" panose="020B0503020204020204" pitchFamily="34" charset="-122"/>
                <a:ea typeface="微软雅黑" panose="020B0503020204020204" pitchFamily="34" charset="-122"/>
                <a:sym typeface="Wingdings 2" panose="05020102010507070707" charset="0"/>
              </a:rPr>
              <a:t>CBOW</a:t>
            </a:r>
            <a:r>
              <a:rPr lang="zh-CN" altLang="en-US" sz="1600" dirty="0">
                <a:latin typeface="微软雅黑" panose="020B0503020204020204" pitchFamily="34" charset="-122"/>
                <a:ea typeface="微软雅黑" panose="020B0503020204020204" pitchFamily="34" charset="-122"/>
                <a:sym typeface="Wingdings 2" panose="05020102010507070707" charset="0"/>
              </a:rPr>
              <a:t>模型图</a:t>
            </a:r>
          </a:p>
        </p:txBody>
      </p:sp>
      <p:pic>
        <p:nvPicPr>
          <p:cNvPr id="4" name="图片 3"/>
          <p:cNvPicPr>
            <a:picLocks noChangeAspect="1"/>
          </p:cNvPicPr>
          <p:nvPr/>
        </p:nvPicPr>
        <p:blipFill>
          <a:blip r:embed="rId5"/>
          <a:stretch>
            <a:fillRect/>
          </a:stretch>
        </p:blipFill>
        <p:spPr>
          <a:xfrm>
            <a:off x="4692015" y="1192530"/>
            <a:ext cx="314325" cy="266700"/>
          </a:xfrm>
          <a:prstGeom prst="rect">
            <a:avLst/>
          </a:prstGeom>
        </p:spPr>
      </p:pic>
      <p:pic>
        <p:nvPicPr>
          <p:cNvPr id="9" name="图片 8"/>
          <p:cNvPicPr>
            <a:picLocks noChangeAspect="1"/>
          </p:cNvPicPr>
          <p:nvPr/>
        </p:nvPicPr>
        <p:blipFill>
          <a:blip r:embed="rId6"/>
          <a:stretch>
            <a:fillRect/>
          </a:stretch>
        </p:blipFill>
        <p:spPr>
          <a:xfrm>
            <a:off x="6628130" y="1144905"/>
            <a:ext cx="504825" cy="3048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2.3.1CBOW</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4" name="文本框 3"/>
          <p:cNvSpPr txBox="1"/>
          <p:nvPr/>
        </p:nvSpPr>
        <p:spPr>
          <a:xfrm>
            <a:off x="583565" y="1243330"/>
            <a:ext cx="10367010" cy="368300"/>
          </a:xfrm>
          <a:prstGeom prst="rect">
            <a:avLst/>
          </a:prstGeom>
          <a:noFill/>
        </p:spPr>
        <p:txBody>
          <a:bodyPr wrap="square" rtlCol="0" anchor="t">
            <a:spAutoFit/>
          </a:bodyPr>
          <a:lstStyle/>
          <a:p>
            <a:pPr indent="0">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输入层：</a:t>
            </a:r>
            <a:r>
              <a:rPr lang="zh-CN" altLang="en-US" dirty="0">
                <a:latin typeface="微软雅黑" panose="020B0503020204020204" pitchFamily="34" charset="-122"/>
                <a:ea typeface="微软雅黑" panose="020B0503020204020204" pitchFamily="34" charset="-122"/>
                <a:sym typeface="Wingdings 2" panose="05020102010507070707" charset="0"/>
              </a:rPr>
              <a:t>输入</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是单词的独热表示。</a:t>
            </a:r>
          </a:p>
        </p:txBody>
      </p:sp>
      <p:sp>
        <p:nvSpPr>
          <p:cNvPr id="12" name="文本框 11"/>
          <p:cNvSpPr txBox="1"/>
          <p:nvPr/>
        </p:nvSpPr>
        <p:spPr>
          <a:xfrm>
            <a:off x="583565" y="1984375"/>
            <a:ext cx="10580370" cy="645160"/>
          </a:xfrm>
          <a:prstGeom prst="rect">
            <a:avLst/>
          </a:prstGeom>
          <a:noFill/>
        </p:spPr>
        <p:txBody>
          <a:bodyPr wrap="square" rtlCol="0" anchor="t">
            <a:spAutoFit/>
          </a:bodyPr>
          <a:lstStyle/>
          <a:p>
            <a:pPr indent="0">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输入层到投影层：</a:t>
            </a:r>
            <a:r>
              <a:rPr lang="zh-CN" altLang="en-US" dirty="0">
                <a:latin typeface="微软雅黑" panose="020B0503020204020204" pitchFamily="34" charset="-122"/>
                <a:ea typeface="微软雅黑" panose="020B0503020204020204" pitchFamily="34" charset="-122"/>
                <a:sym typeface="Wingdings 2" panose="05020102010507070707" charset="0"/>
              </a:rPr>
              <a:t>输入层和投影层之间有一个词向量矩阵</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表示投影后的维度。投影层向量</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计算如下：</a:t>
            </a:r>
          </a:p>
        </p:txBody>
      </p:sp>
      <p:sp>
        <p:nvSpPr>
          <p:cNvPr id="10" name="文本框 9"/>
          <p:cNvSpPr txBox="1"/>
          <p:nvPr/>
        </p:nvSpPr>
        <p:spPr>
          <a:xfrm>
            <a:off x="583565" y="3514725"/>
            <a:ext cx="10580370" cy="368300"/>
          </a:xfrm>
          <a:prstGeom prst="rect">
            <a:avLst/>
          </a:prstGeom>
          <a:noFill/>
        </p:spPr>
        <p:txBody>
          <a:bodyPr wrap="square" rtlCol="0" anchor="t">
            <a:spAutoFit/>
          </a:bodyPr>
          <a:lstStyle/>
          <a:p>
            <a:pPr indent="0">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投影层到输出层：</a:t>
            </a:r>
            <a:r>
              <a:rPr lang="zh-CN" altLang="en-US" dirty="0">
                <a:latin typeface="微软雅黑" panose="020B0503020204020204" pitchFamily="34" charset="-122"/>
                <a:ea typeface="微软雅黑" panose="020B0503020204020204" pitchFamily="34" charset="-122"/>
                <a:sym typeface="Wingdings 2" panose="05020102010507070707" charset="0"/>
              </a:rPr>
              <a:t>投影层和输出层之间也有一个权重矩阵</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。输出层向量</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计算如下：</a:t>
            </a:r>
          </a:p>
        </p:txBody>
      </p:sp>
      <p:sp>
        <p:nvSpPr>
          <p:cNvPr id="14" name="文本框 13"/>
          <p:cNvSpPr txBox="1"/>
          <p:nvPr/>
        </p:nvSpPr>
        <p:spPr>
          <a:xfrm>
            <a:off x="583565" y="4850765"/>
            <a:ext cx="10580370" cy="645160"/>
          </a:xfrm>
          <a:prstGeom prst="rect">
            <a:avLst/>
          </a:prstGeom>
          <a:noFill/>
        </p:spPr>
        <p:txBody>
          <a:bodyPr wrap="square" rtlCol="0" anchor="t">
            <a:spAutoFit/>
          </a:bodyPr>
          <a:lstStyle/>
          <a:p>
            <a:pPr indent="0">
              <a:buFont typeface="Wingdings" panose="05000000000000000000" charset="0"/>
              <a:buNone/>
            </a:pPr>
            <a:r>
              <a:rPr lang="en-US" altLang="zh-CN"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Softmax</a:t>
            </a: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激活函数：</a:t>
            </a:r>
            <a:r>
              <a:rPr lang="zh-CN" altLang="en-US" dirty="0">
                <a:latin typeface="微软雅黑" panose="020B0503020204020204" pitchFamily="34" charset="-122"/>
                <a:ea typeface="微软雅黑" panose="020B0503020204020204" pitchFamily="34" charset="-122"/>
                <a:sym typeface="Wingdings 2" panose="05020102010507070707" charset="0"/>
              </a:rPr>
              <a:t>模型的最终输出，将每个元素归一化一个介于</a:t>
            </a:r>
            <a:r>
              <a:rPr lang="en-US" altLang="zh-CN" dirty="0">
                <a:latin typeface="微软雅黑" panose="020B0503020204020204" pitchFamily="34" charset="-122"/>
                <a:ea typeface="微软雅黑" panose="020B0503020204020204" pitchFamily="34" charset="-122"/>
                <a:sym typeface="Wingdings 2" panose="05020102010507070707" charset="0"/>
              </a:rPr>
              <a:t>0</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latin typeface="微软雅黑" panose="020B0503020204020204" pitchFamily="34" charset="-122"/>
                <a:ea typeface="微软雅黑" panose="020B0503020204020204" pitchFamily="34" charset="-122"/>
                <a:sym typeface="Wingdings 2" panose="05020102010507070707" charset="0"/>
              </a:rPr>
              <a:t>1</a:t>
            </a:r>
            <a:r>
              <a:rPr lang="zh-CN" altLang="en-US" dirty="0">
                <a:latin typeface="微软雅黑" panose="020B0503020204020204" pitchFamily="34" charset="-122"/>
                <a:ea typeface="微软雅黑" panose="020B0503020204020204" pitchFamily="34" charset="-122"/>
                <a:sym typeface="Wingdings 2" panose="05020102010507070707" charset="0"/>
              </a:rPr>
              <a:t>之间的概率值。输出层向量计算如下：</a:t>
            </a:r>
          </a:p>
        </p:txBody>
      </p:sp>
      <p:pic>
        <p:nvPicPr>
          <p:cNvPr id="8" name="图片 7"/>
          <p:cNvPicPr>
            <a:picLocks noChangeAspect="1"/>
          </p:cNvPicPr>
          <p:nvPr/>
        </p:nvPicPr>
        <p:blipFill>
          <a:blip r:embed="rId4"/>
          <a:stretch>
            <a:fillRect/>
          </a:stretch>
        </p:blipFill>
        <p:spPr>
          <a:xfrm>
            <a:off x="2032635" y="1310005"/>
            <a:ext cx="238125" cy="238125"/>
          </a:xfrm>
          <a:prstGeom prst="rect">
            <a:avLst/>
          </a:prstGeom>
        </p:spPr>
      </p:pic>
      <p:pic>
        <p:nvPicPr>
          <p:cNvPr id="9" name="图片 8"/>
          <p:cNvPicPr>
            <a:picLocks noChangeAspect="1"/>
          </p:cNvPicPr>
          <p:nvPr/>
        </p:nvPicPr>
        <p:blipFill>
          <a:blip r:embed="rId5"/>
          <a:stretch>
            <a:fillRect/>
          </a:stretch>
        </p:blipFill>
        <p:spPr>
          <a:xfrm>
            <a:off x="6431280" y="2012950"/>
            <a:ext cx="1209675" cy="342900"/>
          </a:xfrm>
          <a:prstGeom prst="rect">
            <a:avLst/>
          </a:prstGeom>
        </p:spPr>
      </p:pic>
      <p:pic>
        <p:nvPicPr>
          <p:cNvPr id="11" name="图片 10"/>
          <p:cNvPicPr>
            <a:picLocks noChangeAspect="1"/>
          </p:cNvPicPr>
          <p:nvPr/>
        </p:nvPicPr>
        <p:blipFill>
          <a:blip r:embed="rId6"/>
          <a:stretch>
            <a:fillRect/>
          </a:stretch>
        </p:blipFill>
        <p:spPr>
          <a:xfrm>
            <a:off x="8385175" y="2022475"/>
            <a:ext cx="209550" cy="304800"/>
          </a:xfrm>
          <a:prstGeom prst="rect">
            <a:avLst/>
          </a:prstGeom>
        </p:spPr>
      </p:pic>
      <p:pic>
        <p:nvPicPr>
          <p:cNvPr id="16" name="图片 15"/>
          <p:cNvPicPr>
            <a:picLocks noChangeAspect="1"/>
          </p:cNvPicPr>
          <p:nvPr/>
        </p:nvPicPr>
        <p:blipFill>
          <a:blip r:embed="rId7"/>
          <a:stretch>
            <a:fillRect/>
          </a:stretch>
        </p:blipFill>
        <p:spPr>
          <a:xfrm>
            <a:off x="1640205" y="2311400"/>
            <a:ext cx="247650" cy="276225"/>
          </a:xfrm>
          <a:prstGeom prst="rect">
            <a:avLst/>
          </a:prstGeom>
        </p:spPr>
      </p:pic>
      <p:pic>
        <p:nvPicPr>
          <p:cNvPr id="18" name="图片 17"/>
          <p:cNvPicPr>
            <a:picLocks noChangeAspect="1"/>
          </p:cNvPicPr>
          <p:nvPr/>
        </p:nvPicPr>
        <p:blipFill>
          <a:blip r:embed="rId8"/>
          <a:stretch>
            <a:fillRect/>
          </a:stretch>
        </p:blipFill>
        <p:spPr>
          <a:xfrm>
            <a:off x="5221605" y="2755900"/>
            <a:ext cx="1209675" cy="304800"/>
          </a:xfrm>
          <a:prstGeom prst="rect">
            <a:avLst/>
          </a:prstGeom>
        </p:spPr>
      </p:pic>
      <p:pic>
        <p:nvPicPr>
          <p:cNvPr id="19" name="图片 18"/>
          <p:cNvPicPr>
            <a:picLocks noChangeAspect="1"/>
          </p:cNvPicPr>
          <p:nvPr/>
        </p:nvPicPr>
        <p:blipFill>
          <a:blip r:embed="rId9"/>
          <a:stretch>
            <a:fillRect/>
          </a:stretch>
        </p:blipFill>
        <p:spPr>
          <a:xfrm>
            <a:off x="6480175" y="3526155"/>
            <a:ext cx="342900" cy="314325"/>
          </a:xfrm>
          <a:prstGeom prst="rect">
            <a:avLst/>
          </a:prstGeom>
        </p:spPr>
      </p:pic>
      <p:pic>
        <p:nvPicPr>
          <p:cNvPr id="20" name="图片 19"/>
          <p:cNvPicPr>
            <a:picLocks noChangeAspect="1"/>
          </p:cNvPicPr>
          <p:nvPr/>
        </p:nvPicPr>
        <p:blipFill>
          <a:blip r:embed="rId10"/>
          <a:stretch>
            <a:fillRect/>
          </a:stretch>
        </p:blipFill>
        <p:spPr>
          <a:xfrm>
            <a:off x="8254365" y="3557270"/>
            <a:ext cx="200025" cy="295275"/>
          </a:xfrm>
          <a:prstGeom prst="rect">
            <a:avLst/>
          </a:prstGeom>
        </p:spPr>
      </p:pic>
      <p:pic>
        <p:nvPicPr>
          <p:cNvPr id="21" name="图片 20"/>
          <p:cNvPicPr>
            <a:picLocks noChangeAspect="1"/>
          </p:cNvPicPr>
          <p:nvPr/>
        </p:nvPicPr>
        <p:blipFill>
          <a:blip r:embed="rId11"/>
          <a:stretch>
            <a:fillRect/>
          </a:stretch>
        </p:blipFill>
        <p:spPr>
          <a:xfrm>
            <a:off x="5345430" y="4227830"/>
            <a:ext cx="1085850" cy="314325"/>
          </a:xfrm>
          <a:prstGeom prst="rect">
            <a:avLst/>
          </a:prstGeom>
        </p:spPr>
      </p:pic>
      <p:pic>
        <p:nvPicPr>
          <p:cNvPr id="22" name="图片 21"/>
          <p:cNvPicPr>
            <a:picLocks noChangeAspect="1"/>
          </p:cNvPicPr>
          <p:nvPr/>
        </p:nvPicPr>
        <p:blipFill>
          <a:blip r:embed="rId12"/>
          <a:stretch>
            <a:fillRect/>
          </a:stretch>
        </p:blipFill>
        <p:spPr>
          <a:xfrm>
            <a:off x="5074285" y="5495925"/>
            <a:ext cx="457200" cy="314325"/>
          </a:xfrm>
          <a:prstGeom prst="rect">
            <a:avLst/>
          </a:prstGeom>
        </p:spPr>
      </p:pic>
      <p:pic>
        <p:nvPicPr>
          <p:cNvPr id="23" name="图片 22"/>
          <p:cNvPicPr>
            <a:picLocks noChangeAspect="1"/>
          </p:cNvPicPr>
          <p:nvPr/>
        </p:nvPicPr>
        <p:blipFill>
          <a:blip r:embed="rId13"/>
          <a:stretch>
            <a:fillRect/>
          </a:stretch>
        </p:blipFill>
        <p:spPr>
          <a:xfrm>
            <a:off x="5521960" y="5495925"/>
            <a:ext cx="1162050" cy="29527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752E1-A599-1A76-95E3-271E705A5BE3}"/>
              </a:ext>
            </a:extLst>
          </p:cNvPr>
          <p:cNvSpPr>
            <a:spLocks noGrp="1"/>
          </p:cNvSpPr>
          <p:nvPr>
            <p:ph type="title"/>
          </p:nvPr>
        </p:nvSpPr>
        <p:spPr/>
        <p:txBody>
          <a:bodyPr/>
          <a:lstStyle/>
          <a:p>
            <a:r>
              <a:rPr lang="en-US" dirty="0" err="1"/>
              <a:t>Softmax</a:t>
            </a:r>
            <a:endParaRPr lang="en-US" dirty="0"/>
          </a:p>
        </p:txBody>
      </p:sp>
      <p:pic>
        <p:nvPicPr>
          <p:cNvPr id="4" name="Picture 3">
            <a:extLst>
              <a:ext uri="{FF2B5EF4-FFF2-40B4-BE49-F238E27FC236}">
                <a16:creationId xmlns:a16="http://schemas.microsoft.com/office/drawing/2014/main" id="{34DC129C-FCEE-17C9-6304-47EC018B5EA0}"/>
              </a:ext>
            </a:extLst>
          </p:cNvPr>
          <p:cNvPicPr>
            <a:picLocks noChangeAspect="1"/>
          </p:cNvPicPr>
          <p:nvPr/>
        </p:nvPicPr>
        <p:blipFill>
          <a:blip r:embed="rId2"/>
          <a:stretch>
            <a:fillRect/>
          </a:stretch>
        </p:blipFill>
        <p:spPr>
          <a:xfrm>
            <a:off x="608400" y="1464518"/>
            <a:ext cx="10757322" cy="2266654"/>
          </a:xfrm>
          <a:prstGeom prst="rect">
            <a:avLst/>
          </a:prstGeom>
        </p:spPr>
      </p:pic>
      <p:sp>
        <p:nvSpPr>
          <p:cNvPr id="7" name="TextBox 6">
            <a:extLst>
              <a:ext uri="{FF2B5EF4-FFF2-40B4-BE49-F238E27FC236}">
                <a16:creationId xmlns:a16="http://schemas.microsoft.com/office/drawing/2014/main" id="{8D06E7EB-BAC0-CD30-6A4A-4C230AB0C7C5}"/>
              </a:ext>
            </a:extLst>
          </p:cNvPr>
          <p:cNvSpPr txBox="1"/>
          <p:nvPr/>
        </p:nvSpPr>
        <p:spPr>
          <a:xfrm>
            <a:off x="346841" y="6249600"/>
            <a:ext cx="9059917" cy="646331"/>
          </a:xfrm>
          <a:prstGeom prst="rect">
            <a:avLst/>
          </a:prstGeom>
          <a:noFill/>
        </p:spPr>
        <p:txBody>
          <a:bodyPr wrap="square">
            <a:spAutoFit/>
          </a:bodyPr>
          <a:lstStyle/>
          <a:p>
            <a:r>
              <a:rPr lang="en-US" dirty="0">
                <a:hlinkClick r:id="rId3"/>
              </a:rPr>
              <a:t>https://docs.pytorch.org/docs/stable/generated/torch.nn.Softmax.html</a:t>
            </a:r>
            <a:endParaRPr lang="en-US" dirty="0"/>
          </a:p>
          <a:p>
            <a:endParaRPr lang="en-US" dirty="0"/>
          </a:p>
        </p:txBody>
      </p:sp>
      <p:pic>
        <p:nvPicPr>
          <p:cNvPr id="8" name="Picture 7">
            <a:extLst>
              <a:ext uri="{FF2B5EF4-FFF2-40B4-BE49-F238E27FC236}">
                <a16:creationId xmlns:a16="http://schemas.microsoft.com/office/drawing/2014/main" id="{3645BF62-1BFD-2664-0BBE-ABABF8F2BF4E}"/>
              </a:ext>
            </a:extLst>
          </p:cNvPr>
          <p:cNvPicPr>
            <a:picLocks noChangeAspect="1"/>
          </p:cNvPicPr>
          <p:nvPr/>
        </p:nvPicPr>
        <p:blipFill>
          <a:blip r:embed="rId4"/>
          <a:stretch>
            <a:fillRect/>
          </a:stretch>
        </p:blipFill>
        <p:spPr>
          <a:xfrm>
            <a:off x="4233412" y="2478982"/>
            <a:ext cx="6844492" cy="3770618"/>
          </a:xfrm>
          <a:prstGeom prst="rect">
            <a:avLst/>
          </a:prstGeom>
        </p:spPr>
      </p:pic>
    </p:spTree>
    <p:extLst>
      <p:ext uri="{BB962C8B-B14F-4D97-AF65-F5344CB8AC3E}">
        <p14:creationId xmlns:p14="http://schemas.microsoft.com/office/powerpoint/2010/main" val="3189000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2.3.1CBOW</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文本框 7"/>
          <p:cNvSpPr txBox="1"/>
          <p:nvPr/>
        </p:nvSpPr>
        <p:spPr>
          <a:xfrm>
            <a:off x="583565" y="1132205"/>
            <a:ext cx="10846435" cy="368300"/>
          </a:xfrm>
          <a:prstGeom prst="rect">
            <a:avLst/>
          </a:prstGeom>
          <a:noFill/>
        </p:spPr>
        <p:txBody>
          <a:bodyPr wrap="square" rtlCol="0" anchor="t">
            <a:spAutoFit/>
          </a:bodyPr>
          <a:lstStyle/>
          <a:p>
            <a:pPr marL="285750" indent="-285750" algn="l">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CBOW</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模型（多词上下文模型）：</a:t>
            </a:r>
            <a:r>
              <a:rPr lang="zh-CN" altLang="en-US" dirty="0">
                <a:latin typeface="微软雅黑" panose="020B0503020204020204" pitchFamily="34" charset="-122"/>
                <a:ea typeface="微软雅黑" panose="020B0503020204020204" pitchFamily="34" charset="-122"/>
                <a:sym typeface="Wingdings 2" panose="05020102010507070707" charset="0"/>
              </a:rPr>
              <a:t>模型根据上下文中的</a:t>
            </a:r>
            <a:r>
              <a:rPr lang="en-US" altLang="zh-CN"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2m</a:t>
            </a:r>
            <a:r>
              <a:rPr lang="zh-CN" altLang="en-US" dirty="0">
                <a:latin typeface="微软雅黑" panose="020B0503020204020204" pitchFamily="34" charset="-122"/>
                <a:ea typeface="微软雅黑" panose="020B0503020204020204" pitchFamily="34" charset="-122"/>
                <a:sym typeface="Wingdings 2" panose="05020102010507070707" charset="0"/>
              </a:rPr>
              <a:t>个词，预测中心词。具体如下：</a:t>
            </a:r>
          </a:p>
        </p:txBody>
      </p:sp>
      <p:pic>
        <p:nvPicPr>
          <p:cNvPr id="4" name="图片 3"/>
          <p:cNvPicPr>
            <a:picLocks noChangeAspect="1"/>
          </p:cNvPicPr>
          <p:nvPr/>
        </p:nvPicPr>
        <p:blipFill>
          <a:blip r:embed="rId4"/>
          <a:stretch>
            <a:fillRect/>
          </a:stretch>
        </p:blipFill>
        <p:spPr>
          <a:xfrm>
            <a:off x="1959610" y="2243455"/>
            <a:ext cx="5010150" cy="390525"/>
          </a:xfrm>
          <a:prstGeom prst="rect">
            <a:avLst/>
          </a:prstGeom>
        </p:spPr>
      </p:pic>
      <p:pic>
        <p:nvPicPr>
          <p:cNvPr id="9" name="图片 8"/>
          <p:cNvPicPr>
            <a:picLocks noChangeAspect="1"/>
          </p:cNvPicPr>
          <p:nvPr/>
        </p:nvPicPr>
        <p:blipFill>
          <a:blip r:embed="rId5"/>
          <a:stretch>
            <a:fillRect/>
          </a:stretch>
        </p:blipFill>
        <p:spPr>
          <a:xfrm>
            <a:off x="8347075" y="2297430"/>
            <a:ext cx="314325" cy="314325"/>
          </a:xfrm>
          <a:prstGeom prst="rect">
            <a:avLst/>
          </a:prstGeom>
        </p:spPr>
      </p:pic>
      <p:sp>
        <p:nvSpPr>
          <p:cNvPr id="10" name="文本框 9"/>
          <p:cNvSpPr txBox="1"/>
          <p:nvPr/>
        </p:nvSpPr>
        <p:spPr>
          <a:xfrm>
            <a:off x="7417435" y="2243455"/>
            <a:ext cx="579755" cy="368300"/>
          </a:xfrm>
          <a:prstGeom prst="rect">
            <a:avLst/>
          </a:prstGeom>
          <a:noFill/>
        </p:spPr>
        <p:txBody>
          <a:bodyPr wrap="square" rtlCol="0" anchor="t">
            <a:spAutoFit/>
          </a:bodyPr>
          <a:lstStyle/>
          <a:p>
            <a:r>
              <a:rPr lang="zh-CN" altLang="en-US">
                <a:latin typeface="Arial" panose="020B0604020202020204" pitchFamily="34" charset="0"/>
                <a:cs typeface="Arial" panose="020B0604020202020204" pitchFamily="34" charset="0"/>
              </a:rPr>
              <a:t>→</a:t>
            </a:r>
          </a:p>
        </p:txBody>
      </p:sp>
      <p:sp>
        <p:nvSpPr>
          <p:cNvPr id="19" name="文本框 18"/>
          <p:cNvSpPr txBox="1"/>
          <p:nvPr/>
        </p:nvSpPr>
        <p:spPr>
          <a:xfrm>
            <a:off x="3710305" y="1818005"/>
            <a:ext cx="2155825" cy="368300"/>
          </a:xfrm>
          <a:prstGeom prst="rect">
            <a:avLst/>
          </a:prstGeom>
          <a:noFill/>
        </p:spPr>
        <p:txBody>
          <a:bodyPr wrap="square">
            <a:spAutoFit/>
          </a:bodyPr>
          <a:lstStyle/>
          <a:p>
            <a:r>
              <a:rPr lang="zh-CN" altLang="en-US" dirty="0">
                <a:solidFill>
                  <a:srgbClr val="FF0000"/>
                </a:solidFill>
              </a:rPr>
              <a:t>给定</a:t>
            </a:r>
            <a:r>
              <a:rPr lang="en-US" altLang="zh-CN" dirty="0">
                <a:solidFill>
                  <a:srgbClr val="FF0000"/>
                </a:solidFill>
                <a:latin typeface="Times New Roman" panose="02020603050405020304" charset="0"/>
                <a:cs typeface="Times New Roman" panose="02020603050405020304" charset="0"/>
              </a:rPr>
              <a:t>2m</a:t>
            </a:r>
            <a:r>
              <a:rPr lang="zh-CN" altLang="en-US" dirty="0">
                <a:solidFill>
                  <a:srgbClr val="FF0000"/>
                </a:solidFill>
              </a:rPr>
              <a:t>词的上下文</a:t>
            </a:r>
          </a:p>
        </p:txBody>
      </p:sp>
      <p:sp>
        <p:nvSpPr>
          <p:cNvPr id="13" name="文本框 12"/>
          <p:cNvSpPr txBox="1"/>
          <p:nvPr/>
        </p:nvSpPr>
        <p:spPr>
          <a:xfrm>
            <a:off x="7832725" y="1818005"/>
            <a:ext cx="1438910" cy="368300"/>
          </a:xfrm>
          <a:prstGeom prst="rect">
            <a:avLst/>
          </a:prstGeom>
          <a:noFill/>
        </p:spPr>
        <p:txBody>
          <a:bodyPr wrap="square">
            <a:spAutoFit/>
          </a:bodyPr>
          <a:lstStyle/>
          <a:p>
            <a:r>
              <a:rPr lang="zh-CN" altLang="en-US" dirty="0">
                <a:solidFill>
                  <a:srgbClr val="FF0000"/>
                </a:solidFill>
              </a:rPr>
              <a:t>预测中心词</a:t>
            </a:r>
          </a:p>
        </p:txBody>
      </p:sp>
      <p:sp>
        <p:nvSpPr>
          <p:cNvPr id="14" name="文本框 13"/>
          <p:cNvSpPr txBox="1"/>
          <p:nvPr/>
        </p:nvSpPr>
        <p:spPr>
          <a:xfrm>
            <a:off x="583565" y="3063240"/>
            <a:ext cx="10846435" cy="368300"/>
          </a:xfrm>
          <a:prstGeom prst="rect">
            <a:avLst/>
          </a:prstGeom>
          <a:noFill/>
        </p:spPr>
        <p:txBody>
          <a:bodyPr wrap="square" rtlCol="0" anchor="t">
            <a:spAutoFit/>
          </a:bodyPr>
          <a:lstStyle/>
          <a:p>
            <a:pPr marL="285750" indent="-285750" algn="l">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模型关键结构：</a:t>
            </a:r>
            <a:r>
              <a:rPr lang="zh-CN" altLang="en-US" dirty="0">
                <a:latin typeface="微软雅黑" panose="020B0503020204020204" pitchFamily="34" charset="-122"/>
                <a:ea typeface="微软雅黑" panose="020B0503020204020204" pitchFamily="34" charset="-122"/>
                <a:sym typeface="Wingdings 2" panose="05020102010507070707" charset="0"/>
              </a:rPr>
              <a:t>输入层、投影层以及输出层。各层操作如下：</a:t>
            </a:r>
          </a:p>
        </p:txBody>
      </p:sp>
      <p:sp>
        <p:nvSpPr>
          <p:cNvPr id="15" name="文本框 14"/>
          <p:cNvSpPr txBox="1"/>
          <p:nvPr/>
        </p:nvSpPr>
        <p:spPr>
          <a:xfrm>
            <a:off x="583565" y="3768725"/>
            <a:ext cx="11031855" cy="368300"/>
          </a:xfrm>
          <a:prstGeom prst="rect">
            <a:avLst/>
          </a:prstGeom>
          <a:noFill/>
        </p:spPr>
        <p:txBody>
          <a:bodyPr wrap="square" rtlCol="0" anchor="t">
            <a:spAutoFit/>
          </a:bodyPr>
          <a:lstStyle/>
          <a:p>
            <a:pPr indent="0">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输入层：</a:t>
            </a:r>
            <a:r>
              <a:rPr lang="zh-CN" altLang="en-US" dirty="0">
                <a:latin typeface="微软雅黑" panose="020B0503020204020204" pitchFamily="34" charset="-122"/>
                <a:ea typeface="微软雅黑" panose="020B0503020204020204" pitchFamily="34" charset="-122"/>
                <a:sym typeface="Wingdings 2" panose="05020102010507070707" charset="0"/>
              </a:rPr>
              <a:t>该层以</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为中心词的上下文作为输入，每个词通过独热编码向量</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来表示。</a:t>
            </a:r>
          </a:p>
        </p:txBody>
      </p:sp>
      <p:sp>
        <p:nvSpPr>
          <p:cNvPr id="16" name="文本框 15"/>
          <p:cNvSpPr txBox="1"/>
          <p:nvPr/>
        </p:nvSpPr>
        <p:spPr>
          <a:xfrm>
            <a:off x="583565" y="4474210"/>
            <a:ext cx="10367010" cy="645160"/>
          </a:xfrm>
          <a:prstGeom prst="rect">
            <a:avLst/>
          </a:prstGeom>
          <a:noFill/>
        </p:spPr>
        <p:txBody>
          <a:bodyPr wrap="square" rtlCol="0" anchor="t">
            <a:spAutoFit/>
          </a:bodyPr>
          <a:lstStyle/>
          <a:p>
            <a:pPr indent="0">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投影层：</a:t>
            </a:r>
            <a:r>
              <a:rPr lang="zh-CN" altLang="en-US" dirty="0">
                <a:latin typeface="微软雅黑" panose="020B0503020204020204" pitchFamily="34" charset="-122"/>
                <a:ea typeface="微软雅黑" panose="020B0503020204020204" pitchFamily="34" charset="-122"/>
                <a:sym typeface="Wingdings 2" panose="05020102010507070707" charset="0"/>
              </a:rPr>
              <a:t>上下文中每个词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都经过相同的词向量矩阵</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，得到向量</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，再执行词向量的累加平均操作：</a:t>
            </a:r>
          </a:p>
        </p:txBody>
      </p:sp>
      <p:pic>
        <p:nvPicPr>
          <p:cNvPr id="20" name="图片 19"/>
          <p:cNvPicPr>
            <a:picLocks noChangeAspect="1"/>
          </p:cNvPicPr>
          <p:nvPr/>
        </p:nvPicPr>
        <p:blipFill>
          <a:blip r:embed="rId6"/>
          <a:stretch>
            <a:fillRect/>
          </a:stretch>
        </p:blipFill>
        <p:spPr>
          <a:xfrm>
            <a:off x="3865880" y="5271770"/>
            <a:ext cx="3486150" cy="714375"/>
          </a:xfrm>
          <a:prstGeom prst="rect">
            <a:avLst/>
          </a:prstGeom>
        </p:spPr>
      </p:pic>
      <p:pic>
        <p:nvPicPr>
          <p:cNvPr id="11" name="图片 10"/>
          <p:cNvPicPr>
            <a:picLocks noChangeAspect="1"/>
          </p:cNvPicPr>
          <p:nvPr/>
        </p:nvPicPr>
        <p:blipFill>
          <a:blip r:embed="rId7"/>
          <a:stretch>
            <a:fillRect/>
          </a:stretch>
        </p:blipFill>
        <p:spPr>
          <a:xfrm>
            <a:off x="2265680" y="3823970"/>
            <a:ext cx="333375" cy="257175"/>
          </a:xfrm>
          <a:prstGeom prst="rect">
            <a:avLst/>
          </a:prstGeom>
        </p:spPr>
      </p:pic>
      <p:pic>
        <p:nvPicPr>
          <p:cNvPr id="12" name="图片 11"/>
          <p:cNvPicPr>
            <a:picLocks noChangeAspect="1"/>
          </p:cNvPicPr>
          <p:nvPr/>
        </p:nvPicPr>
        <p:blipFill>
          <a:blip r:embed="rId8"/>
          <a:stretch>
            <a:fillRect/>
          </a:stretch>
        </p:blipFill>
        <p:spPr>
          <a:xfrm>
            <a:off x="8146415" y="3800475"/>
            <a:ext cx="476250" cy="323850"/>
          </a:xfrm>
          <a:prstGeom prst="rect">
            <a:avLst/>
          </a:prstGeom>
        </p:spPr>
      </p:pic>
      <p:pic>
        <p:nvPicPr>
          <p:cNvPr id="22" name="图片 21"/>
          <p:cNvPicPr>
            <a:picLocks noChangeAspect="1"/>
          </p:cNvPicPr>
          <p:nvPr/>
        </p:nvPicPr>
        <p:blipFill>
          <a:blip r:embed="rId9"/>
          <a:stretch>
            <a:fillRect/>
          </a:stretch>
        </p:blipFill>
        <p:spPr>
          <a:xfrm>
            <a:off x="3230880" y="4559935"/>
            <a:ext cx="361950" cy="219075"/>
          </a:xfrm>
          <a:prstGeom prst="rect">
            <a:avLst/>
          </a:prstGeom>
        </p:spPr>
      </p:pic>
      <p:pic>
        <p:nvPicPr>
          <p:cNvPr id="23" name="图片 22"/>
          <p:cNvPicPr>
            <a:picLocks noChangeAspect="1"/>
          </p:cNvPicPr>
          <p:nvPr/>
        </p:nvPicPr>
        <p:blipFill>
          <a:blip r:embed="rId10"/>
          <a:stretch>
            <a:fillRect/>
          </a:stretch>
        </p:blipFill>
        <p:spPr>
          <a:xfrm>
            <a:off x="6193155" y="4502785"/>
            <a:ext cx="1228725" cy="333375"/>
          </a:xfrm>
          <a:prstGeom prst="rect">
            <a:avLst/>
          </a:prstGeom>
        </p:spPr>
      </p:pic>
      <p:pic>
        <p:nvPicPr>
          <p:cNvPr id="24" name="图片 23"/>
          <p:cNvPicPr>
            <a:picLocks noChangeAspect="1"/>
          </p:cNvPicPr>
          <p:nvPr/>
        </p:nvPicPr>
        <p:blipFill>
          <a:blip r:embed="rId11"/>
          <a:stretch>
            <a:fillRect/>
          </a:stretch>
        </p:blipFill>
        <p:spPr>
          <a:xfrm>
            <a:off x="8661400" y="4512310"/>
            <a:ext cx="1257300" cy="31432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2.3.1CBOW</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11" name="文本框 10"/>
          <p:cNvSpPr txBox="1"/>
          <p:nvPr/>
        </p:nvSpPr>
        <p:spPr>
          <a:xfrm>
            <a:off x="583565" y="1249045"/>
            <a:ext cx="11031855" cy="368300"/>
          </a:xfrm>
          <a:prstGeom prst="rect">
            <a:avLst/>
          </a:prstGeom>
          <a:noFill/>
        </p:spPr>
        <p:txBody>
          <a:bodyPr wrap="square" rtlCol="0" anchor="t">
            <a:spAutoFit/>
          </a:bodyPr>
          <a:lstStyle/>
          <a:p>
            <a:pPr indent="0">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输出层：</a:t>
            </a:r>
            <a:r>
              <a:rPr lang="zh-CN" altLang="en-US" dirty="0">
                <a:latin typeface="微软雅黑" panose="020B0503020204020204" pitchFamily="34" charset="-122"/>
                <a:ea typeface="微软雅黑" panose="020B0503020204020204" pitchFamily="34" charset="-122"/>
                <a:sym typeface="Wingdings 2" panose="05020102010507070707" charset="0"/>
              </a:rPr>
              <a:t>该层经过权重矩阵</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得到输出概率向量：</a:t>
            </a:r>
          </a:p>
        </p:txBody>
      </p:sp>
      <p:pic>
        <p:nvPicPr>
          <p:cNvPr id="12" name="图片 11"/>
          <p:cNvPicPr>
            <a:picLocks noChangeAspect="1"/>
          </p:cNvPicPr>
          <p:nvPr/>
        </p:nvPicPr>
        <p:blipFill>
          <a:blip r:embed="rId4"/>
          <a:stretch>
            <a:fillRect/>
          </a:stretch>
        </p:blipFill>
        <p:spPr>
          <a:xfrm>
            <a:off x="4676775" y="1925320"/>
            <a:ext cx="2057400" cy="371475"/>
          </a:xfrm>
          <a:prstGeom prst="rect">
            <a:avLst/>
          </a:prstGeom>
        </p:spPr>
      </p:pic>
      <p:sp>
        <p:nvSpPr>
          <p:cNvPr id="21" name="文本框 20"/>
          <p:cNvSpPr txBox="1"/>
          <p:nvPr/>
        </p:nvSpPr>
        <p:spPr>
          <a:xfrm>
            <a:off x="583565" y="2421255"/>
            <a:ext cx="11031855" cy="368300"/>
          </a:xfrm>
          <a:prstGeom prst="rect">
            <a:avLst/>
          </a:prstGeom>
          <a:noFill/>
        </p:spPr>
        <p:txBody>
          <a:bodyPr wrap="square" rtlCol="0" anchor="t">
            <a:spAutoFit/>
          </a:bodyPr>
          <a:lstStyle/>
          <a:p>
            <a:pPr indent="0">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中心词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计算得到的条件概率为</a:t>
            </a:r>
          </a:p>
        </p:txBody>
      </p:sp>
      <p:pic>
        <p:nvPicPr>
          <p:cNvPr id="22" name="图片 21"/>
          <p:cNvPicPr>
            <a:picLocks noChangeAspect="1"/>
          </p:cNvPicPr>
          <p:nvPr/>
        </p:nvPicPr>
        <p:blipFill>
          <a:blip r:embed="rId5"/>
          <a:stretch>
            <a:fillRect/>
          </a:stretch>
        </p:blipFill>
        <p:spPr>
          <a:xfrm>
            <a:off x="6384290" y="2448560"/>
            <a:ext cx="2486025" cy="323850"/>
          </a:xfrm>
          <a:prstGeom prst="rect">
            <a:avLst/>
          </a:prstGeom>
        </p:spPr>
      </p:pic>
      <p:pic>
        <p:nvPicPr>
          <p:cNvPr id="24" name="图片 23"/>
          <p:cNvPicPr>
            <a:picLocks noChangeAspect="1"/>
          </p:cNvPicPr>
          <p:nvPr/>
        </p:nvPicPr>
        <p:blipFill>
          <a:blip r:embed="rId6"/>
          <a:stretch>
            <a:fillRect/>
          </a:stretch>
        </p:blipFill>
        <p:spPr>
          <a:xfrm>
            <a:off x="1336040" y="2438400"/>
            <a:ext cx="1257300" cy="352425"/>
          </a:xfrm>
          <a:prstGeom prst="rect">
            <a:avLst/>
          </a:prstGeom>
        </p:spPr>
      </p:pic>
      <p:pic>
        <p:nvPicPr>
          <p:cNvPr id="4" name="图片 3"/>
          <p:cNvPicPr>
            <a:picLocks noChangeAspect="1"/>
          </p:cNvPicPr>
          <p:nvPr/>
        </p:nvPicPr>
        <p:blipFill>
          <a:blip r:embed="rId7"/>
          <a:stretch>
            <a:fillRect/>
          </a:stretch>
        </p:blipFill>
        <p:spPr>
          <a:xfrm>
            <a:off x="3432810" y="1276350"/>
            <a:ext cx="1314450" cy="333375"/>
          </a:xfrm>
          <a:prstGeom prst="rect">
            <a:avLst/>
          </a:prstGeom>
        </p:spPr>
      </p:pic>
      <p:pic>
        <p:nvPicPr>
          <p:cNvPr id="8" name="图片 7"/>
          <p:cNvPicPr>
            <a:picLocks noChangeAspect="1"/>
          </p:cNvPicPr>
          <p:nvPr/>
        </p:nvPicPr>
        <p:blipFill>
          <a:blip r:embed="rId8"/>
          <a:stretch>
            <a:fillRect/>
          </a:stretch>
        </p:blipFill>
        <p:spPr>
          <a:xfrm>
            <a:off x="3650615" y="2477135"/>
            <a:ext cx="314325" cy="276225"/>
          </a:xfrm>
          <a:prstGeom prst="rect">
            <a:avLst/>
          </a:prstGeom>
        </p:spPr>
      </p:pic>
      <p:pic>
        <p:nvPicPr>
          <p:cNvPr id="7" name="Picture 6">
            <a:extLst>
              <a:ext uri="{FF2B5EF4-FFF2-40B4-BE49-F238E27FC236}">
                <a16:creationId xmlns:a16="http://schemas.microsoft.com/office/drawing/2014/main" id="{0AB6E4F4-B492-E44E-5046-0EC1A1ABB45D}"/>
              </a:ext>
            </a:extLst>
          </p:cNvPr>
          <p:cNvPicPr>
            <a:picLocks noChangeAspect="1"/>
          </p:cNvPicPr>
          <p:nvPr/>
        </p:nvPicPr>
        <p:blipFill>
          <a:blip r:embed="rId9"/>
          <a:stretch>
            <a:fillRect/>
          </a:stretch>
        </p:blipFill>
        <p:spPr>
          <a:xfrm>
            <a:off x="1663168" y="2914015"/>
            <a:ext cx="2789196" cy="3808812"/>
          </a:xfrm>
          <a:prstGeom prst="rect">
            <a:avLst/>
          </a:prstGeom>
        </p:spPr>
      </p:pic>
      <p:pic>
        <p:nvPicPr>
          <p:cNvPr id="9" name="Picture 8">
            <a:extLst>
              <a:ext uri="{FF2B5EF4-FFF2-40B4-BE49-F238E27FC236}">
                <a16:creationId xmlns:a16="http://schemas.microsoft.com/office/drawing/2014/main" id="{A901629B-91BF-40B6-AA04-F52EB09F6E19}"/>
              </a:ext>
            </a:extLst>
          </p:cNvPr>
          <p:cNvPicPr>
            <a:picLocks noChangeAspect="1"/>
          </p:cNvPicPr>
          <p:nvPr/>
        </p:nvPicPr>
        <p:blipFill>
          <a:blip r:embed="rId10"/>
          <a:stretch>
            <a:fillRect/>
          </a:stretch>
        </p:blipFill>
        <p:spPr>
          <a:xfrm>
            <a:off x="5406631" y="2816860"/>
            <a:ext cx="3310372" cy="404114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50E9-2E67-9234-C17E-FA474E6F8858}"/>
              </a:ext>
            </a:extLst>
          </p:cNvPr>
          <p:cNvSpPr>
            <a:spLocks noGrp="1"/>
          </p:cNvSpPr>
          <p:nvPr>
            <p:ph type="title"/>
          </p:nvPr>
        </p:nvSpPr>
        <p:spPr/>
        <p:txBody>
          <a:bodyPr/>
          <a:lstStyle/>
          <a:p>
            <a:r>
              <a:rPr lang="en-US" dirty="0" err="1"/>
              <a:t>CBOW模型的训练目标</a:t>
            </a:r>
            <a:endParaRPr lang="en-US" dirty="0"/>
          </a:p>
        </p:txBody>
      </p:sp>
      <p:sp>
        <p:nvSpPr>
          <p:cNvPr id="3" name="Content Placeholder 2">
            <a:extLst>
              <a:ext uri="{FF2B5EF4-FFF2-40B4-BE49-F238E27FC236}">
                <a16:creationId xmlns:a16="http://schemas.microsoft.com/office/drawing/2014/main" id="{3C6094A1-8494-2CF7-E5DE-0453BC4FAA13}"/>
              </a:ext>
            </a:extLst>
          </p:cNvPr>
          <p:cNvSpPr>
            <a:spLocks noGrp="1"/>
          </p:cNvSpPr>
          <p:nvPr>
            <p:ph idx="1"/>
          </p:nvPr>
        </p:nvSpPr>
        <p:spPr>
          <a:xfrm>
            <a:off x="608400" y="1490400"/>
            <a:ext cx="10969200" cy="1063614"/>
          </a:xfrm>
        </p:spPr>
        <p:txBody>
          <a:bodyPr>
            <a:normAutofit/>
          </a:bodyPr>
          <a:lstStyle/>
          <a:p>
            <a:pPr marL="0" indent="0">
              <a:buNone/>
            </a:pPr>
            <a:r>
              <a:rPr lang="en-US" sz="2000" dirty="0" err="1">
                <a:solidFill>
                  <a:schemeClr val="tx1"/>
                </a:solidFill>
                <a:latin typeface="Microsoft YaHei" panose="020B0503020204020204" pitchFamily="34" charset="-122"/>
                <a:ea typeface="Microsoft YaHei" panose="020B0503020204020204" pitchFamily="34" charset="-122"/>
              </a:rPr>
              <a:t>CBOW输出的是关于中心词的概率</a:t>
            </a:r>
            <a:r>
              <a:rPr lang="zh-CN" altLang="en-US" sz="2000" dirty="0">
                <a:solidFill>
                  <a:schemeClr val="tx1"/>
                </a:solidFill>
                <a:latin typeface="Microsoft YaHei" panose="020B0503020204020204" pitchFamily="34" charset="-122"/>
                <a:ea typeface="Microsoft YaHei" panose="020B0503020204020204" pitchFamily="34" charset="-122"/>
              </a:rPr>
              <a:t>分布。因此，我们希望预测的概率分布和真实概率分布的距离</a:t>
            </a:r>
            <a:r>
              <a:rPr lang="en-US" altLang="zh-CN" sz="2000" dirty="0">
                <a:solidFill>
                  <a:schemeClr val="tx1"/>
                </a:solidFill>
                <a:latin typeface="Microsoft YaHei" panose="020B0503020204020204" pitchFamily="34" charset="-122"/>
                <a:ea typeface="Microsoft YaHei" panose="020B0503020204020204" pitchFamily="34" charset="-122"/>
              </a:rPr>
              <a:t>/</a:t>
            </a:r>
            <a:r>
              <a:rPr lang="zh-CN" altLang="en-US" sz="2000" dirty="0">
                <a:solidFill>
                  <a:schemeClr val="tx1"/>
                </a:solidFill>
                <a:latin typeface="Microsoft YaHei" panose="020B0503020204020204" pitchFamily="34" charset="-122"/>
                <a:ea typeface="Microsoft YaHei" panose="020B0503020204020204" pitchFamily="34" charset="-122"/>
              </a:rPr>
              <a:t>损失尽可能小，常用的度量方式为交叉熵（</a:t>
            </a:r>
            <a:r>
              <a:rPr lang="en-US" altLang="zh-CN" sz="2000" dirty="0">
                <a:solidFill>
                  <a:schemeClr val="tx1"/>
                </a:solidFill>
                <a:latin typeface="Microsoft YaHei" panose="020B0503020204020204" pitchFamily="34" charset="-122"/>
                <a:ea typeface="Microsoft YaHei" panose="020B0503020204020204" pitchFamily="34" charset="-122"/>
              </a:rPr>
              <a:t>cross </a:t>
            </a:r>
            <a:r>
              <a:rPr lang="en-US" altLang="zh-CN" sz="2000" dirty="0" err="1">
                <a:solidFill>
                  <a:schemeClr val="tx1"/>
                </a:solidFill>
                <a:latin typeface="Microsoft YaHei" panose="020B0503020204020204" pitchFamily="34" charset="-122"/>
                <a:ea typeface="Microsoft YaHei" panose="020B0503020204020204" pitchFamily="34" charset="-122"/>
              </a:rPr>
              <a:t>entroy</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sz="2000" dirty="0">
              <a:solidFill>
                <a:schemeClr val="tx1"/>
              </a:solidFill>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F9ED719A-4CC1-CA29-5AE3-B22BCD6DFC20}"/>
              </a:ext>
            </a:extLst>
          </p:cNvPr>
          <p:cNvPicPr>
            <a:picLocks noChangeAspect="1"/>
          </p:cNvPicPr>
          <p:nvPr/>
        </p:nvPicPr>
        <p:blipFill>
          <a:blip r:embed="rId3"/>
          <a:stretch>
            <a:fillRect/>
          </a:stretch>
        </p:blipFill>
        <p:spPr>
          <a:xfrm>
            <a:off x="3455276" y="2285433"/>
            <a:ext cx="4564117" cy="1325438"/>
          </a:xfrm>
          <a:prstGeom prst="rect">
            <a:avLst/>
          </a:prstGeom>
        </p:spPr>
      </p:pic>
      <p:sp>
        <p:nvSpPr>
          <p:cNvPr id="6" name="Content Placeholder 2">
            <a:extLst>
              <a:ext uri="{FF2B5EF4-FFF2-40B4-BE49-F238E27FC236}">
                <a16:creationId xmlns:a16="http://schemas.microsoft.com/office/drawing/2014/main" id="{5E51F5F1-8243-38FF-8330-C4081DF0CA35}"/>
              </a:ext>
            </a:extLst>
          </p:cNvPr>
          <p:cNvSpPr txBox="1">
            <a:spLocks/>
          </p:cNvSpPr>
          <p:nvPr/>
        </p:nvSpPr>
        <p:spPr>
          <a:xfrm>
            <a:off x="781821" y="3598151"/>
            <a:ext cx="10969200" cy="470557"/>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err="1">
                <a:solidFill>
                  <a:schemeClr val="tx1"/>
                </a:solidFill>
                <a:latin typeface="Microsoft YaHei" panose="020B0503020204020204" pitchFamily="34" charset="-122"/>
                <a:ea typeface="Microsoft YaHei" panose="020B0503020204020204" pitchFamily="34" charset="-122"/>
              </a:rPr>
              <a:t>不难</a:t>
            </a:r>
            <a:r>
              <a:rPr lang="zh-CN" altLang="en-US" sz="2000" dirty="0">
                <a:solidFill>
                  <a:schemeClr val="tx1"/>
                </a:solidFill>
                <a:latin typeface="Microsoft YaHei" panose="020B0503020204020204" pitchFamily="34" charset="-122"/>
                <a:ea typeface="Microsoft YaHei" panose="020B0503020204020204" pitchFamily="34" charset="-122"/>
              </a:rPr>
              <a:t>发现，对于正确预测，</a:t>
            </a:r>
            <a:r>
              <a:rPr lang="en-US" altLang="zh-CN" sz="2000" dirty="0">
                <a:solidFill>
                  <a:schemeClr val="tx1"/>
                </a:solidFill>
                <a:latin typeface="Microsoft YaHei" panose="020B0503020204020204" pitchFamily="34" charset="-122"/>
                <a:ea typeface="Microsoft YaHei" panose="020B0503020204020204" pitchFamily="34" charset="-122"/>
              </a:rPr>
              <a:t>H</a:t>
            </a:r>
            <a:r>
              <a:rPr lang="zh-CN" altLang="en-US" sz="2000" dirty="0">
                <a:solidFill>
                  <a:schemeClr val="tx1"/>
                </a:solidFill>
                <a:latin typeface="Microsoft YaHei" panose="020B0503020204020204" pitchFamily="34" charset="-122"/>
                <a:ea typeface="Microsoft YaHei" panose="020B0503020204020204" pitchFamily="34" charset="-122"/>
              </a:rPr>
              <a:t>是</a:t>
            </a:r>
            <a:r>
              <a:rPr lang="en-US" altLang="zh-CN" sz="2000" dirty="0">
                <a:solidFill>
                  <a:schemeClr val="tx1"/>
                </a:solidFill>
                <a:latin typeface="Microsoft YaHei" panose="020B0503020204020204" pitchFamily="34" charset="-122"/>
                <a:ea typeface="Microsoft YaHei" panose="020B0503020204020204" pitchFamily="34" charset="-122"/>
              </a:rPr>
              <a:t>0</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sz="2000" dirty="0">
              <a:solidFill>
                <a:schemeClr val="tx1"/>
              </a:solidFill>
              <a:latin typeface="Microsoft YaHei" panose="020B0503020204020204" pitchFamily="34" charset="-122"/>
              <a:ea typeface="Microsoft YaHei" panose="020B0503020204020204" pitchFamily="34" charset="-122"/>
            </a:endParaRPr>
          </a:p>
        </p:txBody>
      </p:sp>
      <p:sp>
        <p:nvSpPr>
          <p:cNvPr id="7" name="文本框 24">
            <a:extLst>
              <a:ext uri="{FF2B5EF4-FFF2-40B4-BE49-F238E27FC236}">
                <a16:creationId xmlns:a16="http://schemas.microsoft.com/office/drawing/2014/main" id="{12DA3F70-26D5-B31D-B722-5033D8611BE5}"/>
              </a:ext>
            </a:extLst>
          </p:cNvPr>
          <p:cNvSpPr txBox="1"/>
          <p:nvPr/>
        </p:nvSpPr>
        <p:spPr>
          <a:xfrm>
            <a:off x="483520" y="4113378"/>
            <a:ext cx="10846435" cy="368300"/>
          </a:xfrm>
          <a:prstGeom prst="rect">
            <a:avLst/>
          </a:prstGeom>
          <a:noFill/>
        </p:spPr>
        <p:txBody>
          <a:bodyPr wrap="square" rtlCol="0" anchor="t">
            <a:spAutoFit/>
          </a:bodyPr>
          <a:lstStyle/>
          <a:p>
            <a:pPr marL="285750" indent="-285750" algn="just">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模型优化目标：</a:t>
            </a:r>
            <a:r>
              <a:rPr lang="zh-CN" altLang="en-US" dirty="0">
                <a:latin typeface="微软雅黑" panose="020B0503020204020204" pitchFamily="34" charset="-122"/>
                <a:ea typeface="微软雅黑" panose="020B0503020204020204" pitchFamily="34" charset="-122"/>
                <a:sym typeface="Wingdings 2" panose="05020102010507070707" charset="0"/>
              </a:rPr>
              <a:t>该模型最大似然函数作为优化目标，具体可表示为：</a:t>
            </a:r>
          </a:p>
        </p:txBody>
      </p:sp>
      <p:pic>
        <p:nvPicPr>
          <p:cNvPr id="8" name="图片 25">
            <a:extLst>
              <a:ext uri="{FF2B5EF4-FFF2-40B4-BE49-F238E27FC236}">
                <a16:creationId xmlns:a16="http://schemas.microsoft.com/office/drawing/2014/main" id="{19A27EDC-A8FC-A349-5EDB-A4A2992DF94C}"/>
              </a:ext>
            </a:extLst>
          </p:cNvPr>
          <p:cNvPicPr>
            <a:picLocks noChangeAspect="1"/>
          </p:cNvPicPr>
          <p:nvPr/>
        </p:nvPicPr>
        <p:blipFill>
          <a:blip r:embed="rId4"/>
          <a:stretch>
            <a:fillRect/>
          </a:stretch>
        </p:blipFill>
        <p:spPr>
          <a:xfrm>
            <a:off x="3343877" y="4526348"/>
            <a:ext cx="4171950" cy="1581150"/>
          </a:xfrm>
          <a:prstGeom prst="rect">
            <a:avLst/>
          </a:prstGeom>
        </p:spPr>
      </p:pic>
      <p:sp>
        <p:nvSpPr>
          <p:cNvPr id="9" name="文本框 26">
            <a:extLst>
              <a:ext uri="{FF2B5EF4-FFF2-40B4-BE49-F238E27FC236}">
                <a16:creationId xmlns:a16="http://schemas.microsoft.com/office/drawing/2014/main" id="{89674521-E856-478C-B5ED-D49FBDE29DF1}"/>
              </a:ext>
            </a:extLst>
          </p:cNvPr>
          <p:cNvSpPr txBox="1"/>
          <p:nvPr/>
        </p:nvSpPr>
        <p:spPr>
          <a:xfrm>
            <a:off x="546658" y="6309623"/>
            <a:ext cx="10846435" cy="368300"/>
          </a:xfrm>
          <a:prstGeom prst="rect">
            <a:avLst/>
          </a:prstGeom>
          <a:noFill/>
        </p:spPr>
        <p:txBody>
          <a:bodyPr wrap="square" rtlCol="0" anchor="t">
            <a:spAutoFit/>
          </a:bodyPr>
          <a:lstStyle/>
          <a:p>
            <a:pPr indent="0" algn="just">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L</a:t>
            </a:r>
            <a:r>
              <a:rPr lang="zh-CN" altLang="en-US" dirty="0">
                <a:latin typeface="微软雅黑" panose="020B0503020204020204" pitchFamily="34" charset="-122"/>
                <a:ea typeface="微软雅黑" panose="020B0503020204020204" pitchFamily="34" charset="-122"/>
                <a:sym typeface="Wingdings 2" panose="05020102010507070707" charset="0"/>
              </a:rPr>
              <a:t>表示训练集长度，在训练中使用梯度下降法更新词向量矩阵</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和权重矩阵</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a:t>
            </a:r>
          </a:p>
        </p:txBody>
      </p:sp>
      <p:pic>
        <p:nvPicPr>
          <p:cNvPr id="10" name="图片 3">
            <a:extLst>
              <a:ext uri="{FF2B5EF4-FFF2-40B4-BE49-F238E27FC236}">
                <a16:creationId xmlns:a16="http://schemas.microsoft.com/office/drawing/2014/main" id="{90774BE2-FA65-E1A6-984A-C05D3EE2E90B}"/>
              </a:ext>
            </a:extLst>
          </p:cNvPr>
          <p:cNvPicPr>
            <a:picLocks noChangeAspect="1"/>
          </p:cNvPicPr>
          <p:nvPr/>
        </p:nvPicPr>
        <p:blipFill>
          <a:blip r:embed="rId5"/>
          <a:stretch>
            <a:fillRect/>
          </a:stretch>
        </p:blipFill>
        <p:spPr>
          <a:xfrm>
            <a:off x="7368189" y="6328008"/>
            <a:ext cx="295275" cy="304800"/>
          </a:xfrm>
          <a:prstGeom prst="rect">
            <a:avLst/>
          </a:prstGeom>
        </p:spPr>
      </p:pic>
      <p:pic>
        <p:nvPicPr>
          <p:cNvPr id="11" name="图片 9">
            <a:extLst>
              <a:ext uri="{FF2B5EF4-FFF2-40B4-BE49-F238E27FC236}">
                <a16:creationId xmlns:a16="http://schemas.microsoft.com/office/drawing/2014/main" id="{AD2C7B8A-D76A-0C92-8224-DE9C873B97F7}"/>
              </a:ext>
            </a:extLst>
          </p:cNvPr>
          <p:cNvPicPr>
            <a:picLocks noChangeAspect="1"/>
          </p:cNvPicPr>
          <p:nvPr/>
        </p:nvPicPr>
        <p:blipFill>
          <a:blip r:embed="rId6"/>
          <a:stretch>
            <a:fillRect/>
          </a:stretch>
        </p:blipFill>
        <p:spPr>
          <a:xfrm>
            <a:off x="8888917" y="6324136"/>
            <a:ext cx="323850" cy="295275"/>
          </a:xfrm>
          <a:prstGeom prst="rect">
            <a:avLst/>
          </a:prstGeom>
        </p:spPr>
      </p:pic>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E102AA5C-640A-88FF-3606-FF68FA4B69FF}"/>
                  </a:ext>
                </a:extLst>
              </p:cNvPr>
              <p:cNvSpPr/>
              <p:nvPr/>
            </p:nvSpPr>
            <p:spPr>
              <a:xfrm>
                <a:off x="3455276" y="2530905"/>
                <a:ext cx="1451575" cy="8749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𝐻</m:t>
                      </m:r>
                      <m:r>
                        <a:rPr lang="en-US" sz="3200" b="0" i="1" smtClean="0">
                          <a:latin typeface="Cambria Math" panose="02040503050406030204" pitchFamily="18" charset="0"/>
                        </a:rPr>
                        <m:t>(</m:t>
                      </m:r>
                      <m:r>
                        <a:rPr lang="en-US" sz="3200" b="0" i="1" smtClean="0">
                          <a:latin typeface="Cambria Math" panose="02040503050406030204" pitchFamily="18" charset="0"/>
                        </a:rPr>
                        <m:t>𝑦</m:t>
                      </m:r>
                      <m:r>
                        <a:rPr lang="en-US" sz="3200" b="0" i="1" smtClean="0">
                          <a:latin typeface="Cambria Math" panose="02040503050406030204" pitchFamily="18" charset="0"/>
                        </a:rPr>
                        <m:t>, </m:t>
                      </m:r>
                      <m:acc>
                        <m:accPr>
                          <m:chr m:val="̂"/>
                          <m:ctrlPr>
                            <a:rPr lang="en-US" sz="3200" b="0" i="1" smtClean="0">
                              <a:latin typeface="Cambria Math" panose="02040503050406030204" pitchFamily="18" charset="0"/>
                            </a:rPr>
                          </m:ctrlPr>
                        </m:accPr>
                        <m:e>
                          <m:r>
                            <a:rPr lang="en-US" sz="3200" b="0" i="1" smtClean="0">
                              <a:latin typeface="Cambria Math" panose="02040503050406030204" pitchFamily="18" charset="0"/>
                            </a:rPr>
                            <m:t>𝑦</m:t>
                          </m:r>
                        </m:e>
                      </m:acc>
                      <m:r>
                        <a:rPr lang="en-US" sz="3200" b="0" i="1" smtClean="0">
                          <a:latin typeface="Cambria Math" panose="02040503050406030204" pitchFamily="18" charset="0"/>
                        </a:rPr>
                        <m:t>)</m:t>
                      </m:r>
                    </m:oMath>
                  </m:oMathPara>
                </a14:m>
                <a:endParaRPr lang="en-US" sz="3200" dirty="0"/>
              </a:p>
            </p:txBody>
          </p:sp>
        </mc:Choice>
        <mc:Fallback>
          <p:sp>
            <p:nvSpPr>
              <p:cNvPr id="12" name="Rectangle 11">
                <a:extLst>
                  <a:ext uri="{FF2B5EF4-FFF2-40B4-BE49-F238E27FC236}">
                    <a16:creationId xmlns:a16="http://schemas.microsoft.com/office/drawing/2014/main" id="{E102AA5C-640A-88FF-3606-FF68FA4B69FF}"/>
                  </a:ext>
                </a:extLst>
              </p:cNvPr>
              <p:cNvSpPr>
                <a:spLocks noRot="1" noChangeAspect="1" noMove="1" noResize="1" noEditPoints="1" noAdjustHandles="1" noChangeArrowheads="1" noChangeShapeType="1" noTextEdit="1"/>
              </p:cNvSpPr>
              <p:nvPr/>
            </p:nvSpPr>
            <p:spPr>
              <a:xfrm>
                <a:off x="3455276" y="2530905"/>
                <a:ext cx="1451575" cy="874986"/>
              </a:xfrm>
              <a:prstGeom prst="rect">
                <a:avLst/>
              </a:prstGeom>
              <a:blipFill>
                <a:blip r:embed="rId7"/>
                <a:stretch>
                  <a:fillRect l="-6034" r="-2586"/>
                </a:stretch>
              </a:blipFill>
            </p:spPr>
            <p:txBody>
              <a:bodyPr/>
              <a:lstStyle/>
              <a:p>
                <a:r>
                  <a:rPr lang="en-US">
                    <a:noFill/>
                  </a:rPr>
                  <a:t> </a:t>
                </a:r>
              </a:p>
            </p:txBody>
          </p:sp>
        </mc:Fallback>
      </mc:AlternateContent>
    </p:spTree>
    <p:extLst>
      <p:ext uri="{BB962C8B-B14F-4D97-AF65-F5344CB8AC3E}">
        <p14:creationId xmlns:p14="http://schemas.microsoft.com/office/powerpoint/2010/main" val="2341137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12006-420F-0F96-642B-7010A36BC7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C8FEF-B8D0-1FE0-4EF2-6782B51521E8}"/>
              </a:ext>
            </a:extLst>
          </p:cNvPr>
          <p:cNvSpPr>
            <a:spLocks noGrp="1"/>
          </p:cNvSpPr>
          <p:nvPr>
            <p:ph type="title"/>
          </p:nvPr>
        </p:nvSpPr>
        <p:spPr/>
        <p:txBody>
          <a:bodyPr/>
          <a:lstStyle/>
          <a:p>
            <a:r>
              <a:rPr lang="en-US" dirty="0" err="1"/>
              <a:t>CBOW模型的复杂度</a:t>
            </a:r>
            <a:endParaRPr lang="en-US"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7CAE4725-0B30-0CE9-AD13-34307D75F476}"/>
                  </a:ext>
                </a:extLst>
              </p:cNvPr>
              <p:cNvSpPr txBox="1"/>
              <p:nvPr/>
            </p:nvSpPr>
            <p:spPr>
              <a:xfrm>
                <a:off x="759854" y="1442434"/>
                <a:ext cx="10817746" cy="1323439"/>
              </a:xfrm>
              <a:prstGeom prst="rect">
                <a:avLst/>
              </a:prstGeom>
              <a:noFill/>
            </p:spPr>
            <p:txBody>
              <a:bodyPr wrap="square" rtlCol="0">
                <a:spAutoFit/>
              </a:bodyPr>
              <a:lstStyle/>
              <a:p>
                <a:r>
                  <a:rPr lang="en-US" sz="2400" dirty="0"/>
                  <a:t>假设上下文长度为N</a:t>
                </a:r>
                <a:r>
                  <a:rPr lang="zh-CN" altLang="en-US" sz="2400" dirty="0"/>
                  <a:t>，那么</a:t>
                </a:r>
                <a:r>
                  <a:rPr lang="en-US" altLang="zh-CN" sz="2400" dirty="0"/>
                  <a:t>CBOW</a:t>
                </a:r>
                <a:r>
                  <a:rPr lang="zh-CN" altLang="en-US" sz="2400" dirty="0"/>
                  <a:t>的训练复杂度：</a:t>
                </a:r>
                <a:endParaRPr lang="en-US" altLang="zh-CN" sz="2400" dirty="0"/>
              </a:p>
              <a:p>
                <a:endParaRPr lang="en-US" sz="2400" dirty="0"/>
              </a:p>
              <a:p>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r>
                        <a:rPr lang="en-US" sz="3200" b="0" i="1" smtClean="0">
                          <a:latin typeface="Cambria Math" panose="02040503050406030204" pitchFamily="18" charset="0"/>
                        </a:rPr>
                        <m:t>𝑁</m:t>
                      </m:r>
                      <m:r>
                        <a:rPr lang="en-US" sz="3200" b="0" i="1" smtClean="0">
                          <a:latin typeface="Cambria Math" panose="02040503050406030204" pitchFamily="18" charset="0"/>
                        </a:rPr>
                        <m:t> × </m:t>
                      </m:r>
                      <m:r>
                        <a:rPr lang="en-US" sz="3200" b="0" i="1" smtClean="0">
                          <a:latin typeface="Cambria Math" panose="02040503050406030204" pitchFamily="18" charset="0"/>
                        </a:rPr>
                        <m:t>𝐷</m:t>
                      </m:r>
                      <m:r>
                        <a:rPr lang="en-US" sz="3200" b="0" i="1" smtClean="0">
                          <a:latin typeface="Cambria Math" panose="02040503050406030204" pitchFamily="18" charset="0"/>
                        </a:rPr>
                        <m:t>+</m:t>
                      </m:r>
                      <m:r>
                        <a:rPr lang="en-US" sz="3200" b="0" i="1" smtClean="0">
                          <a:latin typeface="Cambria Math" panose="02040503050406030204" pitchFamily="18" charset="0"/>
                        </a:rPr>
                        <m:t>𝐷</m:t>
                      </m:r>
                      <m:r>
                        <a:rPr lang="en-US" sz="3200" b="0" i="1" smtClean="0">
                          <a:latin typeface="Cambria Math" panose="02040503050406030204" pitchFamily="18" charset="0"/>
                        </a:rPr>
                        <m:t> × </m:t>
                      </m:r>
                      <m:r>
                        <a:rPr lang="en-US" sz="3200" b="0" i="1" smtClean="0">
                          <a:latin typeface="Cambria Math" panose="02040503050406030204" pitchFamily="18" charset="0"/>
                        </a:rPr>
                        <m:t>𝑉</m:t>
                      </m:r>
                      <m:r>
                        <a:rPr lang="en-US" sz="3200" b="0" i="1" smtClean="0">
                          <a:latin typeface="Cambria Math" panose="02040503050406030204" pitchFamily="18" charset="0"/>
                        </a:rPr>
                        <m:t>)</m:t>
                      </m:r>
                    </m:oMath>
                  </m:oMathPara>
                </a14:m>
                <a:endParaRPr lang="en-US" sz="3200" dirty="0"/>
              </a:p>
            </p:txBody>
          </p:sp>
        </mc:Choice>
        <mc:Fallback>
          <p:sp>
            <p:nvSpPr>
              <p:cNvPr id="14" name="TextBox 13">
                <a:extLst>
                  <a:ext uri="{FF2B5EF4-FFF2-40B4-BE49-F238E27FC236}">
                    <a16:creationId xmlns:a16="http://schemas.microsoft.com/office/drawing/2014/main" id="{7CAE4725-0B30-0CE9-AD13-34307D75F476}"/>
                  </a:ext>
                </a:extLst>
              </p:cNvPr>
              <p:cNvSpPr txBox="1">
                <a:spLocks noRot="1" noChangeAspect="1" noMove="1" noResize="1" noEditPoints="1" noAdjustHandles="1" noChangeArrowheads="1" noChangeShapeType="1" noTextEdit="1"/>
              </p:cNvSpPr>
              <p:nvPr/>
            </p:nvSpPr>
            <p:spPr>
              <a:xfrm>
                <a:off x="759854" y="1442434"/>
                <a:ext cx="10817746" cy="1323439"/>
              </a:xfrm>
              <a:prstGeom prst="rect">
                <a:avLst/>
              </a:prstGeom>
              <a:blipFill>
                <a:blip r:embed="rId2"/>
                <a:stretch>
                  <a:fillRect l="-939" t="-3810" b="-11429"/>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50A27742-7797-D162-DDF2-0DA3A779FC9F}"/>
              </a:ext>
            </a:extLst>
          </p:cNvPr>
          <p:cNvSpPr/>
          <p:nvPr/>
        </p:nvSpPr>
        <p:spPr>
          <a:xfrm>
            <a:off x="7212169" y="2104153"/>
            <a:ext cx="450761" cy="790154"/>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8" name="Group 17">
            <a:extLst>
              <a:ext uri="{FF2B5EF4-FFF2-40B4-BE49-F238E27FC236}">
                <a16:creationId xmlns:a16="http://schemas.microsoft.com/office/drawing/2014/main" id="{605FF44B-32D5-96D1-23FC-3783E5518E30}"/>
              </a:ext>
            </a:extLst>
          </p:cNvPr>
          <p:cNvGrpSpPr/>
          <p:nvPr/>
        </p:nvGrpSpPr>
        <p:grpSpPr>
          <a:xfrm>
            <a:off x="608400" y="2894307"/>
            <a:ext cx="8794406" cy="3489843"/>
            <a:chOff x="608400" y="2894307"/>
            <a:chExt cx="8794406" cy="3489843"/>
          </a:xfrm>
        </p:grpSpPr>
        <p:pic>
          <p:nvPicPr>
            <p:cNvPr id="15" name="Picture 14">
              <a:extLst>
                <a:ext uri="{FF2B5EF4-FFF2-40B4-BE49-F238E27FC236}">
                  <a16:creationId xmlns:a16="http://schemas.microsoft.com/office/drawing/2014/main" id="{300C04D0-D2C7-F7BA-7E51-0447206BA985}"/>
                </a:ext>
              </a:extLst>
            </p:cNvPr>
            <p:cNvPicPr>
              <a:picLocks noChangeAspect="1"/>
            </p:cNvPicPr>
            <p:nvPr/>
          </p:nvPicPr>
          <p:blipFill>
            <a:blip r:embed="rId3"/>
            <a:stretch>
              <a:fillRect/>
            </a:stretch>
          </p:blipFill>
          <p:spPr>
            <a:xfrm>
              <a:off x="608400" y="2894307"/>
              <a:ext cx="8794406" cy="3489843"/>
            </a:xfrm>
            <a:prstGeom prst="rect">
              <a:avLst/>
            </a:prstGeom>
          </p:spPr>
        </p:pic>
        <p:sp>
          <p:nvSpPr>
            <p:cNvPr id="17" name="Rectangle 16">
              <a:extLst>
                <a:ext uri="{FF2B5EF4-FFF2-40B4-BE49-F238E27FC236}">
                  <a16:creationId xmlns:a16="http://schemas.microsoft.com/office/drawing/2014/main" id="{F2F9DF0C-B97E-1311-E39D-DD4A8A7CD874}"/>
                </a:ext>
              </a:extLst>
            </p:cNvPr>
            <p:cNvSpPr/>
            <p:nvPr/>
          </p:nvSpPr>
          <p:spPr>
            <a:xfrm>
              <a:off x="5266606" y="5048517"/>
              <a:ext cx="826394" cy="367049"/>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pic>
        <p:nvPicPr>
          <p:cNvPr id="19" name="Picture 18">
            <a:extLst>
              <a:ext uri="{FF2B5EF4-FFF2-40B4-BE49-F238E27FC236}">
                <a16:creationId xmlns:a16="http://schemas.microsoft.com/office/drawing/2014/main" id="{DEC2FA22-E1F6-55DA-1932-D0E35E95B7C3}"/>
              </a:ext>
            </a:extLst>
          </p:cNvPr>
          <p:cNvPicPr>
            <a:picLocks noChangeAspect="1"/>
          </p:cNvPicPr>
          <p:nvPr/>
        </p:nvPicPr>
        <p:blipFill>
          <a:blip r:embed="rId4"/>
          <a:stretch>
            <a:fillRect/>
          </a:stretch>
        </p:blipFill>
        <p:spPr>
          <a:xfrm>
            <a:off x="8997121" y="87067"/>
            <a:ext cx="2993109" cy="3653841"/>
          </a:xfrm>
          <a:prstGeom prst="rect">
            <a:avLst/>
          </a:prstGeom>
        </p:spPr>
      </p:pic>
    </p:spTree>
    <p:extLst>
      <p:ext uri="{BB962C8B-B14F-4D97-AF65-F5344CB8AC3E}">
        <p14:creationId xmlns:p14="http://schemas.microsoft.com/office/powerpoint/2010/main" val="3274559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CBOW</a:t>
            </a:r>
            <a:r>
              <a:rPr lang="zh-CN" altLang="en-US" sz="2880" dirty="0">
                <a:solidFill>
                  <a:srgbClr val="0070C0"/>
                </a:solidFill>
                <a:latin typeface="微软雅黑" panose="020B0503020204020204" pitchFamily="34" charset="-122"/>
                <a:ea typeface="微软雅黑" panose="020B0503020204020204" pitchFamily="34" charset="-122"/>
              </a:rPr>
              <a:t>模型：层次</a:t>
            </a:r>
            <a:r>
              <a:rPr lang="en-US" altLang="zh-CN" sz="2880" dirty="0" err="1">
                <a:solidFill>
                  <a:srgbClr val="0070C0"/>
                </a:solidFill>
                <a:latin typeface="微软雅黑" panose="020B0503020204020204" pitchFamily="34" charset="-122"/>
                <a:ea typeface="微软雅黑" panose="020B0503020204020204" pitchFamily="34" charset="-122"/>
              </a:rPr>
              <a:t>Softmax</a:t>
            </a:r>
            <a:endParaRPr lang="zh-CN" altLang="en-US" sz="2880" dirty="0">
              <a:solidFill>
                <a:srgbClr val="0070C0"/>
              </a:solidFill>
              <a:latin typeface="微软雅黑" panose="020B0503020204020204" pitchFamily="34" charset="-122"/>
              <a:ea typeface="微软雅黑" panose="020B0503020204020204" pitchFamily="34" charset="-122"/>
            </a:endParaRP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206509"/>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pic>
        <p:nvPicPr>
          <p:cNvPr id="8" name="图片 7"/>
          <p:cNvPicPr>
            <a:picLocks noChangeAspect="1"/>
          </p:cNvPicPr>
          <p:nvPr/>
        </p:nvPicPr>
        <p:blipFill>
          <a:blip r:embed="rId4"/>
          <a:stretch>
            <a:fillRect/>
          </a:stretch>
        </p:blipFill>
        <p:spPr>
          <a:xfrm>
            <a:off x="3133725" y="2817178"/>
            <a:ext cx="4872355" cy="3105150"/>
          </a:xfrm>
          <a:prstGeom prst="rect">
            <a:avLst/>
          </a:prstGeom>
        </p:spPr>
      </p:pic>
      <p:sp>
        <p:nvSpPr>
          <p:cNvPr id="13" name="文本框 12"/>
          <p:cNvSpPr txBox="1"/>
          <p:nvPr/>
        </p:nvSpPr>
        <p:spPr>
          <a:xfrm>
            <a:off x="4648200" y="6202363"/>
            <a:ext cx="2179320" cy="337185"/>
          </a:xfrm>
          <a:prstGeom prst="rect">
            <a:avLst/>
          </a:prstGeom>
          <a:noFill/>
        </p:spPr>
        <p:txBody>
          <a:bodyPr wrap="square" rtlCol="0" anchor="t">
            <a:spAutoFit/>
          </a:bodyPr>
          <a:lstStyle/>
          <a:p>
            <a:pPr indent="0" algn="l">
              <a:buFont typeface="Wingdings" panose="05000000000000000000" charset="0"/>
              <a:buNone/>
            </a:pPr>
            <a:r>
              <a:rPr lang="zh-CN" altLang="en-US" sz="1600" dirty="0">
                <a:latin typeface="微软雅黑" panose="020B0503020204020204" pitchFamily="34" charset="-122"/>
                <a:ea typeface="微软雅黑" panose="020B0503020204020204" pitchFamily="34" charset="-122"/>
                <a:sym typeface="Wingdings 2" panose="05020102010507070707" charset="0"/>
              </a:rPr>
              <a:t>层次</a:t>
            </a:r>
            <a:r>
              <a:rPr lang="en-US" altLang="zh-CN" sz="1600" dirty="0">
                <a:latin typeface="微软雅黑" panose="020B0503020204020204" pitchFamily="34" charset="-122"/>
                <a:ea typeface="微软雅黑" panose="020B0503020204020204" pitchFamily="34" charset="-122"/>
                <a:sym typeface="Wingdings 2" panose="05020102010507070707" charset="0"/>
              </a:rPr>
              <a:t>Softmax</a:t>
            </a:r>
            <a:r>
              <a:rPr lang="zh-CN" altLang="en-US" sz="1600" dirty="0">
                <a:latin typeface="微软雅黑" panose="020B0503020204020204" pitchFamily="34" charset="-122"/>
                <a:ea typeface="微软雅黑" panose="020B0503020204020204" pitchFamily="34" charset="-122"/>
                <a:sym typeface="Wingdings 2" panose="05020102010507070707" charset="0"/>
              </a:rPr>
              <a:t>模型图</a:t>
            </a:r>
          </a:p>
        </p:txBody>
      </p:sp>
      <p:grpSp>
        <p:nvGrpSpPr>
          <p:cNvPr id="7" name="组合 34">
            <a:extLst>
              <a:ext uri="{FF2B5EF4-FFF2-40B4-BE49-F238E27FC236}">
                <a16:creationId xmlns:a16="http://schemas.microsoft.com/office/drawing/2014/main" id="{48114068-098C-EE62-E4DD-1782AB4F5E5C}"/>
              </a:ext>
            </a:extLst>
          </p:cNvPr>
          <p:cNvGrpSpPr/>
          <p:nvPr/>
        </p:nvGrpSpPr>
        <p:grpSpPr>
          <a:xfrm>
            <a:off x="583565" y="1202373"/>
            <a:ext cx="10845800" cy="368300"/>
            <a:chOff x="919" y="4824"/>
            <a:chExt cx="17080" cy="580"/>
          </a:xfrm>
        </p:grpSpPr>
        <p:sp>
          <p:nvSpPr>
            <p:cNvPr id="10" name="文本框 22">
              <a:extLst>
                <a:ext uri="{FF2B5EF4-FFF2-40B4-BE49-F238E27FC236}">
                  <a16:creationId xmlns:a16="http://schemas.microsoft.com/office/drawing/2014/main" id="{B2EA1340-DE9D-25FE-61D5-515340ECD675}"/>
                </a:ext>
              </a:extLst>
            </p:cNvPr>
            <p:cNvSpPr txBox="1"/>
            <p:nvPr/>
          </p:nvSpPr>
          <p:spPr>
            <a:xfrm>
              <a:off x="919" y="4824"/>
              <a:ext cx="17081" cy="580"/>
            </a:xfrm>
            <a:prstGeom prst="rect">
              <a:avLst/>
            </a:prstGeom>
            <a:noFill/>
          </p:spPr>
          <p:txBody>
            <a:bodyPr wrap="square" rtlCol="0" anchor="t">
              <a:spAutoFit/>
            </a:bodyPr>
            <a:lstStyle/>
            <a:p>
              <a:pPr marL="285750" indent="-285750" algn="l">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该模型存在的问题：</a:t>
              </a:r>
              <a:r>
                <a:rPr lang="en-US" altLang="zh-CN" dirty="0">
                  <a:latin typeface="微软雅黑" panose="020B0503020204020204" pitchFamily="34" charset="-122"/>
                  <a:ea typeface="微软雅黑" panose="020B0503020204020204" pitchFamily="34" charset="-122"/>
                  <a:sym typeface="Wingdings 2" panose="05020102010507070707" charset="0"/>
                </a:rPr>
                <a:t>Softmax</a:t>
              </a:r>
              <a:r>
                <a:rPr lang="zh-CN" altLang="en-US" dirty="0">
                  <a:latin typeface="微软雅黑" panose="020B0503020204020204" pitchFamily="34" charset="-122"/>
                  <a:ea typeface="微软雅黑" panose="020B0503020204020204" pitchFamily="34" charset="-122"/>
                  <a:sym typeface="Wingdings 2" panose="05020102010507070707" charset="0"/>
                </a:rPr>
                <a:t>每次需要计算</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中所有词的输出值，当</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很大时，</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的</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成本会非常高。</a:t>
              </a:r>
              <a:endParaRPr lang="en-US" altLang="zh-CN" dirty="0">
                <a:latin typeface="微软雅黑" panose="020B0503020204020204" pitchFamily="34" charset="-122"/>
                <a:ea typeface="微软雅黑" panose="020B0503020204020204" pitchFamily="34" charset="-122"/>
                <a:sym typeface="Wingdings 2" panose="05020102010507070707" charset="0"/>
              </a:endParaRPr>
            </a:p>
          </p:txBody>
        </p:sp>
        <p:pic>
          <p:nvPicPr>
            <p:cNvPr id="11" name="图片 24">
              <a:extLst>
                <a:ext uri="{FF2B5EF4-FFF2-40B4-BE49-F238E27FC236}">
                  <a16:creationId xmlns:a16="http://schemas.microsoft.com/office/drawing/2014/main" id="{ABD4F8D0-4489-8E82-6508-056A24A8D6C1}"/>
                </a:ext>
              </a:extLst>
            </p:cNvPr>
            <p:cNvPicPr>
              <a:picLocks noChangeAspect="1"/>
            </p:cNvPicPr>
            <p:nvPr/>
          </p:nvPicPr>
          <p:blipFill>
            <a:blip r:embed="rId5"/>
            <a:stretch>
              <a:fillRect/>
            </a:stretch>
          </p:blipFill>
          <p:spPr>
            <a:xfrm>
              <a:off x="8369" y="4909"/>
              <a:ext cx="360" cy="420"/>
            </a:xfrm>
            <a:prstGeom prst="rect">
              <a:avLst/>
            </a:prstGeom>
          </p:spPr>
        </p:pic>
        <p:pic>
          <p:nvPicPr>
            <p:cNvPr id="12" name="图片 25">
              <a:extLst>
                <a:ext uri="{FF2B5EF4-FFF2-40B4-BE49-F238E27FC236}">
                  <a16:creationId xmlns:a16="http://schemas.microsoft.com/office/drawing/2014/main" id="{92520916-338C-ED60-A6EC-0DD083EDD15E}"/>
                </a:ext>
              </a:extLst>
            </p:cNvPr>
            <p:cNvPicPr>
              <a:picLocks noChangeAspect="1"/>
            </p:cNvPicPr>
            <p:nvPr/>
          </p:nvPicPr>
          <p:blipFill>
            <a:blip r:embed="rId6"/>
            <a:stretch>
              <a:fillRect/>
            </a:stretch>
          </p:blipFill>
          <p:spPr>
            <a:xfrm>
              <a:off x="14077" y="4861"/>
              <a:ext cx="1065" cy="510"/>
            </a:xfrm>
            <a:prstGeom prst="rect">
              <a:avLst/>
            </a:prstGeom>
          </p:spPr>
        </p:pic>
        <p:pic>
          <p:nvPicPr>
            <p:cNvPr id="14" name="图片 26">
              <a:extLst>
                <a:ext uri="{FF2B5EF4-FFF2-40B4-BE49-F238E27FC236}">
                  <a16:creationId xmlns:a16="http://schemas.microsoft.com/office/drawing/2014/main" id="{64FEFA64-265F-8386-AB4F-EC0D45627774}"/>
                </a:ext>
              </a:extLst>
            </p:cNvPr>
            <p:cNvPicPr>
              <a:picLocks noChangeAspect="1"/>
            </p:cNvPicPr>
            <p:nvPr/>
          </p:nvPicPr>
          <p:blipFill>
            <a:blip r:embed="rId7"/>
            <a:stretch>
              <a:fillRect/>
            </a:stretch>
          </p:blipFill>
          <p:spPr>
            <a:xfrm>
              <a:off x="12428" y="4924"/>
              <a:ext cx="360" cy="420"/>
            </a:xfrm>
            <a:prstGeom prst="rect">
              <a:avLst/>
            </a:prstGeom>
          </p:spPr>
        </p:pic>
      </p:grpSp>
      <p:grpSp>
        <p:nvGrpSpPr>
          <p:cNvPr id="15" name="组合 32">
            <a:extLst>
              <a:ext uri="{FF2B5EF4-FFF2-40B4-BE49-F238E27FC236}">
                <a16:creationId xmlns:a16="http://schemas.microsoft.com/office/drawing/2014/main" id="{BBBE7F63-D7EB-E38A-1681-25AE5C6C6820}"/>
              </a:ext>
            </a:extLst>
          </p:cNvPr>
          <p:cNvGrpSpPr/>
          <p:nvPr/>
        </p:nvGrpSpPr>
        <p:grpSpPr>
          <a:xfrm>
            <a:off x="583565" y="1850708"/>
            <a:ext cx="10846435" cy="722630"/>
            <a:chOff x="894" y="4070"/>
            <a:chExt cx="17081" cy="1138"/>
          </a:xfrm>
        </p:grpSpPr>
        <p:sp>
          <p:nvSpPr>
            <p:cNvPr id="16" name="文本框 29">
              <a:extLst>
                <a:ext uri="{FF2B5EF4-FFF2-40B4-BE49-F238E27FC236}">
                  <a16:creationId xmlns:a16="http://schemas.microsoft.com/office/drawing/2014/main" id="{C8BF022B-463B-497D-B379-761C78862B5A}"/>
                </a:ext>
              </a:extLst>
            </p:cNvPr>
            <p:cNvSpPr txBox="1"/>
            <p:nvPr/>
          </p:nvSpPr>
          <p:spPr>
            <a:xfrm>
              <a:off x="894" y="4070"/>
              <a:ext cx="17081" cy="1016"/>
            </a:xfrm>
            <a:prstGeom prst="rect">
              <a:avLst/>
            </a:prstGeom>
            <a:noFill/>
          </p:spPr>
          <p:txBody>
            <a:bodyPr wrap="square" rtlCol="0" anchor="t">
              <a:spAutoFit/>
            </a:bodyPr>
            <a:lstStyle/>
            <a:p>
              <a:pPr marL="285750" indent="-285750" algn="l">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解决方法：</a:t>
              </a:r>
              <a:r>
                <a:rPr lang="zh-CN" altLang="en-US" dirty="0">
                  <a:latin typeface="微软雅黑" panose="020B0503020204020204" pitchFamily="34" charset="-122"/>
                  <a:ea typeface="微软雅黑" panose="020B0503020204020204" pitchFamily="34" charset="-122"/>
                  <a:sym typeface="Wingdings 2" panose="05020102010507070707" charset="0"/>
                </a:rPr>
                <a:t>在训练</a:t>
              </a:r>
              <a:r>
                <a:rPr lang="en-US" altLang="zh-CN" dirty="0">
                  <a:latin typeface="微软雅黑" panose="020B0503020204020204" pitchFamily="34" charset="-122"/>
                  <a:ea typeface="微软雅黑" panose="020B0503020204020204" pitchFamily="34" charset="-122"/>
                  <a:sym typeface="Wingdings 2" panose="05020102010507070707" charset="0"/>
                </a:rPr>
                <a:t>Word2Vec</a:t>
              </a:r>
              <a:r>
                <a:rPr lang="zh-CN" altLang="en-US" dirty="0">
                  <a:latin typeface="微软雅黑" panose="020B0503020204020204" pitchFamily="34" charset="-122"/>
                  <a:ea typeface="微软雅黑" panose="020B0503020204020204" pitchFamily="34" charset="-122"/>
                  <a:sym typeface="Wingdings 2" panose="05020102010507070707" charset="0"/>
                </a:rPr>
                <a:t>模型时，常用的训练技巧是通过构建哈夫曼树（</a:t>
              </a:r>
              <a:r>
                <a:rPr lang="en-US" altLang="zh-CN" dirty="0">
                  <a:latin typeface="微软雅黑" panose="020B0503020204020204" pitchFamily="34" charset="-122"/>
                  <a:ea typeface="微软雅黑" panose="020B0503020204020204" pitchFamily="34" charset="-122"/>
                  <a:sym typeface="Wingdings 2" panose="05020102010507070707" charset="0"/>
                </a:rPr>
                <a:t>Huffman Tree</a:t>
              </a:r>
              <a:r>
                <a:rPr lang="zh-CN" altLang="en-US" dirty="0">
                  <a:latin typeface="微软雅黑" panose="020B0503020204020204" pitchFamily="34" charset="-122"/>
                  <a:ea typeface="微软雅黑" panose="020B0503020204020204" pitchFamily="34" charset="-122"/>
                  <a:sym typeface="Wingdings 2" panose="05020102010507070707" charset="0"/>
                </a:rPr>
                <a:t>）进行层级</a:t>
              </a:r>
              <a:r>
                <a:rPr lang="en-US" altLang="zh-CN" dirty="0">
                  <a:latin typeface="微软雅黑" panose="020B0503020204020204" pitchFamily="34" charset="-122"/>
                  <a:ea typeface="微软雅黑" panose="020B0503020204020204" pitchFamily="34" charset="-122"/>
                  <a:sym typeface="Wingdings 2" panose="05020102010507070707" charset="0"/>
                </a:rPr>
                <a:t>Softmax</a:t>
              </a:r>
              <a:r>
                <a:rPr lang="zh-CN" altLang="en-US" dirty="0">
                  <a:latin typeface="微软雅黑" panose="020B0503020204020204" pitchFamily="34" charset="-122"/>
                  <a:ea typeface="微软雅黑" panose="020B0503020204020204" pitchFamily="34" charset="-122"/>
                  <a:sym typeface="Wingdings 2" panose="05020102010507070707" charset="0"/>
                </a:rPr>
                <a:t>，从而将复杂度从</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降低到</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a:t>
              </a:r>
              <a:endParaRPr lang="en-US" altLang="zh-CN" dirty="0">
                <a:latin typeface="微软雅黑" panose="020B0503020204020204" pitchFamily="34" charset="-122"/>
                <a:ea typeface="微软雅黑" panose="020B0503020204020204" pitchFamily="34" charset="-122"/>
                <a:sym typeface="Wingdings 2" panose="05020102010507070707" charset="0"/>
              </a:endParaRPr>
            </a:p>
          </p:txBody>
        </p:sp>
        <p:pic>
          <p:nvPicPr>
            <p:cNvPr id="18" name="图片 30">
              <a:extLst>
                <a:ext uri="{FF2B5EF4-FFF2-40B4-BE49-F238E27FC236}">
                  <a16:creationId xmlns:a16="http://schemas.microsoft.com/office/drawing/2014/main" id="{F15394FE-49D8-8CDA-DA37-31A7F6F18776}"/>
                </a:ext>
              </a:extLst>
            </p:cNvPr>
            <p:cNvPicPr>
              <a:picLocks noChangeAspect="1"/>
            </p:cNvPicPr>
            <p:nvPr/>
          </p:nvPicPr>
          <p:blipFill>
            <a:blip r:embed="rId8"/>
            <a:stretch>
              <a:fillRect/>
            </a:stretch>
          </p:blipFill>
          <p:spPr>
            <a:xfrm>
              <a:off x="5765" y="4578"/>
              <a:ext cx="1080" cy="630"/>
            </a:xfrm>
            <a:prstGeom prst="rect">
              <a:avLst/>
            </a:prstGeom>
          </p:spPr>
        </p:pic>
        <p:pic>
          <p:nvPicPr>
            <p:cNvPr id="19" name="图片 31">
              <a:extLst>
                <a:ext uri="{FF2B5EF4-FFF2-40B4-BE49-F238E27FC236}">
                  <a16:creationId xmlns:a16="http://schemas.microsoft.com/office/drawing/2014/main" id="{CCE55056-751C-028C-71B9-AFF4652A1AA5}"/>
                </a:ext>
              </a:extLst>
            </p:cNvPr>
            <p:cNvPicPr>
              <a:picLocks noChangeAspect="1"/>
            </p:cNvPicPr>
            <p:nvPr/>
          </p:nvPicPr>
          <p:blipFill>
            <a:blip r:embed="rId9"/>
            <a:stretch>
              <a:fillRect/>
            </a:stretch>
          </p:blipFill>
          <p:spPr>
            <a:xfrm>
              <a:off x="8091" y="4576"/>
              <a:ext cx="1635" cy="510"/>
            </a:xfrm>
            <a:prstGeom prst="rect">
              <a:avLst/>
            </a:prstGeom>
          </p:spPr>
        </p:pic>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CBOW</a:t>
            </a:r>
            <a:r>
              <a:rPr lang="zh-CN" altLang="en-US" sz="2880" dirty="0">
                <a:solidFill>
                  <a:srgbClr val="0070C0"/>
                </a:solidFill>
                <a:latin typeface="微软雅黑" panose="020B0503020204020204" pitchFamily="34" charset="-122"/>
                <a:ea typeface="微软雅黑" panose="020B0503020204020204" pitchFamily="34" charset="-122"/>
              </a:rPr>
              <a:t>模型：层次</a:t>
            </a:r>
            <a:r>
              <a:rPr lang="en-US" altLang="zh-CN" sz="2880" dirty="0" err="1">
                <a:solidFill>
                  <a:srgbClr val="0070C0"/>
                </a:solidFill>
                <a:latin typeface="微软雅黑" panose="020B0503020204020204" pitchFamily="34" charset="-122"/>
                <a:ea typeface="微软雅黑" panose="020B0503020204020204" pitchFamily="34" charset="-122"/>
              </a:rPr>
              <a:t>Softmax</a:t>
            </a:r>
            <a:endParaRPr lang="zh-CN" altLang="en-US" sz="2880" dirty="0">
              <a:solidFill>
                <a:srgbClr val="0070C0"/>
              </a:solidFill>
              <a:latin typeface="微软雅黑" panose="020B0503020204020204" pitchFamily="34" charset="-122"/>
              <a:ea typeface="微软雅黑" panose="020B0503020204020204" pitchFamily="34" charset="-122"/>
            </a:endParaRP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23" name="文本框 22"/>
          <p:cNvSpPr txBox="1"/>
          <p:nvPr/>
        </p:nvSpPr>
        <p:spPr>
          <a:xfrm>
            <a:off x="584835" y="1300480"/>
            <a:ext cx="10846435" cy="922020"/>
          </a:xfrm>
          <a:prstGeom prst="rect">
            <a:avLst/>
          </a:prstGeom>
          <a:noFill/>
        </p:spPr>
        <p:txBody>
          <a:bodyPr wrap="square" rtlCol="0" anchor="t">
            <a:spAutoFit/>
          </a:bodyPr>
          <a:lstStyle/>
          <a:p>
            <a:pPr marL="285750" indent="-285750" algn="just">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基于哈夫曼树的层次</a:t>
            </a: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Softmax</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原理：</a:t>
            </a:r>
            <a:r>
              <a:rPr lang="zh-CN" altLang="en-US" dirty="0">
                <a:latin typeface="微软雅黑" panose="020B0503020204020204" pitchFamily="34" charset="-122"/>
                <a:ea typeface="微软雅黑" panose="020B0503020204020204" pitchFamily="34" charset="-122"/>
                <a:sym typeface="Wingdings 2" panose="05020102010507070707" charset="0"/>
              </a:rPr>
              <a:t>层次</a:t>
            </a:r>
            <a:r>
              <a:rPr lang="en-US" altLang="zh-CN" dirty="0">
                <a:latin typeface="微软雅黑" panose="020B0503020204020204" pitchFamily="34" charset="-122"/>
                <a:ea typeface="微软雅黑" panose="020B0503020204020204" pitchFamily="34" charset="-122"/>
                <a:sym typeface="Wingdings 2" panose="05020102010507070707" charset="0"/>
              </a:rPr>
              <a:t>Softmax</a:t>
            </a:r>
            <a:r>
              <a:rPr lang="zh-CN" altLang="en-US" dirty="0">
                <a:latin typeface="微软雅黑" panose="020B0503020204020204" pitchFamily="34" charset="-122"/>
                <a:ea typeface="微软雅黑" panose="020B0503020204020204" pitchFamily="34" charset="-122"/>
                <a:sym typeface="Wingdings 2" panose="05020102010507070707" charset="0"/>
              </a:rPr>
              <a:t>通过将所有词汇构建成一颗二叉树，词表中的单词位于叶子节点，树中的每个内部节点表示一个二分类决策（左子树或右子树）。把</a:t>
            </a:r>
            <a:r>
              <a:rPr lang="en-US" altLang="zh-CN" dirty="0">
                <a:latin typeface="微软雅黑" panose="020B0503020204020204" pitchFamily="34" charset="-122"/>
                <a:ea typeface="微软雅黑" panose="020B0503020204020204" pitchFamily="34" charset="-122"/>
                <a:sym typeface="Wingdings 2" panose="05020102010507070707" charset="0"/>
              </a:rPr>
              <a:t>Context(</a:t>
            </a:r>
            <a:r>
              <a:rPr lang="zh-CN" altLang="en-US" dirty="0">
                <a:latin typeface="微软雅黑" panose="020B0503020204020204" pitchFamily="34" charset="-122"/>
                <a:ea typeface="微软雅黑" panose="020B0503020204020204" pitchFamily="34" charset="-122"/>
                <a:sym typeface="Wingdings 2" panose="05020102010507070707" charset="0"/>
              </a:rPr>
              <a:t>学习</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记为</a:t>
            </a:r>
            <a:r>
              <a:rPr lang="en-US" altLang="zh-CN" dirty="0">
                <a:latin typeface="微软雅黑" panose="020B0503020204020204" pitchFamily="34" charset="-122"/>
                <a:ea typeface="微软雅黑" panose="020B0503020204020204" pitchFamily="34" charset="-122"/>
                <a:sym typeface="Wingdings 2" panose="05020102010507070707" charset="0"/>
              </a:rPr>
              <a:t>C</a:t>
            </a:r>
            <a:r>
              <a:rPr lang="zh-CN" altLang="en-US" dirty="0">
                <a:latin typeface="微软雅黑" panose="020B0503020204020204" pitchFamily="34" charset="-122"/>
                <a:ea typeface="微软雅黑" panose="020B0503020204020204" pitchFamily="34" charset="-122"/>
                <a:sym typeface="Wingdings 2" panose="05020102010507070707" charset="0"/>
              </a:rPr>
              <a:t>，则词</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学习</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的路径如下：</a:t>
            </a:r>
            <a:r>
              <a:rPr lang="en-US" altLang="zh-CN" dirty="0">
                <a:latin typeface="微软雅黑" panose="020B0503020204020204" pitchFamily="34" charset="-122"/>
                <a:ea typeface="微软雅黑" panose="020B0503020204020204" pitchFamily="34" charset="-122"/>
                <a:sym typeface="Wingdings 2" panose="05020102010507070707" charset="0"/>
              </a:rPr>
              <a:t>            </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sp>
        <p:nvSpPr>
          <p:cNvPr id="4" name="文本框 3"/>
          <p:cNvSpPr txBox="1"/>
          <p:nvPr/>
        </p:nvSpPr>
        <p:spPr>
          <a:xfrm>
            <a:off x="664845" y="3450590"/>
            <a:ext cx="10367010" cy="368300"/>
          </a:xfrm>
          <a:prstGeom prst="rect">
            <a:avLst/>
          </a:prstGeom>
          <a:noFill/>
        </p:spPr>
        <p:txBody>
          <a:bodyPr wrap="square" rtlCol="0" anchor="t">
            <a:spAutoFit/>
          </a:bodyPr>
          <a:lstStyle/>
          <a:p>
            <a:pPr indent="0">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条件概率</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的计算公式如下：</a:t>
            </a:r>
          </a:p>
        </p:txBody>
      </p:sp>
      <p:pic>
        <p:nvPicPr>
          <p:cNvPr id="10" name="图片 9"/>
          <p:cNvPicPr>
            <a:picLocks noChangeAspect="1"/>
          </p:cNvPicPr>
          <p:nvPr/>
        </p:nvPicPr>
        <p:blipFill>
          <a:blip r:embed="rId4"/>
          <a:stretch>
            <a:fillRect/>
          </a:stretch>
        </p:blipFill>
        <p:spPr>
          <a:xfrm>
            <a:off x="4542155" y="2621915"/>
            <a:ext cx="5057775" cy="410210"/>
          </a:xfrm>
          <a:prstGeom prst="rect">
            <a:avLst/>
          </a:prstGeom>
        </p:spPr>
      </p:pic>
      <p:sp>
        <p:nvSpPr>
          <p:cNvPr id="19" name="文本框 18"/>
          <p:cNvSpPr txBox="1"/>
          <p:nvPr/>
        </p:nvSpPr>
        <p:spPr>
          <a:xfrm>
            <a:off x="2134870" y="2652395"/>
            <a:ext cx="1831975" cy="368300"/>
          </a:xfrm>
          <a:prstGeom prst="rect">
            <a:avLst/>
          </a:prstGeom>
          <a:noFill/>
        </p:spPr>
        <p:txBody>
          <a:bodyPr wrap="square">
            <a:spAutoFit/>
          </a:bodyPr>
          <a:lstStyle/>
          <a:p>
            <a:r>
              <a:rPr lang="zh-CN" altLang="en-US" dirty="0">
                <a:solidFill>
                  <a:srgbClr val="FF0000"/>
                </a:solidFill>
              </a:rPr>
              <a:t>词</a:t>
            </a:r>
            <a:r>
              <a:rPr lang="en-US" altLang="zh-CN" dirty="0">
                <a:solidFill>
                  <a:srgbClr val="FF0000"/>
                </a:solidFill>
              </a:rPr>
              <a:t>“</a:t>
            </a:r>
            <a:r>
              <a:rPr lang="zh-CN" altLang="en-US" dirty="0">
                <a:solidFill>
                  <a:srgbClr val="FF0000"/>
                </a:solidFill>
              </a:rPr>
              <a:t>学习</a:t>
            </a:r>
            <a:r>
              <a:rPr lang="en-US" altLang="zh-CN" dirty="0">
                <a:solidFill>
                  <a:srgbClr val="FF0000"/>
                </a:solidFill>
              </a:rPr>
              <a:t>”</a:t>
            </a:r>
            <a:r>
              <a:rPr lang="zh-CN" altLang="en-US" dirty="0">
                <a:solidFill>
                  <a:srgbClr val="FF0000"/>
                </a:solidFill>
              </a:rPr>
              <a:t>的路径</a:t>
            </a:r>
          </a:p>
        </p:txBody>
      </p:sp>
      <p:pic>
        <p:nvPicPr>
          <p:cNvPr id="11" name="图片 10"/>
          <p:cNvPicPr>
            <a:picLocks noChangeAspect="1"/>
          </p:cNvPicPr>
          <p:nvPr/>
        </p:nvPicPr>
        <p:blipFill>
          <a:blip r:embed="rId5"/>
          <a:stretch>
            <a:fillRect/>
          </a:stretch>
        </p:blipFill>
        <p:spPr>
          <a:xfrm>
            <a:off x="1337945" y="5135880"/>
            <a:ext cx="971550" cy="323850"/>
          </a:xfrm>
          <a:prstGeom prst="rect">
            <a:avLst/>
          </a:prstGeom>
        </p:spPr>
      </p:pic>
      <p:pic>
        <p:nvPicPr>
          <p:cNvPr id="12" name="图片 11"/>
          <p:cNvPicPr>
            <a:picLocks noChangeAspect="1"/>
          </p:cNvPicPr>
          <p:nvPr/>
        </p:nvPicPr>
        <p:blipFill>
          <a:blip r:embed="rId6"/>
          <a:stretch>
            <a:fillRect/>
          </a:stretch>
        </p:blipFill>
        <p:spPr>
          <a:xfrm>
            <a:off x="3376930" y="4248785"/>
            <a:ext cx="4448175" cy="342900"/>
          </a:xfrm>
          <a:prstGeom prst="rect">
            <a:avLst/>
          </a:prstGeom>
        </p:spPr>
      </p:pic>
      <p:sp>
        <p:nvSpPr>
          <p:cNvPr id="14" name="文本框 13"/>
          <p:cNvSpPr txBox="1"/>
          <p:nvPr/>
        </p:nvSpPr>
        <p:spPr>
          <a:xfrm>
            <a:off x="664845" y="5091430"/>
            <a:ext cx="10367010" cy="646331"/>
          </a:xfrm>
          <a:prstGeom prst="rect">
            <a:avLst/>
          </a:prstGeom>
          <a:noFill/>
        </p:spPr>
        <p:txBody>
          <a:bodyPr wrap="square" rtlCol="0" anchor="t">
            <a:spAutoFit/>
          </a:bodyPr>
          <a:lstStyle/>
          <a:p>
            <a:pPr indent="0" algn="just">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表示在非叶子节点</a:t>
            </a:r>
            <a:r>
              <a:rPr lang="en-US" altLang="zh-CN" dirty="0">
                <a:latin typeface="微软雅黑" panose="020B0503020204020204" pitchFamily="34" charset="-122"/>
                <a:ea typeface="微软雅黑" panose="020B0503020204020204" pitchFamily="34" charset="-122"/>
                <a:sym typeface="Wingdings 2" panose="05020102010507070707" charset="0"/>
              </a:rPr>
              <a:t>n</a:t>
            </a:r>
            <a:r>
              <a:rPr lang="zh-CN" altLang="en-US" dirty="0">
                <a:latin typeface="微软雅黑" panose="020B0503020204020204" pitchFamily="34" charset="-122"/>
                <a:ea typeface="微软雅黑" panose="020B0503020204020204" pitchFamily="34" charset="-122"/>
                <a:sym typeface="Wingdings 2" panose="05020102010507070707" charset="0"/>
              </a:rPr>
              <a:t>选择左子树的概率。显然</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。这个过程可视为一个逻辑回归问题，并用</a:t>
            </a:r>
            <a:r>
              <a:rPr lang="en-US" altLang="zh-CN" dirty="0">
                <a:latin typeface="微软雅黑" panose="020B0503020204020204" pitchFamily="34" charset="-122"/>
                <a:ea typeface="微软雅黑" panose="020B0503020204020204" pitchFamily="34" charset="-122"/>
                <a:sym typeface="Wingdings 2" panose="05020102010507070707" charset="0"/>
              </a:rPr>
              <a:t>Sigmoid</a:t>
            </a:r>
            <a:r>
              <a:rPr lang="zh-CN" altLang="en-US" dirty="0">
                <a:latin typeface="微软雅黑" panose="020B0503020204020204" pitchFamily="34" charset="-122"/>
                <a:ea typeface="微软雅黑" panose="020B0503020204020204" pitchFamily="34" charset="-122"/>
                <a:sym typeface="Wingdings 2" panose="05020102010507070707" charset="0"/>
              </a:rPr>
              <a:t>函数建模：</a:t>
            </a:r>
          </a:p>
        </p:txBody>
      </p:sp>
      <p:pic>
        <p:nvPicPr>
          <p:cNvPr id="15" name="图片 14"/>
          <p:cNvPicPr>
            <a:picLocks noChangeAspect="1"/>
          </p:cNvPicPr>
          <p:nvPr/>
        </p:nvPicPr>
        <p:blipFill>
          <a:blip r:embed="rId7"/>
          <a:stretch>
            <a:fillRect/>
          </a:stretch>
        </p:blipFill>
        <p:spPr>
          <a:xfrm>
            <a:off x="1710055" y="3471545"/>
            <a:ext cx="1095375" cy="333375"/>
          </a:xfrm>
          <a:prstGeom prst="rect">
            <a:avLst/>
          </a:prstGeom>
        </p:spPr>
      </p:pic>
      <p:grpSp>
        <p:nvGrpSpPr>
          <p:cNvPr id="20" name="组合 19"/>
          <p:cNvGrpSpPr/>
          <p:nvPr/>
        </p:nvGrpSpPr>
        <p:grpSpPr>
          <a:xfrm>
            <a:off x="6874510" y="5056505"/>
            <a:ext cx="2609850" cy="386080"/>
            <a:chOff x="10796" y="7948"/>
            <a:chExt cx="4110" cy="608"/>
          </a:xfrm>
        </p:grpSpPr>
        <p:pic>
          <p:nvPicPr>
            <p:cNvPr id="16" name="图片 15"/>
            <p:cNvPicPr>
              <a:picLocks noChangeAspect="1"/>
            </p:cNvPicPr>
            <p:nvPr/>
          </p:nvPicPr>
          <p:blipFill>
            <a:blip r:embed="rId8"/>
            <a:stretch>
              <a:fillRect/>
            </a:stretch>
          </p:blipFill>
          <p:spPr>
            <a:xfrm>
              <a:off x="10796" y="7948"/>
              <a:ext cx="1935" cy="600"/>
            </a:xfrm>
            <a:prstGeom prst="rect">
              <a:avLst/>
            </a:prstGeom>
          </p:spPr>
        </p:pic>
        <p:pic>
          <p:nvPicPr>
            <p:cNvPr id="18" name="图片 17"/>
            <p:cNvPicPr>
              <a:picLocks noChangeAspect="1"/>
            </p:cNvPicPr>
            <p:nvPr/>
          </p:nvPicPr>
          <p:blipFill>
            <a:blip r:embed="rId9"/>
            <a:stretch>
              <a:fillRect/>
            </a:stretch>
          </p:blipFill>
          <p:spPr>
            <a:xfrm>
              <a:off x="12776" y="8032"/>
              <a:ext cx="2130" cy="525"/>
            </a:xfrm>
            <a:prstGeom prst="rect">
              <a:avLst/>
            </a:prstGeom>
          </p:spPr>
        </p:pic>
      </p:grpSp>
      <p:pic>
        <p:nvPicPr>
          <p:cNvPr id="21" name="图片 20"/>
          <p:cNvPicPr>
            <a:picLocks noChangeAspect="1"/>
          </p:cNvPicPr>
          <p:nvPr/>
        </p:nvPicPr>
        <p:blipFill>
          <a:blip r:embed="rId10"/>
          <a:stretch>
            <a:fillRect/>
          </a:stretch>
        </p:blipFill>
        <p:spPr>
          <a:xfrm>
            <a:off x="4031615" y="2703195"/>
            <a:ext cx="351155" cy="228600"/>
          </a:xfrm>
          <a:prstGeom prst="rect">
            <a:avLst/>
          </a:prstGeom>
        </p:spPr>
      </p:pic>
      <p:pic>
        <p:nvPicPr>
          <p:cNvPr id="7" name="图片 7">
            <a:extLst>
              <a:ext uri="{FF2B5EF4-FFF2-40B4-BE49-F238E27FC236}">
                <a16:creationId xmlns:a16="http://schemas.microsoft.com/office/drawing/2014/main" id="{CF318ACE-D422-B0F1-6ACE-9C3D91A9E488}"/>
              </a:ext>
            </a:extLst>
          </p:cNvPr>
          <p:cNvPicPr>
            <a:picLocks noChangeAspect="1"/>
          </p:cNvPicPr>
          <p:nvPr/>
        </p:nvPicPr>
        <p:blipFill>
          <a:blip r:embed="rId11"/>
          <a:stretch>
            <a:fillRect/>
          </a:stretch>
        </p:blipFill>
        <p:spPr>
          <a:xfrm>
            <a:off x="8400414" y="2947630"/>
            <a:ext cx="3134879" cy="199785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CBOW</a:t>
            </a:r>
            <a:r>
              <a:rPr lang="zh-CN" altLang="en-US" sz="2880" dirty="0">
                <a:solidFill>
                  <a:srgbClr val="0070C0"/>
                </a:solidFill>
                <a:latin typeface="微软雅黑" panose="020B0503020204020204" pitchFamily="34" charset="-122"/>
                <a:ea typeface="微软雅黑" panose="020B0503020204020204" pitchFamily="34" charset="-122"/>
              </a:rPr>
              <a:t>模型：层次</a:t>
            </a:r>
            <a:r>
              <a:rPr lang="en-US" altLang="zh-CN" sz="2880" dirty="0" err="1">
                <a:solidFill>
                  <a:srgbClr val="0070C0"/>
                </a:solidFill>
                <a:latin typeface="微软雅黑" panose="020B0503020204020204" pitchFamily="34" charset="-122"/>
                <a:ea typeface="微软雅黑" panose="020B0503020204020204" pitchFamily="34" charset="-122"/>
              </a:rPr>
              <a:t>Softmax</a:t>
            </a:r>
            <a:endParaRPr lang="zh-CN" altLang="en-US" sz="2880" dirty="0">
              <a:solidFill>
                <a:srgbClr val="0070C0"/>
              </a:solidFill>
              <a:latin typeface="微软雅黑" panose="020B0503020204020204" pitchFamily="34" charset="-122"/>
              <a:ea typeface="微软雅黑" panose="020B0503020204020204" pitchFamily="34" charset="-122"/>
            </a:endParaRP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pic>
        <p:nvPicPr>
          <p:cNvPr id="8" name="图片 7"/>
          <p:cNvPicPr>
            <a:picLocks noChangeAspect="1"/>
          </p:cNvPicPr>
          <p:nvPr/>
        </p:nvPicPr>
        <p:blipFill>
          <a:blip r:embed="rId4"/>
          <a:stretch>
            <a:fillRect/>
          </a:stretch>
        </p:blipFill>
        <p:spPr>
          <a:xfrm>
            <a:off x="3825875" y="1405255"/>
            <a:ext cx="3933825" cy="390525"/>
          </a:xfrm>
          <a:prstGeom prst="rect">
            <a:avLst/>
          </a:prstGeom>
        </p:spPr>
      </p:pic>
      <p:sp>
        <p:nvSpPr>
          <p:cNvPr id="9" name="文本框 8"/>
          <p:cNvSpPr txBox="1"/>
          <p:nvPr/>
        </p:nvSpPr>
        <p:spPr>
          <a:xfrm>
            <a:off x="583565" y="2111375"/>
            <a:ext cx="10367010" cy="645160"/>
          </a:xfrm>
          <a:prstGeom prst="rect">
            <a:avLst/>
          </a:prstGeom>
          <a:noFill/>
        </p:spPr>
        <p:txBody>
          <a:bodyPr wrap="square" rtlCol="0" anchor="t">
            <a:spAutoFit/>
          </a:bodyPr>
          <a:lstStyle/>
          <a:p>
            <a:pPr indent="0" algn="just">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为非叶子节点</a:t>
            </a:r>
            <a:r>
              <a:rPr lang="en-US" altLang="zh-CN" dirty="0">
                <a:latin typeface="微软雅黑" panose="020B0503020204020204" pitchFamily="34" charset="-122"/>
                <a:ea typeface="微软雅黑" panose="020B0503020204020204" pitchFamily="34" charset="-122"/>
                <a:sym typeface="Wingdings 2" panose="05020102010507070707" charset="0"/>
              </a:rPr>
              <a:t>n</a:t>
            </a:r>
            <a:r>
              <a:rPr lang="zh-CN" altLang="en-US" dirty="0">
                <a:latin typeface="微软雅黑" panose="020B0503020204020204" pitchFamily="34" charset="-122"/>
                <a:ea typeface="微软雅黑" panose="020B0503020204020204" pitchFamily="34" charset="-122"/>
                <a:sym typeface="Wingdings 2" panose="05020102010507070707" charset="0"/>
              </a:rPr>
              <a:t>的待训练参数。</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仅依赖从根节点到目标词路径中的非叶子节点，其复杂度为</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a:t>
            </a:r>
          </a:p>
        </p:txBody>
      </p:sp>
      <p:pic>
        <p:nvPicPr>
          <p:cNvPr id="13" name="图片 12"/>
          <p:cNvPicPr>
            <a:picLocks noChangeAspect="1"/>
          </p:cNvPicPr>
          <p:nvPr/>
        </p:nvPicPr>
        <p:blipFill>
          <a:blip r:embed="rId5"/>
          <a:stretch>
            <a:fillRect/>
          </a:stretch>
        </p:blipFill>
        <p:spPr>
          <a:xfrm>
            <a:off x="1362710" y="2139950"/>
            <a:ext cx="295275" cy="304800"/>
          </a:xfrm>
          <a:prstGeom prst="rect">
            <a:avLst/>
          </a:prstGeom>
        </p:spPr>
      </p:pic>
      <p:pic>
        <p:nvPicPr>
          <p:cNvPr id="22" name="图片 21"/>
          <p:cNvPicPr>
            <a:picLocks noChangeAspect="1"/>
          </p:cNvPicPr>
          <p:nvPr/>
        </p:nvPicPr>
        <p:blipFill>
          <a:blip r:embed="rId6"/>
          <a:stretch>
            <a:fillRect/>
          </a:stretch>
        </p:blipFill>
        <p:spPr>
          <a:xfrm>
            <a:off x="4845050" y="2130425"/>
            <a:ext cx="1933575" cy="342900"/>
          </a:xfrm>
          <a:prstGeom prst="rect">
            <a:avLst/>
          </a:prstGeom>
        </p:spPr>
      </p:pic>
      <p:pic>
        <p:nvPicPr>
          <p:cNvPr id="24" name="图片 23"/>
          <p:cNvPicPr>
            <a:picLocks noChangeAspect="1"/>
          </p:cNvPicPr>
          <p:nvPr/>
        </p:nvPicPr>
        <p:blipFill>
          <a:blip r:embed="rId7"/>
          <a:stretch>
            <a:fillRect/>
          </a:stretch>
        </p:blipFill>
        <p:spPr>
          <a:xfrm>
            <a:off x="2783205" y="2413635"/>
            <a:ext cx="685800" cy="342900"/>
          </a:xfrm>
          <a:prstGeom prst="rect">
            <a:avLst/>
          </a:prstGeom>
        </p:spPr>
      </p:pic>
      <p:pic>
        <p:nvPicPr>
          <p:cNvPr id="4100" name="Picture 4" descr="undefined">
            <a:extLst>
              <a:ext uri="{FF2B5EF4-FFF2-40B4-BE49-F238E27FC236}">
                <a16:creationId xmlns:a16="http://schemas.microsoft.com/office/drawing/2014/main" id="{BAA64B69-90BC-E8B7-6A9E-632FEA9AD44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3565" y="2775585"/>
            <a:ext cx="5848028" cy="389868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8E815F32-2C2B-25F4-7A91-2646036CE99C}"/>
              </a:ext>
            </a:extLst>
          </p:cNvPr>
          <p:cNvPicPr>
            <a:picLocks noChangeAspect="1"/>
          </p:cNvPicPr>
          <p:nvPr/>
        </p:nvPicPr>
        <p:blipFill>
          <a:blip r:embed="rId9"/>
          <a:stretch>
            <a:fillRect/>
          </a:stretch>
        </p:blipFill>
        <p:spPr>
          <a:xfrm>
            <a:off x="6322968" y="3429000"/>
            <a:ext cx="5282081" cy="1415693"/>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89549-C086-A1FF-9622-DCD59BE4F7FC}"/>
            </a:ext>
          </a:extLst>
        </p:cNvPr>
        <p:cNvGrpSpPr/>
        <p:nvPr/>
      </p:nvGrpSpPr>
      <p:grpSpPr>
        <a:xfrm>
          <a:off x="0" y="0"/>
          <a:ext cx="0" cy="0"/>
          <a:chOff x="0" y="0"/>
          <a:chExt cx="0" cy="0"/>
        </a:xfrm>
      </p:grpSpPr>
      <p:sp>
        <p:nvSpPr>
          <p:cNvPr id="17" name="object 3">
            <a:extLst>
              <a:ext uri="{FF2B5EF4-FFF2-40B4-BE49-F238E27FC236}">
                <a16:creationId xmlns:a16="http://schemas.microsoft.com/office/drawing/2014/main" id="{037B1B91-315F-6758-120A-537383C0CDBB}"/>
              </a:ext>
            </a:extLst>
          </p:cNvPr>
          <p:cNvSpPr txBox="1">
            <a:spLocks noGrp="1"/>
          </p:cNvSpPr>
          <p:nvPr>
            <p:ph type="title"/>
          </p:nvPr>
        </p:nvSpPr>
        <p:spPr>
          <a:xfrm>
            <a:off x="583565" y="458452"/>
            <a:ext cx="6672072" cy="507831"/>
          </a:xfrm>
          <a:prstGeom prst="rect">
            <a:avLst/>
          </a:prstGeom>
        </p:spPr>
        <p:txBody>
          <a:bodyPr vert="horz" wrap="square" lIns="0" tIns="15240" rIns="0" bIns="0" rtlCol="0">
            <a:spAutoFit/>
          </a:bodyPr>
          <a:lstStyle/>
          <a:p>
            <a:pPr marL="12700">
              <a:spcBef>
                <a:spcPts val="100"/>
              </a:spcBef>
            </a:pPr>
            <a:r>
              <a:rPr lang="en-US" sz="3200" dirty="0" err="1"/>
              <a:t>为什么使用Huffman</a:t>
            </a:r>
            <a:r>
              <a:rPr lang="en-US" sz="3200" dirty="0"/>
              <a:t> Tree?</a:t>
            </a:r>
            <a:endParaRPr lang="zh-CN" altLang="en-US" sz="2880" dirty="0">
              <a:solidFill>
                <a:srgbClr val="0070C0"/>
              </a:solidFill>
              <a:latin typeface="微软雅黑" panose="020B0503020204020204" pitchFamily="34" charset="-122"/>
              <a:ea typeface="微软雅黑" panose="020B0503020204020204" pitchFamily="34" charset="-122"/>
            </a:endParaRPr>
          </a:p>
        </p:txBody>
      </p:sp>
      <p:sp>
        <p:nvSpPr>
          <p:cNvPr id="3" name="等腰三角形 2">
            <a:extLst>
              <a:ext uri="{FF2B5EF4-FFF2-40B4-BE49-F238E27FC236}">
                <a16:creationId xmlns:a16="http://schemas.microsoft.com/office/drawing/2014/main" id="{8EF3664F-793C-77A0-542E-1EDD49817FD9}"/>
              </a:ext>
            </a:extLst>
          </p:cNvPr>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078D05DF-E0D9-5A5F-54A2-1BFF494BA557}"/>
              </a:ext>
            </a:extLst>
          </p:cNvPr>
          <p:cNvGrpSpPr/>
          <p:nvPr/>
        </p:nvGrpSpPr>
        <p:grpSpPr>
          <a:xfrm>
            <a:off x="8754534" y="171584"/>
            <a:ext cx="3041015" cy="643436"/>
            <a:chOff x="6096000" y="266700"/>
            <a:chExt cx="3041015" cy="643436"/>
          </a:xfrm>
        </p:grpSpPr>
        <p:pic>
          <p:nvPicPr>
            <p:cNvPr id="5" name="图片 4">
              <a:extLst>
                <a:ext uri="{FF2B5EF4-FFF2-40B4-BE49-F238E27FC236}">
                  <a16:creationId xmlns:a16="http://schemas.microsoft.com/office/drawing/2014/main" id="{5ED4E99D-ABB5-121B-6948-F35DB54FA8F3}"/>
                </a:ext>
              </a:extLst>
            </p:cNvPr>
            <p:cNvPicPr>
              <a:picLocks noChangeAspect="1"/>
            </p:cNvPicPr>
            <p:nvPr/>
          </p:nvPicPr>
          <p:blipFill>
            <a:blip r:embed="rId3"/>
            <a:stretch>
              <a:fillRect/>
            </a:stretch>
          </p:blipFill>
          <p:spPr>
            <a:xfrm>
              <a:off x="6096000" y="266700"/>
              <a:ext cx="3041015" cy="565044"/>
            </a:xfrm>
            <a:prstGeom prst="rect">
              <a:avLst/>
            </a:prstGeom>
          </p:spPr>
        </p:pic>
        <p:sp>
          <p:nvSpPr>
            <p:cNvPr id="6" name="矩形 5">
              <a:extLst>
                <a:ext uri="{FF2B5EF4-FFF2-40B4-BE49-F238E27FC236}">
                  <a16:creationId xmlns:a16="http://schemas.microsoft.com/office/drawing/2014/main" id="{9D456ADE-6083-5920-31DF-F074BA3E10E9}"/>
                </a:ext>
              </a:extLst>
            </p:cNvPr>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11" name="TextBox 10">
            <a:extLst>
              <a:ext uri="{FF2B5EF4-FFF2-40B4-BE49-F238E27FC236}">
                <a16:creationId xmlns:a16="http://schemas.microsoft.com/office/drawing/2014/main" id="{BC97932B-1C73-ECF1-C064-1795DD72EB73}"/>
              </a:ext>
            </a:extLst>
          </p:cNvPr>
          <p:cNvSpPr txBox="1"/>
          <p:nvPr/>
        </p:nvSpPr>
        <p:spPr>
          <a:xfrm>
            <a:off x="583565" y="1410182"/>
            <a:ext cx="7012725"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err="1"/>
              <a:t>高频词路径短</a:t>
            </a:r>
            <a:endParaRPr lang="en-US" sz="2400" dirty="0"/>
          </a:p>
          <a:p>
            <a:pPr marL="342900" indent="-342900">
              <a:buFont typeface="Arial" panose="020B0604020202020204" pitchFamily="34" charset="0"/>
              <a:buChar char="•"/>
            </a:pPr>
            <a:r>
              <a:rPr lang="en-US" sz="2400" dirty="0" err="1"/>
              <a:t>期望高度是log</a:t>
            </a:r>
            <a:r>
              <a:rPr lang="en-US" sz="2400" dirty="0"/>
              <a:t>(V)</a:t>
            </a:r>
          </a:p>
        </p:txBody>
      </p:sp>
      <p:pic>
        <p:nvPicPr>
          <p:cNvPr id="4098" name="Picture 2">
            <a:extLst>
              <a:ext uri="{FF2B5EF4-FFF2-40B4-BE49-F238E27FC236}">
                <a16:creationId xmlns:a16="http://schemas.microsoft.com/office/drawing/2014/main" id="{23CD76B7-F8E7-5FDC-7C37-75F46F10EA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927" y="2048623"/>
            <a:ext cx="5278254" cy="339919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821EC5D-4C93-3D09-5E16-53AC096FC01A}"/>
              </a:ext>
            </a:extLst>
          </p:cNvPr>
          <p:cNvSpPr txBox="1"/>
          <p:nvPr/>
        </p:nvSpPr>
        <p:spPr>
          <a:xfrm>
            <a:off x="4269229" y="5686149"/>
            <a:ext cx="4260144" cy="400110"/>
          </a:xfrm>
          <a:prstGeom prst="rect">
            <a:avLst/>
          </a:prstGeom>
          <a:noFill/>
        </p:spPr>
        <p:txBody>
          <a:bodyPr wrap="square">
            <a:spAutoFit/>
          </a:bodyPr>
          <a:lstStyle/>
          <a:p>
            <a:r>
              <a:rPr lang="en-US" sz="2000" dirty="0"/>
              <a:t>this is an example of a </a:t>
            </a:r>
            <a:r>
              <a:rPr lang="en-US" sz="2000" dirty="0" err="1"/>
              <a:t>huffman</a:t>
            </a:r>
            <a:r>
              <a:rPr lang="en-US" sz="2000" dirty="0"/>
              <a:t> tree</a:t>
            </a:r>
          </a:p>
        </p:txBody>
      </p:sp>
      <p:sp>
        <p:nvSpPr>
          <p:cNvPr id="14" name="TextBox 13">
            <a:extLst>
              <a:ext uri="{FF2B5EF4-FFF2-40B4-BE49-F238E27FC236}">
                <a16:creationId xmlns:a16="http://schemas.microsoft.com/office/drawing/2014/main" id="{9C5E3851-8318-5BFC-1826-A40CA1231F51}"/>
              </a:ext>
            </a:extLst>
          </p:cNvPr>
          <p:cNvSpPr txBox="1"/>
          <p:nvPr/>
        </p:nvSpPr>
        <p:spPr>
          <a:xfrm>
            <a:off x="301155" y="6169709"/>
            <a:ext cx="6098146" cy="646331"/>
          </a:xfrm>
          <a:prstGeom prst="rect">
            <a:avLst/>
          </a:prstGeom>
          <a:noFill/>
        </p:spPr>
        <p:txBody>
          <a:bodyPr wrap="square">
            <a:spAutoFit/>
          </a:bodyPr>
          <a:lstStyle/>
          <a:p>
            <a:r>
              <a:rPr lang="en-US" dirty="0">
                <a:hlinkClick r:id="rId5"/>
              </a:rPr>
              <a:t>https://en.wikipedia.org/wiki/Huffman_coding</a:t>
            </a:r>
            <a:endParaRPr lang="en-US" dirty="0"/>
          </a:p>
          <a:p>
            <a:endParaRPr lang="en-US" dirty="0"/>
          </a:p>
        </p:txBody>
      </p:sp>
    </p:spTree>
    <p:extLst>
      <p:ext uri="{BB962C8B-B14F-4D97-AF65-F5344CB8AC3E}">
        <p14:creationId xmlns:p14="http://schemas.microsoft.com/office/powerpoint/2010/main" val="18101709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2.3.2Skip-gram</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4" name="文本框 3"/>
          <p:cNvSpPr txBox="1"/>
          <p:nvPr/>
        </p:nvSpPr>
        <p:spPr>
          <a:xfrm>
            <a:off x="583565" y="1132205"/>
            <a:ext cx="10846435" cy="645160"/>
          </a:xfrm>
          <a:prstGeom prst="rect">
            <a:avLst/>
          </a:prstGeom>
          <a:noFill/>
        </p:spPr>
        <p:txBody>
          <a:bodyPr wrap="square" rtlCol="0" anchor="t">
            <a:spAutoFit/>
          </a:bodyPr>
          <a:lstStyle/>
          <a:p>
            <a:pPr marL="285750" indent="-285750" algn="l">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Skip-gram</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zh-CN" altLang="en-US" dirty="0">
                <a:latin typeface="微软雅黑" panose="020B0503020204020204" pitchFamily="34" charset="-122"/>
                <a:ea typeface="微软雅黑" panose="020B0503020204020204" pitchFamily="34" charset="-122"/>
                <a:sym typeface="Wingdings 2" panose="05020102010507070707" charset="0"/>
              </a:rPr>
              <a:t>与</a:t>
            </a:r>
            <a:r>
              <a:rPr lang="en-US" altLang="zh-CN" dirty="0">
                <a:latin typeface="微软雅黑" panose="020B0503020204020204" pitchFamily="34" charset="-122"/>
                <a:ea typeface="微软雅黑" panose="020B0503020204020204" pitchFamily="34" charset="-122"/>
                <a:sym typeface="Wingdings 2" panose="05020102010507070707" charset="0"/>
              </a:rPr>
              <a:t>CBOW</a:t>
            </a:r>
            <a:r>
              <a:rPr lang="zh-CN" altLang="en-US" dirty="0">
                <a:latin typeface="微软雅黑" panose="020B0503020204020204" pitchFamily="34" charset="-122"/>
                <a:ea typeface="微软雅黑" panose="020B0503020204020204" pitchFamily="34" charset="-122"/>
                <a:sym typeface="Wingdings 2" panose="05020102010507070707" charset="0"/>
              </a:rPr>
              <a:t>模型不同，</a:t>
            </a:r>
            <a:r>
              <a:rPr lang="en-US" altLang="zh-CN" dirty="0">
                <a:latin typeface="微软雅黑" panose="020B0503020204020204" pitchFamily="34" charset="-122"/>
                <a:ea typeface="微软雅黑" panose="020B0503020204020204" pitchFamily="34" charset="-122"/>
                <a:sym typeface="Wingdings 2" panose="05020102010507070707" charset="0"/>
              </a:rPr>
              <a:t>Skip-gram</a:t>
            </a:r>
            <a:r>
              <a:rPr lang="zh-CN" altLang="en-US" dirty="0">
                <a:latin typeface="微软雅黑" panose="020B0503020204020204" pitchFamily="34" charset="-122"/>
                <a:ea typeface="微软雅黑" panose="020B0503020204020204" pitchFamily="34" charset="-122"/>
                <a:sym typeface="Wingdings 2" panose="05020102010507070707" charset="0"/>
              </a:rPr>
              <a:t>模型以单个词作为输入，以预测其上下文环境中出现的多个词，其模型架构如下图所示：</a:t>
            </a:r>
          </a:p>
        </p:txBody>
      </p:sp>
      <p:pic>
        <p:nvPicPr>
          <p:cNvPr id="10" name="图片 9"/>
          <p:cNvPicPr>
            <a:picLocks noChangeAspect="1"/>
          </p:cNvPicPr>
          <p:nvPr/>
        </p:nvPicPr>
        <p:blipFill>
          <a:blip r:embed="rId4"/>
          <a:stretch>
            <a:fillRect/>
          </a:stretch>
        </p:blipFill>
        <p:spPr>
          <a:xfrm>
            <a:off x="1985010" y="2038985"/>
            <a:ext cx="7677150" cy="3067050"/>
          </a:xfrm>
          <a:prstGeom prst="rect">
            <a:avLst/>
          </a:prstGeom>
        </p:spPr>
      </p:pic>
      <p:sp>
        <p:nvSpPr>
          <p:cNvPr id="11" name="文本框 10"/>
          <p:cNvSpPr txBox="1"/>
          <p:nvPr/>
        </p:nvSpPr>
        <p:spPr>
          <a:xfrm>
            <a:off x="568325" y="5735955"/>
            <a:ext cx="10846435" cy="368300"/>
          </a:xfrm>
          <a:prstGeom prst="rect">
            <a:avLst/>
          </a:prstGeom>
          <a:noFill/>
        </p:spPr>
        <p:txBody>
          <a:bodyPr wrap="square" rtlCol="0" anchor="t">
            <a:spAutoFit/>
          </a:bodyPr>
          <a:lstStyle/>
          <a:p>
            <a:pPr indent="0" algn="l">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Wingdings 2" panose="05020102010507070707" charset="0"/>
              </a:rPr>
              <a:t>Skip-gram</a:t>
            </a:r>
            <a:r>
              <a:rPr lang="zh-CN" altLang="en-US" dirty="0">
                <a:latin typeface="微软雅黑" panose="020B0503020204020204" pitchFamily="34" charset="-122"/>
                <a:ea typeface="微软雅黑" panose="020B0503020204020204" pitchFamily="34" charset="-122"/>
                <a:sym typeface="Wingdings 2" panose="05020102010507070707" charset="0"/>
              </a:rPr>
              <a:t>模型包括输入层、投影层和输出层。其中，各层功能如下：</a:t>
            </a:r>
          </a:p>
        </p:txBody>
      </p:sp>
      <p:sp>
        <p:nvSpPr>
          <p:cNvPr id="12" name="文本框 11"/>
          <p:cNvSpPr txBox="1"/>
          <p:nvPr/>
        </p:nvSpPr>
        <p:spPr>
          <a:xfrm>
            <a:off x="4773930" y="5252085"/>
            <a:ext cx="2099310" cy="337185"/>
          </a:xfrm>
          <a:prstGeom prst="rect">
            <a:avLst/>
          </a:prstGeom>
          <a:noFill/>
        </p:spPr>
        <p:txBody>
          <a:bodyPr wrap="square" rtlCol="0" anchor="t">
            <a:spAutoFit/>
          </a:bodyPr>
          <a:lstStyle/>
          <a:p>
            <a:pPr indent="0" algn="l">
              <a:buFont typeface="Wingdings" panose="05000000000000000000" charset="0"/>
              <a:buNone/>
            </a:pPr>
            <a:r>
              <a:rPr lang="en-US" altLang="zh-CN" sz="1600" dirty="0">
                <a:latin typeface="微软雅黑" panose="020B0503020204020204" pitchFamily="34" charset="-122"/>
                <a:ea typeface="微软雅黑" panose="020B0503020204020204" pitchFamily="34" charset="-122"/>
                <a:sym typeface="Wingdings 2" panose="05020102010507070707" charset="0"/>
              </a:rPr>
              <a:t>Skip-gram</a:t>
            </a:r>
            <a:r>
              <a:rPr lang="zh-CN" altLang="en-US" sz="1600" dirty="0">
                <a:latin typeface="微软雅黑" panose="020B0503020204020204" pitchFamily="34" charset="-122"/>
                <a:ea typeface="微软雅黑" panose="020B0503020204020204" pitchFamily="34" charset="-122"/>
                <a:sym typeface="Wingdings 2" panose="05020102010507070707" charset="0"/>
              </a:rPr>
              <a:t>模型图</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2.3.2Skip-gram</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文本框 7"/>
          <p:cNvSpPr txBox="1"/>
          <p:nvPr/>
        </p:nvSpPr>
        <p:spPr>
          <a:xfrm>
            <a:off x="583565" y="1243330"/>
            <a:ext cx="10367010" cy="368300"/>
          </a:xfrm>
          <a:prstGeom prst="rect">
            <a:avLst/>
          </a:prstGeom>
          <a:noFill/>
        </p:spPr>
        <p:txBody>
          <a:bodyPr wrap="square" rtlCol="0" anchor="t">
            <a:spAutoFit/>
          </a:bodyPr>
          <a:lstStyle/>
          <a:p>
            <a:pPr indent="0">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输入层：</a:t>
            </a:r>
            <a:r>
              <a:rPr lang="zh-CN" altLang="en-US" dirty="0">
                <a:latin typeface="微软雅黑" panose="020B0503020204020204" pitchFamily="34" charset="-122"/>
                <a:ea typeface="微软雅黑" panose="020B0503020204020204" pitchFamily="34" charset="-122"/>
                <a:sym typeface="Wingdings 2" panose="05020102010507070707" charset="0"/>
              </a:rPr>
              <a:t>输入</a:t>
            </a:r>
            <a:r>
              <a:rPr lang="en-US" altLang="zh-CN" dirty="0">
                <a:latin typeface="微软雅黑" panose="020B0503020204020204" pitchFamily="34" charset="-122"/>
                <a:ea typeface="微软雅黑" panose="020B0503020204020204" pitchFamily="34" charset="-122"/>
                <a:sym typeface="Wingdings 2" panose="05020102010507070707" charset="0"/>
              </a:rPr>
              <a:t>X</a:t>
            </a:r>
            <a:r>
              <a:rPr lang="zh-CN" altLang="en-US" dirty="0">
                <a:latin typeface="微软雅黑" panose="020B0503020204020204" pitchFamily="34" charset="-122"/>
                <a:ea typeface="微软雅黑" panose="020B0503020204020204" pitchFamily="34" charset="-122"/>
                <a:sym typeface="Wingdings 2" panose="05020102010507070707" charset="0"/>
              </a:rPr>
              <a:t>是单词</a:t>
            </a:r>
            <a:r>
              <a:rPr lang="en-US" altLang="zh-CN" dirty="0">
                <a:latin typeface="微软雅黑" panose="020B0503020204020204" pitchFamily="34" charset="-122"/>
                <a:ea typeface="微软雅黑" panose="020B0503020204020204" pitchFamily="34" charset="-122"/>
                <a:sym typeface="Wingdings 2" panose="05020102010507070707" charset="0"/>
              </a:rPr>
              <a:t>w</a:t>
            </a:r>
            <a:r>
              <a:rPr lang="en-US" altLang="zh-CN" baseline="-25000" dirty="0">
                <a:latin typeface="微软雅黑" panose="020B0503020204020204" pitchFamily="34" charset="-122"/>
                <a:ea typeface="微软雅黑" panose="020B0503020204020204" pitchFamily="34" charset="-122"/>
                <a:sym typeface="Wingdings 2" panose="05020102010507070707" charset="0"/>
              </a:rPr>
              <a:t>t</a:t>
            </a:r>
            <a:r>
              <a:rPr lang="zh-CN" altLang="en-US" dirty="0">
                <a:latin typeface="微软雅黑" panose="020B0503020204020204" pitchFamily="34" charset="-122"/>
                <a:ea typeface="微软雅黑" panose="020B0503020204020204" pitchFamily="34" charset="-122"/>
                <a:sym typeface="Wingdings 2" panose="05020102010507070707" charset="0"/>
              </a:rPr>
              <a:t>的独热表示。</a:t>
            </a:r>
          </a:p>
        </p:txBody>
      </p:sp>
      <p:sp>
        <p:nvSpPr>
          <p:cNvPr id="9" name="文本框 8"/>
          <p:cNvSpPr txBox="1"/>
          <p:nvPr/>
        </p:nvSpPr>
        <p:spPr>
          <a:xfrm>
            <a:off x="583565" y="1913890"/>
            <a:ext cx="10367010" cy="368300"/>
          </a:xfrm>
          <a:prstGeom prst="rect">
            <a:avLst/>
          </a:prstGeom>
          <a:noFill/>
        </p:spPr>
        <p:txBody>
          <a:bodyPr wrap="square" rtlCol="0" anchor="t">
            <a:spAutoFit/>
          </a:bodyPr>
          <a:lstStyle/>
          <a:p>
            <a:pPr indent="0">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投影层：</a:t>
            </a:r>
            <a:r>
              <a:rPr lang="zh-CN" altLang="en-US" dirty="0">
                <a:latin typeface="微软雅黑" panose="020B0503020204020204" pitchFamily="34" charset="-122"/>
                <a:ea typeface="微软雅黑" panose="020B0503020204020204" pitchFamily="34" charset="-122"/>
                <a:sym typeface="Wingdings 2" panose="05020102010507070707" charset="0"/>
              </a:rPr>
              <a:t>该层输出为</a:t>
            </a:r>
          </a:p>
        </p:txBody>
      </p:sp>
      <p:pic>
        <p:nvPicPr>
          <p:cNvPr id="13" name="图片 12"/>
          <p:cNvPicPr>
            <a:picLocks noChangeAspect="1"/>
          </p:cNvPicPr>
          <p:nvPr/>
        </p:nvPicPr>
        <p:blipFill>
          <a:blip r:embed="rId4"/>
          <a:stretch>
            <a:fillRect/>
          </a:stretch>
        </p:blipFill>
        <p:spPr>
          <a:xfrm>
            <a:off x="2827020" y="1951990"/>
            <a:ext cx="1247775" cy="314325"/>
          </a:xfrm>
          <a:prstGeom prst="rect">
            <a:avLst/>
          </a:prstGeom>
        </p:spPr>
      </p:pic>
      <p:sp>
        <p:nvSpPr>
          <p:cNvPr id="14" name="文本框 13"/>
          <p:cNvSpPr txBox="1"/>
          <p:nvPr/>
        </p:nvSpPr>
        <p:spPr>
          <a:xfrm>
            <a:off x="583565" y="2606675"/>
            <a:ext cx="10367010" cy="645160"/>
          </a:xfrm>
          <a:prstGeom prst="rect">
            <a:avLst/>
          </a:prstGeom>
          <a:noFill/>
        </p:spPr>
        <p:txBody>
          <a:bodyPr wrap="square" rtlCol="0" anchor="t">
            <a:spAutoFit/>
          </a:bodyPr>
          <a:lstStyle/>
          <a:p>
            <a:pPr indent="0" algn="just">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输出层：</a:t>
            </a:r>
            <a:r>
              <a:rPr lang="zh-CN" altLang="en-US" dirty="0">
                <a:latin typeface="微软雅黑" panose="020B0503020204020204" pitchFamily="34" charset="-122"/>
                <a:ea typeface="微软雅黑" panose="020B0503020204020204" pitchFamily="34" charset="-122"/>
                <a:sym typeface="Wingdings 2" panose="05020102010507070707" charset="0"/>
              </a:rPr>
              <a:t>通过</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得到</a:t>
            </a:r>
            <a:r>
              <a:rPr lang="en-US" altLang="zh-CN" dirty="0">
                <a:latin typeface="微软雅黑" panose="020B0503020204020204" pitchFamily="34" charset="-122"/>
                <a:ea typeface="微软雅黑" panose="020B0503020204020204" pitchFamily="34" charset="-122"/>
                <a:sym typeface="Wingdings 2" panose="05020102010507070707" charset="0"/>
              </a:rPr>
              <a:t>2m</a:t>
            </a:r>
            <a:r>
              <a:rPr lang="zh-CN" altLang="en-US" dirty="0">
                <a:latin typeface="微软雅黑" panose="020B0503020204020204" pitchFamily="34" charset="-122"/>
                <a:ea typeface="微软雅黑" panose="020B0503020204020204" pitchFamily="34" charset="-122"/>
                <a:sym typeface="Wingdings 2" panose="05020102010507070707" charset="0"/>
              </a:rPr>
              <a:t>个输出向量，并通过</a:t>
            </a:r>
            <a:r>
              <a:rPr lang="en-US" altLang="zh-CN" dirty="0">
                <a:latin typeface="微软雅黑" panose="020B0503020204020204" pitchFamily="34" charset="-122"/>
                <a:ea typeface="微软雅黑" panose="020B0503020204020204" pitchFamily="34" charset="-122"/>
                <a:sym typeface="Wingdings 2" panose="05020102010507070707" charset="0"/>
              </a:rPr>
              <a:t>Softmax</a:t>
            </a:r>
            <a:r>
              <a:rPr lang="zh-CN" altLang="en-US" dirty="0">
                <a:latin typeface="微软雅黑" panose="020B0503020204020204" pitchFamily="34" charset="-122"/>
                <a:ea typeface="微软雅黑" panose="020B0503020204020204" pitchFamily="34" charset="-122"/>
                <a:sym typeface="Wingdings 2" panose="05020102010507070707" charset="0"/>
              </a:rPr>
              <a:t>得到真实输出的概率分布。训练可采用层次</a:t>
            </a:r>
            <a:r>
              <a:rPr lang="en-US" altLang="zh-CN" dirty="0">
                <a:latin typeface="微软雅黑" panose="020B0503020204020204" pitchFamily="34" charset="-122"/>
                <a:ea typeface="微软雅黑" panose="020B0503020204020204" pitchFamily="34" charset="-122"/>
                <a:sym typeface="Wingdings 2" panose="05020102010507070707" charset="0"/>
              </a:rPr>
              <a:t>Softmax</a:t>
            </a:r>
            <a:r>
              <a:rPr lang="zh-CN" altLang="en-US" dirty="0">
                <a:latin typeface="微软雅黑" panose="020B0503020204020204" pitchFamily="34" charset="-122"/>
                <a:ea typeface="微软雅黑" panose="020B0503020204020204" pitchFamily="34" charset="-122"/>
                <a:sym typeface="Wingdings 2" panose="05020102010507070707" charset="0"/>
              </a:rPr>
              <a:t>等技术降低复杂度，而不直接使用矩阵</a:t>
            </a:r>
            <a:r>
              <a:rPr lang="en-US" altLang="zh-CN" dirty="0">
                <a:latin typeface="微软雅黑" panose="020B0503020204020204" pitchFamily="34" charset="-122"/>
                <a:ea typeface="微软雅黑" panose="020B0503020204020204" pitchFamily="34" charset="-122"/>
                <a:sym typeface="Wingdings 2" panose="05020102010507070707" charset="0"/>
              </a:rPr>
              <a:t>W’</a:t>
            </a:r>
            <a:r>
              <a:rPr lang="zh-CN" altLang="en-US" dirty="0">
                <a:latin typeface="微软雅黑" panose="020B0503020204020204" pitchFamily="34" charset="-122"/>
                <a:ea typeface="微软雅黑" panose="020B0503020204020204" pitchFamily="34" charset="-122"/>
                <a:sym typeface="Wingdings 2" panose="05020102010507070707" charset="0"/>
              </a:rPr>
              <a:t>。</a:t>
            </a:r>
          </a:p>
        </p:txBody>
      </p:sp>
      <p:pic>
        <p:nvPicPr>
          <p:cNvPr id="15" name="图片 14"/>
          <p:cNvPicPr>
            <a:picLocks noChangeAspect="1"/>
          </p:cNvPicPr>
          <p:nvPr/>
        </p:nvPicPr>
        <p:blipFill>
          <a:blip r:embed="rId5"/>
          <a:stretch>
            <a:fillRect/>
          </a:stretch>
        </p:blipFill>
        <p:spPr>
          <a:xfrm>
            <a:off x="2141855" y="2592070"/>
            <a:ext cx="647700" cy="361950"/>
          </a:xfrm>
          <a:prstGeom prst="rect">
            <a:avLst/>
          </a:prstGeom>
        </p:spPr>
      </p:pic>
      <p:sp>
        <p:nvSpPr>
          <p:cNvPr id="16" name="文本框 15"/>
          <p:cNvSpPr txBox="1"/>
          <p:nvPr/>
        </p:nvSpPr>
        <p:spPr>
          <a:xfrm>
            <a:off x="482600" y="3592195"/>
            <a:ext cx="10846435" cy="645160"/>
          </a:xfrm>
          <a:prstGeom prst="rect">
            <a:avLst/>
          </a:prstGeom>
          <a:noFill/>
        </p:spPr>
        <p:txBody>
          <a:bodyPr wrap="square" rtlCol="0" anchor="t">
            <a:spAutoFit/>
          </a:bodyPr>
          <a:lstStyle/>
          <a:p>
            <a:pPr marL="285750" indent="-285750" algn="just">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Skip-gram</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模型复杂度与优化目标：</a:t>
            </a:r>
            <a:r>
              <a:rPr lang="zh-CN" altLang="en-US" dirty="0">
                <a:latin typeface="微软雅黑" panose="020B0503020204020204" pitchFamily="34" charset="-122"/>
                <a:ea typeface="微软雅黑" panose="020B0503020204020204" pitchFamily="34" charset="-122"/>
                <a:sym typeface="Wingdings 2" panose="05020102010507070707" charset="0"/>
              </a:rPr>
              <a:t>该模型的训练复杂度为</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，其优化目标可表示为：</a:t>
            </a:r>
          </a:p>
        </p:txBody>
      </p:sp>
      <p:pic>
        <p:nvPicPr>
          <p:cNvPr id="18" name="图片 17"/>
          <p:cNvPicPr>
            <a:picLocks noChangeAspect="1"/>
          </p:cNvPicPr>
          <p:nvPr/>
        </p:nvPicPr>
        <p:blipFill>
          <a:blip r:embed="rId6"/>
          <a:stretch>
            <a:fillRect/>
          </a:stretch>
        </p:blipFill>
        <p:spPr>
          <a:xfrm>
            <a:off x="6991350" y="3605530"/>
            <a:ext cx="2324100" cy="352425"/>
          </a:xfrm>
          <a:prstGeom prst="rect">
            <a:avLst/>
          </a:prstGeom>
        </p:spPr>
      </p:pic>
      <p:pic>
        <p:nvPicPr>
          <p:cNvPr id="19" name="图片 18"/>
          <p:cNvPicPr>
            <a:picLocks noChangeAspect="1"/>
          </p:cNvPicPr>
          <p:nvPr/>
        </p:nvPicPr>
        <p:blipFill>
          <a:blip r:embed="rId7"/>
          <a:stretch>
            <a:fillRect/>
          </a:stretch>
        </p:blipFill>
        <p:spPr>
          <a:xfrm>
            <a:off x="3166745" y="4392295"/>
            <a:ext cx="5857875" cy="742950"/>
          </a:xfrm>
          <a:prstGeom prst="rect">
            <a:avLst/>
          </a:prstGeom>
        </p:spPr>
      </p:pic>
      <p:sp>
        <p:nvSpPr>
          <p:cNvPr id="20" name="文本框 19"/>
          <p:cNvSpPr txBox="1"/>
          <p:nvPr/>
        </p:nvSpPr>
        <p:spPr>
          <a:xfrm>
            <a:off x="609600" y="5487035"/>
            <a:ext cx="10846435" cy="368300"/>
          </a:xfrm>
          <a:prstGeom prst="rect">
            <a:avLst/>
          </a:prstGeom>
          <a:noFill/>
        </p:spPr>
        <p:txBody>
          <a:bodyPr wrap="square" rtlCol="0" anchor="t">
            <a:spAutoFit/>
          </a:bodyPr>
          <a:lstStyle/>
          <a:p>
            <a:pPr indent="0" algn="just">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L</a:t>
            </a:r>
            <a:r>
              <a:rPr lang="zh-CN" altLang="en-US" dirty="0">
                <a:latin typeface="微软雅黑" panose="020B0503020204020204" pitchFamily="34" charset="-122"/>
                <a:ea typeface="微软雅黑" panose="020B0503020204020204" pitchFamily="34" charset="-122"/>
                <a:sym typeface="Wingdings 2" panose="05020102010507070707" charset="0"/>
              </a:rPr>
              <a:t>表示训练集长度。在训练过程中，一般认为在给定</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的情况下，</a:t>
            </a:r>
            <a:r>
              <a:rPr lang="en-US" altLang="zh-CN"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2m</a:t>
            </a:r>
            <a:r>
              <a:rPr lang="zh-CN" altLang="en-US" dirty="0">
                <a:latin typeface="微软雅黑" panose="020B0503020204020204" pitchFamily="34" charset="-122"/>
                <a:ea typeface="微软雅黑" panose="020B0503020204020204" pitchFamily="34" charset="-122"/>
                <a:sym typeface="Wingdings 2" panose="05020102010507070707" charset="0"/>
              </a:rPr>
              <a:t>个输出是完全独立的。</a:t>
            </a:r>
            <a:endParaRPr lang="en-US" altLang="zh-CN" dirty="0">
              <a:latin typeface="微软雅黑" panose="020B0503020204020204" pitchFamily="34" charset="-122"/>
              <a:ea typeface="微软雅黑" panose="020B0503020204020204" pitchFamily="34" charset="-122"/>
              <a:sym typeface="Wingdings 2" panose="05020102010507070707" charset="0"/>
            </a:endParaRPr>
          </a:p>
        </p:txBody>
      </p:sp>
      <p:pic>
        <p:nvPicPr>
          <p:cNvPr id="4" name="图片 3"/>
          <p:cNvPicPr>
            <a:picLocks noChangeAspect="1"/>
          </p:cNvPicPr>
          <p:nvPr/>
        </p:nvPicPr>
        <p:blipFill>
          <a:blip r:embed="rId8"/>
          <a:stretch>
            <a:fillRect/>
          </a:stretch>
        </p:blipFill>
        <p:spPr>
          <a:xfrm>
            <a:off x="6574155" y="5528310"/>
            <a:ext cx="323850" cy="266700"/>
          </a:xfrm>
          <a:prstGeom prst="rect">
            <a:avLst/>
          </a:prstGeom>
        </p:spPr>
      </p:pic>
      <p:pic>
        <p:nvPicPr>
          <p:cNvPr id="7" name="Picture 6">
            <a:extLst>
              <a:ext uri="{FF2B5EF4-FFF2-40B4-BE49-F238E27FC236}">
                <a16:creationId xmlns:a16="http://schemas.microsoft.com/office/drawing/2014/main" id="{B86EC5DD-2EEF-FF31-E1BB-C03BCDFF865E}"/>
              </a:ext>
            </a:extLst>
          </p:cNvPr>
          <p:cNvPicPr>
            <a:picLocks noChangeAspect="1"/>
          </p:cNvPicPr>
          <p:nvPr/>
        </p:nvPicPr>
        <p:blipFill>
          <a:blip r:embed="rId9"/>
          <a:stretch>
            <a:fillRect/>
          </a:stretch>
        </p:blipFill>
        <p:spPr>
          <a:xfrm>
            <a:off x="5369269" y="24082"/>
            <a:ext cx="2055257" cy="256195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B04C7-4D77-D1C7-218C-5AE7EC680D94}"/>
              </a:ext>
            </a:extLst>
          </p:cNvPr>
          <p:cNvSpPr>
            <a:spLocks noGrp="1"/>
          </p:cNvSpPr>
          <p:nvPr>
            <p:ph type="title"/>
          </p:nvPr>
        </p:nvSpPr>
        <p:spPr/>
        <p:txBody>
          <a:bodyPr/>
          <a:lstStyle/>
          <a:p>
            <a:r>
              <a:rPr lang="en-US" dirty="0" err="1"/>
              <a:t>其他优化方案</a:t>
            </a:r>
            <a:r>
              <a:rPr lang="zh-CN" altLang="en-US" dirty="0"/>
              <a:t>：</a:t>
            </a:r>
            <a:r>
              <a:rPr lang="en-US" altLang="zh-CN" dirty="0"/>
              <a:t>Negative Sampling</a:t>
            </a:r>
            <a:endParaRPr lang="en-US" dirty="0"/>
          </a:p>
        </p:txBody>
      </p:sp>
      <p:sp>
        <p:nvSpPr>
          <p:cNvPr id="4" name="TextBox 3">
            <a:extLst>
              <a:ext uri="{FF2B5EF4-FFF2-40B4-BE49-F238E27FC236}">
                <a16:creationId xmlns:a16="http://schemas.microsoft.com/office/drawing/2014/main" id="{84E70728-76A6-E6FE-053B-8CC723DBD6A1}"/>
              </a:ext>
            </a:extLst>
          </p:cNvPr>
          <p:cNvSpPr txBox="1"/>
          <p:nvPr/>
        </p:nvSpPr>
        <p:spPr>
          <a:xfrm>
            <a:off x="608399" y="1468192"/>
            <a:ext cx="11201528" cy="830997"/>
          </a:xfrm>
          <a:prstGeom prst="rect">
            <a:avLst/>
          </a:prstGeom>
          <a:noFill/>
        </p:spPr>
        <p:txBody>
          <a:bodyPr wrap="square" rtlCol="0">
            <a:spAutoFit/>
          </a:bodyPr>
          <a:lstStyle/>
          <a:p>
            <a:r>
              <a:rPr lang="en-US" sz="2400" dirty="0" err="1"/>
              <a:t>传统</a:t>
            </a:r>
            <a:r>
              <a:rPr lang="zh-CN" altLang="en-US" sz="2400" dirty="0"/>
              <a:t> </a:t>
            </a:r>
            <a:r>
              <a:rPr lang="en-US" altLang="zh-CN" sz="2400" dirty="0" err="1"/>
              <a:t>Softmax</a:t>
            </a:r>
            <a:r>
              <a:rPr lang="en-US" altLang="zh-CN" sz="2400" dirty="0"/>
              <a:t> </a:t>
            </a:r>
            <a:r>
              <a:rPr lang="zh-CN" altLang="en-US" sz="2400" dirty="0"/>
              <a:t>需要 </a:t>
            </a:r>
            <a:r>
              <a:rPr lang="en-US" altLang="zh-CN" sz="2400" dirty="0"/>
              <a:t>|V|</a:t>
            </a:r>
            <a:r>
              <a:rPr lang="zh-CN" altLang="en-US" sz="2400" dirty="0"/>
              <a:t>，</a:t>
            </a:r>
            <a:r>
              <a:rPr lang="en-US" altLang="zh-CN" sz="2400" dirty="0" err="1"/>
              <a:t>Nagative</a:t>
            </a:r>
            <a:r>
              <a:rPr lang="en-US" altLang="zh-CN" sz="2400" dirty="0"/>
              <a:t> </a:t>
            </a:r>
            <a:r>
              <a:rPr lang="en-US" altLang="zh-CN" sz="2400" dirty="0" err="1"/>
              <a:t>Samping</a:t>
            </a:r>
            <a:r>
              <a:rPr lang="zh-CN" altLang="en-US" sz="2400" dirty="0"/>
              <a:t> 的思路是同时使用正样本（中心词附近）和负样本，使得中心词尽可能和正样本相似，而和负样本不同。</a:t>
            </a:r>
            <a:endParaRPr lang="en-US" sz="2400" dirty="0"/>
          </a:p>
        </p:txBody>
      </p:sp>
      <p:pic>
        <p:nvPicPr>
          <p:cNvPr id="5" name="Picture 4">
            <a:extLst>
              <a:ext uri="{FF2B5EF4-FFF2-40B4-BE49-F238E27FC236}">
                <a16:creationId xmlns:a16="http://schemas.microsoft.com/office/drawing/2014/main" id="{D52D3212-AFE6-9F8E-924F-F425B4947040}"/>
              </a:ext>
            </a:extLst>
          </p:cNvPr>
          <p:cNvPicPr>
            <a:picLocks noChangeAspect="1"/>
          </p:cNvPicPr>
          <p:nvPr/>
        </p:nvPicPr>
        <p:blipFill>
          <a:blip r:embed="rId2"/>
          <a:stretch>
            <a:fillRect/>
          </a:stretch>
        </p:blipFill>
        <p:spPr>
          <a:xfrm>
            <a:off x="1823433" y="2453381"/>
            <a:ext cx="9438143" cy="3895904"/>
          </a:xfrm>
          <a:prstGeom prst="rect">
            <a:avLst/>
          </a:prstGeom>
        </p:spPr>
      </p:pic>
    </p:spTree>
    <p:extLst>
      <p:ext uri="{BB962C8B-B14F-4D97-AF65-F5344CB8AC3E}">
        <p14:creationId xmlns:p14="http://schemas.microsoft.com/office/powerpoint/2010/main" val="2177692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64E85-0F4E-43D6-5579-268EA7D5DAFB}"/>
              </a:ext>
            </a:extLst>
          </p:cNvPr>
          <p:cNvSpPr>
            <a:spLocks noGrp="1"/>
          </p:cNvSpPr>
          <p:nvPr>
            <p:ph type="title"/>
          </p:nvPr>
        </p:nvSpPr>
        <p:spPr/>
        <p:txBody>
          <a:bodyPr/>
          <a:lstStyle/>
          <a:p>
            <a:r>
              <a:rPr lang="en-US" dirty="0"/>
              <a:t>Word</a:t>
            </a:r>
            <a:r>
              <a:rPr lang="en-US" altLang="zh-CN" dirty="0"/>
              <a:t>2vec</a:t>
            </a:r>
            <a:r>
              <a:rPr lang="zh-CN" altLang="en-US" dirty="0"/>
              <a:t>实战</a:t>
            </a:r>
            <a:endParaRPr lang="en-US" dirty="0"/>
          </a:p>
        </p:txBody>
      </p:sp>
      <p:sp>
        <p:nvSpPr>
          <p:cNvPr id="4" name="Content Placeholder 2">
            <a:extLst>
              <a:ext uri="{FF2B5EF4-FFF2-40B4-BE49-F238E27FC236}">
                <a16:creationId xmlns:a16="http://schemas.microsoft.com/office/drawing/2014/main" id="{4C757857-E5C3-102A-C5CB-D47DB03485D3}"/>
              </a:ext>
            </a:extLst>
          </p:cNvPr>
          <p:cNvSpPr>
            <a:spLocks noGrp="1"/>
          </p:cNvSpPr>
          <p:nvPr>
            <p:ph idx="1"/>
          </p:nvPr>
        </p:nvSpPr>
        <p:spPr>
          <a:xfrm>
            <a:off x="608400" y="1490400"/>
            <a:ext cx="10969200" cy="1227042"/>
          </a:xfrm>
        </p:spPr>
        <p:txBody>
          <a:bodyPr>
            <a:normAutofit fontScale="77500" lnSpcReduction="20000"/>
          </a:bodyPr>
          <a:lstStyle/>
          <a:p>
            <a:pPr marL="0" indent="0">
              <a:buNone/>
            </a:pPr>
            <a:r>
              <a:rPr lang="en-US" sz="2200" dirty="0">
                <a:hlinkClick r:id="rId3"/>
              </a:rPr>
              <a:t>https://www.geeksforgeeks.org/python/implement-your-own-word2vecskip-gram-model-in-python/</a:t>
            </a:r>
            <a:endParaRPr lang="en-US" sz="2200" dirty="0"/>
          </a:p>
          <a:p>
            <a:pPr marL="0" indent="0">
              <a:buNone/>
            </a:pPr>
            <a:r>
              <a:rPr lang="en-US" sz="2200" dirty="0">
                <a:hlinkClick r:id="rId4"/>
              </a:rPr>
              <a:t>https://github.com/dav/word2vec</a:t>
            </a:r>
            <a:endParaRPr lang="en-US" sz="2200" dirty="0"/>
          </a:p>
          <a:p>
            <a:pPr marL="0" indent="0">
              <a:buNone/>
            </a:pPr>
            <a:endParaRPr lang="en-US" sz="1400" dirty="0"/>
          </a:p>
        </p:txBody>
      </p:sp>
      <p:pic>
        <p:nvPicPr>
          <p:cNvPr id="5" name="Picture 4">
            <a:extLst>
              <a:ext uri="{FF2B5EF4-FFF2-40B4-BE49-F238E27FC236}">
                <a16:creationId xmlns:a16="http://schemas.microsoft.com/office/drawing/2014/main" id="{5FC13F8E-297E-A93A-72CA-D98115A61C87}"/>
              </a:ext>
            </a:extLst>
          </p:cNvPr>
          <p:cNvPicPr>
            <a:picLocks noChangeAspect="1"/>
          </p:cNvPicPr>
          <p:nvPr/>
        </p:nvPicPr>
        <p:blipFill>
          <a:blip r:embed="rId5"/>
          <a:stretch>
            <a:fillRect/>
          </a:stretch>
        </p:blipFill>
        <p:spPr>
          <a:xfrm>
            <a:off x="608400" y="2601532"/>
            <a:ext cx="7050110" cy="4095211"/>
          </a:xfrm>
          <a:prstGeom prst="rect">
            <a:avLst/>
          </a:prstGeom>
        </p:spPr>
      </p:pic>
      <p:sp>
        <p:nvSpPr>
          <p:cNvPr id="7" name="TextBox 6">
            <a:extLst>
              <a:ext uri="{FF2B5EF4-FFF2-40B4-BE49-F238E27FC236}">
                <a16:creationId xmlns:a16="http://schemas.microsoft.com/office/drawing/2014/main" id="{9BD0B09F-44DB-2ED2-36D8-E4B87696776A}"/>
              </a:ext>
            </a:extLst>
          </p:cNvPr>
          <p:cNvSpPr txBox="1"/>
          <p:nvPr/>
        </p:nvSpPr>
        <p:spPr>
          <a:xfrm>
            <a:off x="5756291" y="6327411"/>
            <a:ext cx="6435709" cy="369332"/>
          </a:xfrm>
          <a:prstGeom prst="rect">
            <a:avLst/>
          </a:prstGeom>
          <a:noFill/>
        </p:spPr>
        <p:txBody>
          <a:bodyPr wrap="square">
            <a:spAutoFit/>
          </a:bodyPr>
          <a:lstStyle/>
          <a:p>
            <a:r>
              <a:rPr lang="en-US" dirty="0">
                <a:hlinkClick r:id="rId6"/>
              </a:rPr>
              <a:t>https://radimrehurek.com/gensim/auto_examples/index.html</a:t>
            </a:r>
            <a:endParaRPr lang="en-US" dirty="0"/>
          </a:p>
        </p:txBody>
      </p:sp>
    </p:spTree>
    <p:extLst>
      <p:ext uri="{BB962C8B-B14F-4D97-AF65-F5344CB8AC3E}">
        <p14:creationId xmlns:p14="http://schemas.microsoft.com/office/powerpoint/2010/main" val="3678251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4346-F98F-25BF-6880-70D1CB34A292}"/>
              </a:ext>
            </a:extLst>
          </p:cNvPr>
          <p:cNvSpPr>
            <a:spLocks noGrp="1"/>
          </p:cNvSpPr>
          <p:nvPr>
            <p:ph type="title"/>
          </p:nvPr>
        </p:nvSpPr>
        <p:spPr/>
        <p:txBody>
          <a:bodyPr/>
          <a:lstStyle/>
          <a:p>
            <a:r>
              <a:rPr lang="en-US" dirty="0" err="1"/>
              <a:t>词嵌入可视化</a:t>
            </a:r>
            <a:endParaRPr lang="en-US" dirty="0"/>
          </a:p>
        </p:txBody>
      </p:sp>
      <p:pic>
        <p:nvPicPr>
          <p:cNvPr id="4" name="Picture 3">
            <a:extLst>
              <a:ext uri="{FF2B5EF4-FFF2-40B4-BE49-F238E27FC236}">
                <a16:creationId xmlns:a16="http://schemas.microsoft.com/office/drawing/2014/main" id="{67F483FE-D3C6-C44A-8BBA-5D119FFE4186}"/>
              </a:ext>
            </a:extLst>
          </p:cNvPr>
          <p:cNvPicPr>
            <a:picLocks noChangeAspect="1"/>
          </p:cNvPicPr>
          <p:nvPr/>
        </p:nvPicPr>
        <p:blipFill>
          <a:blip r:embed="rId2"/>
          <a:stretch>
            <a:fillRect/>
          </a:stretch>
        </p:blipFill>
        <p:spPr>
          <a:xfrm>
            <a:off x="608400" y="1314000"/>
            <a:ext cx="8054662" cy="5233781"/>
          </a:xfrm>
          <a:prstGeom prst="rect">
            <a:avLst/>
          </a:prstGeom>
        </p:spPr>
      </p:pic>
    </p:spTree>
    <p:extLst>
      <p:ext uri="{BB962C8B-B14F-4D97-AF65-F5344CB8AC3E}">
        <p14:creationId xmlns:p14="http://schemas.microsoft.com/office/powerpoint/2010/main" val="37339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2.4GloVe</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16" name="文本框 15"/>
          <p:cNvSpPr txBox="1"/>
          <p:nvPr/>
        </p:nvSpPr>
        <p:spPr>
          <a:xfrm>
            <a:off x="482600" y="2607310"/>
            <a:ext cx="10846435" cy="368300"/>
          </a:xfrm>
          <a:prstGeom prst="rect">
            <a:avLst/>
          </a:prstGeom>
          <a:noFill/>
        </p:spPr>
        <p:txBody>
          <a:bodyPr wrap="square" rtlCol="0" anchor="t">
            <a:spAutoFit/>
          </a:bodyPr>
          <a:lstStyle/>
          <a:p>
            <a:pPr marL="285750" indent="-285750" algn="just">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模型特点：</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sp>
        <p:nvSpPr>
          <p:cNvPr id="4" name="文本框 3"/>
          <p:cNvSpPr txBox="1"/>
          <p:nvPr/>
        </p:nvSpPr>
        <p:spPr>
          <a:xfrm>
            <a:off x="482600" y="1193165"/>
            <a:ext cx="10846435" cy="922020"/>
          </a:xfrm>
          <a:prstGeom prst="rect">
            <a:avLst/>
          </a:prstGeom>
          <a:noFill/>
        </p:spPr>
        <p:txBody>
          <a:bodyPr wrap="square" rtlCol="0" anchor="t">
            <a:spAutoFit/>
          </a:bodyPr>
          <a:lstStyle/>
          <a:p>
            <a:pPr marL="285750" indent="-285750" algn="just">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GloVe</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zh-CN" altLang="en-US" dirty="0">
                <a:latin typeface="微软雅黑" panose="020B0503020204020204" pitchFamily="34" charset="-122"/>
                <a:ea typeface="微软雅黑" panose="020B0503020204020204" pitchFamily="34" charset="-122"/>
                <a:sym typeface="Wingdings 2" panose="05020102010507070707" charset="0"/>
              </a:rPr>
              <a:t>该模型是斯坦福大学于</a:t>
            </a:r>
            <a:r>
              <a:rPr lang="en-US" altLang="zh-CN" dirty="0">
                <a:latin typeface="微软雅黑" panose="020B0503020204020204" pitchFamily="34" charset="-122"/>
                <a:ea typeface="微软雅黑" panose="020B0503020204020204" pitchFamily="34" charset="-122"/>
                <a:sym typeface="Wingdings 2" panose="05020102010507070707" charset="0"/>
              </a:rPr>
              <a:t>2014</a:t>
            </a:r>
            <a:r>
              <a:rPr lang="zh-CN" altLang="en-US" dirty="0">
                <a:latin typeface="微软雅黑" panose="020B0503020204020204" pitchFamily="34" charset="-122"/>
                <a:ea typeface="微软雅黑" panose="020B0503020204020204" pitchFamily="34" charset="-122"/>
                <a:sym typeface="Wingdings 2" panose="05020102010507070707" charset="0"/>
              </a:rPr>
              <a:t>年发布的一个开源项目。</a:t>
            </a:r>
            <a:r>
              <a:rPr lang="en-US" altLang="zh-CN" dirty="0">
                <a:latin typeface="微软雅黑" panose="020B0503020204020204" pitchFamily="34" charset="-122"/>
                <a:ea typeface="微软雅黑" panose="020B0503020204020204" pitchFamily="34" charset="-122"/>
                <a:sym typeface="Wingdings 2" panose="05020102010507070707" charset="0"/>
              </a:rPr>
              <a:t>GloVe</a:t>
            </a:r>
            <a:r>
              <a:rPr lang="zh-CN" altLang="en-US" dirty="0">
                <a:latin typeface="微软雅黑" panose="020B0503020204020204" pitchFamily="34" charset="-122"/>
                <a:ea typeface="微软雅黑" panose="020B0503020204020204" pitchFamily="34" charset="-122"/>
                <a:sym typeface="Wingdings 2" panose="05020102010507070707" charset="0"/>
              </a:rPr>
              <a:t>是一个基于全局词频统计的词向量模型，它结合了两个模型族的特征，即全局矩阵分解（基于奇异值分解</a:t>
            </a:r>
            <a:r>
              <a:rPr lang="en-US" altLang="zh-CN" dirty="0">
                <a:latin typeface="微软雅黑" panose="020B0503020204020204" pitchFamily="34" charset="-122"/>
                <a:ea typeface="微软雅黑" panose="020B0503020204020204" pitchFamily="34" charset="-122"/>
                <a:sym typeface="Wingdings 2" panose="05020102010507070707" charset="0"/>
              </a:rPr>
              <a:t>(SVD)</a:t>
            </a:r>
            <a:r>
              <a:rPr lang="zh-CN" altLang="en-US" dirty="0">
                <a:latin typeface="微软雅黑" panose="020B0503020204020204" pitchFamily="34" charset="-122"/>
                <a:ea typeface="微软雅黑" panose="020B0503020204020204" pitchFamily="34" charset="-122"/>
                <a:sym typeface="Wingdings 2" panose="05020102010507070707" charset="0"/>
              </a:rPr>
              <a:t>的潜在语义分析算法）和局部上下文窗口方法（如</a:t>
            </a:r>
            <a:r>
              <a:rPr lang="en-US" altLang="zh-CN" dirty="0">
                <a:latin typeface="微软雅黑" panose="020B0503020204020204" pitchFamily="34" charset="-122"/>
                <a:ea typeface="微软雅黑" panose="020B0503020204020204" pitchFamily="34" charset="-122"/>
                <a:sym typeface="Wingdings 2" panose="05020102010507070707" charset="0"/>
              </a:rPr>
              <a:t>Word2Vec</a:t>
            </a:r>
            <a:r>
              <a:rPr lang="zh-CN" altLang="en-US" dirty="0">
                <a:latin typeface="微软雅黑" panose="020B0503020204020204" pitchFamily="34" charset="-122"/>
                <a:ea typeface="微软雅黑" panose="020B0503020204020204" pitchFamily="34" charset="-122"/>
                <a:sym typeface="Wingdings 2" panose="05020102010507070707" charset="0"/>
              </a:rPr>
              <a:t>算法）。</a:t>
            </a:r>
          </a:p>
        </p:txBody>
      </p:sp>
      <p:sp>
        <p:nvSpPr>
          <p:cNvPr id="10" name="文本框 9"/>
          <p:cNvSpPr txBox="1"/>
          <p:nvPr/>
        </p:nvSpPr>
        <p:spPr>
          <a:xfrm>
            <a:off x="1160145" y="3162300"/>
            <a:ext cx="9932670" cy="922020"/>
          </a:xfrm>
          <a:prstGeom prst="rect">
            <a:avLst/>
          </a:prstGeom>
          <a:noFill/>
        </p:spPr>
        <p:txBody>
          <a:bodyPr wrap="square" rtlCol="0" anchor="t">
            <a:spAutoFit/>
          </a:bodyPr>
          <a:lstStyle/>
          <a:p>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结合了</a:t>
            </a:r>
            <a:r>
              <a:rPr lang="en-US" altLang="zh-CN" dirty="0">
                <a:latin typeface="微软雅黑" panose="020B0503020204020204" pitchFamily="34" charset="-122"/>
                <a:ea typeface="微软雅黑" panose="020B0503020204020204" pitchFamily="34" charset="-122"/>
                <a:sym typeface="Wingdings 2" panose="05020102010507070707" charset="0"/>
              </a:rPr>
              <a:t>Word2Vec</a:t>
            </a:r>
            <a:r>
              <a:rPr lang="zh-CN" altLang="en-US" dirty="0">
                <a:latin typeface="微软雅黑" panose="020B0503020204020204" pitchFamily="34" charset="-122"/>
                <a:ea typeface="微软雅黑" panose="020B0503020204020204" pitchFamily="34" charset="-122"/>
                <a:sym typeface="Wingdings 2" panose="05020102010507070707" charset="0"/>
              </a:rPr>
              <a:t>模型的</a:t>
            </a:r>
            <a:r>
              <a:rPr lang="en-US" altLang="zh-CN" dirty="0">
                <a:latin typeface="微软雅黑" panose="020B0503020204020204" pitchFamily="34" charset="-122"/>
                <a:ea typeface="微软雅黑" panose="020B0503020204020204" pitchFamily="34" charset="-122"/>
                <a:sym typeface="Wingdings 2" panose="05020102010507070707" charset="0"/>
              </a:rPr>
              <a:t>Skip-gram</a:t>
            </a:r>
            <a:r>
              <a:rPr lang="zh-CN" altLang="en-US" dirty="0">
                <a:latin typeface="微软雅黑" panose="020B0503020204020204" pitchFamily="34" charset="-122"/>
                <a:ea typeface="微软雅黑" panose="020B0503020204020204" pitchFamily="34" charset="-122"/>
                <a:sym typeface="Wingdings 2" panose="05020102010507070707" charset="0"/>
              </a:rPr>
              <a:t>优势，同时利用了全局词频统计信息，通过矩阵分解技术可以有效地获取单词向量表示。它可以把一个单词表达成一个由实数组成的向量，用于捕捉单词之间的语义特性，比如相似性、类比性。通俗举例，</a:t>
            </a:r>
          </a:p>
        </p:txBody>
      </p:sp>
      <p:grpSp>
        <p:nvGrpSpPr>
          <p:cNvPr id="25" name="组合 24"/>
          <p:cNvGrpSpPr/>
          <p:nvPr/>
        </p:nvGrpSpPr>
        <p:grpSpPr>
          <a:xfrm>
            <a:off x="3725545" y="4215765"/>
            <a:ext cx="4147820" cy="516255"/>
            <a:chOff x="4265" y="5986"/>
            <a:chExt cx="6532" cy="813"/>
          </a:xfrm>
        </p:grpSpPr>
        <p:pic>
          <p:nvPicPr>
            <p:cNvPr id="11" name="图片 10"/>
            <p:cNvPicPr>
              <a:picLocks noChangeAspect="1"/>
            </p:cNvPicPr>
            <p:nvPr/>
          </p:nvPicPr>
          <p:blipFill>
            <a:blip r:embed="rId4"/>
            <a:stretch>
              <a:fillRect/>
            </a:stretch>
          </p:blipFill>
          <p:spPr>
            <a:xfrm>
              <a:off x="4265" y="6289"/>
              <a:ext cx="3480" cy="480"/>
            </a:xfrm>
            <a:prstGeom prst="rect">
              <a:avLst/>
            </a:prstGeom>
          </p:spPr>
        </p:pic>
        <p:pic>
          <p:nvPicPr>
            <p:cNvPr id="12" name="图片 11"/>
            <p:cNvPicPr>
              <a:picLocks noChangeAspect="1"/>
            </p:cNvPicPr>
            <p:nvPr/>
          </p:nvPicPr>
          <p:blipFill>
            <a:blip r:embed="rId5"/>
            <a:stretch>
              <a:fillRect/>
            </a:stretch>
          </p:blipFill>
          <p:spPr>
            <a:xfrm>
              <a:off x="9643" y="6289"/>
              <a:ext cx="1155" cy="510"/>
            </a:xfrm>
            <a:prstGeom prst="rect">
              <a:avLst/>
            </a:prstGeom>
          </p:spPr>
        </p:pic>
        <p:cxnSp>
          <p:nvCxnSpPr>
            <p:cNvPr id="22" name="直接箭头连接符 21"/>
            <p:cNvCxnSpPr/>
            <p:nvPr/>
          </p:nvCxnSpPr>
          <p:spPr>
            <a:xfrm>
              <a:off x="8185" y="6595"/>
              <a:ext cx="1018" cy="0"/>
            </a:xfrm>
            <a:prstGeom prst="straightConnector1">
              <a:avLst/>
            </a:prstGeom>
            <a:ln w="22225">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a:off x="7880" y="5986"/>
              <a:ext cx="2039" cy="531"/>
            </a:xfrm>
            <a:prstGeom prst="rect">
              <a:avLst/>
            </a:prstGeom>
            <a:noFill/>
          </p:spPr>
          <p:txBody>
            <a:bodyPr wrap="square">
              <a:spAutoFit/>
            </a:bodyPr>
            <a:lstStyle/>
            <a:p>
              <a:r>
                <a:rPr lang="zh-CN" altLang="en-US" sz="1600" dirty="0">
                  <a:solidFill>
                    <a:srgbClr val="FF0000"/>
                  </a:solidFill>
                </a:rPr>
                <a:t>向量运算</a:t>
              </a:r>
            </a:p>
          </p:txBody>
        </p:sp>
      </p:grpSp>
      <p:sp>
        <p:nvSpPr>
          <p:cNvPr id="24" name="文本框 23"/>
          <p:cNvSpPr txBox="1"/>
          <p:nvPr/>
        </p:nvSpPr>
        <p:spPr>
          <a:xfrm>
            <a:off x="1160145" y="5128260"/>
            <a:ext cx="9932670" cy="368300"/>
          </a:xfrm>
          <a:prstGeom prst="rect">
            <a:avLst/>
          </a:prstGeom>
          <a:noFill/>
        </p:spPr>
        <p:txBody>
          <a:bodyPr wrap="square" rtlCol="0" anchor="t">
            <a:spAutoFit/>
          </a:bodyPr>
          <a:lstStyle/>
          <a:p>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避免计算复杂度高地奇异值分解过程。</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2.4GloVe</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4" name="文本框 3"/>
          <p:cNvSpPr txBox="1"/>
          <p:nvPr/>
        </p:nvSpPr>
        <p:spPr>
          <a:xfrm>
            <a:off x="482600" y="1193165"/>
            <a:ext cx="10846435" cy="645160"/>
          </a:xfrm>
          <a:prstGeom prst="rect">
            <a:avLst/>
          </a:prstGeom>
          <a:noFill/>
        </p:spPr>
        <p:txBody>
          <a:bodyPr wrap="square" rtlCol="0" anchor="t">
            <a:spAutoFit/>
          </a:bodyPr>
          <a:lstStyle/>
          <a:p>
            <a:pPr marL="285750" indent="-285750" algn="just">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GloVe</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模型实现过程：</a:t>
            </a:r>
            <a:r>
              <a:rPr lang="zh-CN" altLang="en-US" dirty="0">
                <a:latin typeface="微软雅黑" panose="020B0503020204020204" pitchFamily="34" charset="-122"/>
                <a:ea typeface="微软雅黑" panose="020B0503020204020204" pitchFamily="34" charset="-122"/>
                <a:sym typeface="Wingdings 2" panose="05020102010507070707" charset="0"/>
              </a:rPr>
              <a:t>该模型实现过程简要分为三个步骤：构建共现矩阵、建立词向量与共现矩阵之间的关系以及构建损失函数。</a:t>
            </a:r>
          </a:p>
        </p:txBody>
      </p:sp>
      <p:sp>
        <p:nvSpPr>
          <p:cNvPr id="8" name="文本框 7"/>
          <p:cNvSpPr txBox="1"/>
          <p:nvPr/>
        </p:nvSpPr>
        <p:spPr>
          <a:xfrm>
            <a:off x="583565" y="2194560"/>
            <a:ext cx="10367010" cy="645160"/>
          </a:xfrm>
          <a:prstGeom prst="rect">
            <a:avLst/>
          </a:prstGeom>
          <a:noFill/>
        </p:spPr>
        <p:txBody>
          <a:bodyPr wrap="square" rtlCol="0" anchor="t">
            <a:spAutoFit/>
          </a:bodyPr>
          <a:lstStyle/>
          <a:p>
            <a:pPr indent="0" algn="just">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构建共现矩阵：</a:t>
            </a:r>
            <a:r>
              <a:rPr lang="zh-CN" altLang="en-US" dirty="0">
                <a:latin typeface="微软雅黑" panose="020B0503020204020204" pitchFamily="34" charset="-122"/>
                <a:ea typeface="微软雅黑" panose="020B0503020204020204" pitchFamily="34" charset="-122"/>
                <a:sym typeface="Wingdings 2" panose="05020102010507070707" charset="0"/>
              </a:rPr>
              <a:t>首先构建一个共现矩阵，矩阵元素</a:t>
            </a:r>
            <a:r>
              <a:rPr lang="en-US" altLang="zh-CN" dirty="0">
                <a:latin typeface="微软雅黑" panose="020B0503020204020204" pitchFamily="34" charset="-122"/>
                <a:ea typeface="微软雅黑" panose="020B0503020204020204" pitchFamily="34" charset="-122"/>
                <a:sym typeface="Wingdings 2" panose="05020102010507070707" charset="0"/>
              </a:rPr>
              <a:t>X</a:t>
            </a:r>
            <a:r>
              <a:rPr lang="en-US" altLang="zh-CN" baseline="-25000" dirty="0">
                <a:latin typeface="微软雅黑" panose="020B0503020204020204" pitchFamily="34" charset="-122"/>
                <a:ea typeface="微软雅黑" panose="020B0503020204020204" pitchFamily="34" charset="-122"/>
                <a:sym typeface="Wingdings 2" panose="05020102010507070707" charset="0"/>
              </a:rPr>
              <a:t>ij</a:t>
            </a:r>
            <a:r>
              <a:rPr lang="zh-CN" altLang="en-US" dirty="0">
                <a:latin typeface="微软雅黑" panose="020B0503020204020204" pitchFamily="34" charset="-122"/>
                <a:ea typeface="微软雅黑" panose="020B0503020204020204" pitchFamily="34" charset="-122"/>
                <a:sym typeface="Wingdings 2" panose="05020102010507070707" charset="0"/>
              </a:rPr>
              <a:t>表示单词</a:t>
            </a:r>
            <a:r>
              <a:rPr lang="en-US" altLang="zh-CN" dirty="0">
                <a:latin typeface="微软雅黑" panose="020B0503020204020204" pitchFamily="34" charset="-122"/>
                <a:ea typeface="微软雅黑" panose="020B0503020204020204" pitchFamily="34" charset="-122"/>
                <a:sym typeface="Wingdings 2" panose="05020102010507070707" charset="0"/>
              </a:rPr>
              <a:t>i</a:t>
            </a:r>
            <a:r>
              <a:rPr lang="zh-CN" altLang="en-US" dirty="0">
                <a:latin typeface="微软雅黑" panose="020B0503020204020204" pitchFamily="34" charset="-122"/>
                <a:ea typeface="微软雅黑" panose="020B0503020204020204" pitchFamily="34" charset="-122"/>
                <a:sym typeface="Wingdings 2" panose="05020102010507070707" charset="0"/>
              </a:rPr>
              <a:t>和单词</a:t>
            </a:r>
            <a:r>
              <a:rPr lang="en-US" altLang="zh-CN" dirty="0">
                <a:latin typeface="微软雅黑" panose="020B0503020204020204" pitchFamily="34" charset="-122"/>
                <a:ea typeface="微软雅黑" panose="020B0503020204020204" pitchFamily="34" charset="-122"/>
                <a:sym typeface="Wingdings 2" panose="05020102010507070707" charset="0"/>
              </a:rPr>
              <a:t>j</a:t>
            </a:r>
            <a:r>
              <a:rPr lang="zh-CN" altLang="en-US" dirty="0">
                <a:latin typeface="微软雅黑" panose="020B0503020204020204" pitchFamily="34" charset="-122"/>
                <a:ea typeface="微软雅黑" panose="020B0503020204020204" pitchFamily="34" charset="-122"/>
                <a:sym typeface="Wingdings 2" panose="05020102010507070707" charset="0"/>
              </a:rPr>
              <a:t>在一定上下文窗口内共同出现的次数。通过该矩阵，可以了解词汇在文本中的共现模式。下面提供一个示例：</a:t>
            </a:r>
          </a:p>
        </p:txBody>
      </p:sp>
      <p:pic>
        <p:nvPicPr>
          <p:cNvPr id="9" name="图片 8"/>
          <p:cNvPicPr>
            <a:picLocks noChangeAspect="1"/>
          </p:cNvPicPr>
          <p:nvPr/>
        </p:nvPicPr>
        <p:blipFill>
          <a:blip r:embed="rId4"/>
          <a:stretch>
            <a:fillRect/>
          </a:stretch>
        </p:blipFill>
        <p:spPr>
          <a:xfrm>
            <a:off x="2260600" y="3611245"/>
            <a:ext cx="7896225" cy="161925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2.4GloVe</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文本框 7"/>
          <p:cNvSpPr txBox="1"/>
          <p:nvPr/>
        </p:nvSpPr>
        <p:spPr>
          <a:xfrm>
            <a:off x="583565" y="5249545"/>
            <a:ext cx="10367010" cy="368300"/>
          </a:xfrm>
          <a:prstGeom prst="rect">
            <a:avLst/>
          </a:prstGeom>
          <a:noFill/>
        </p:spPr>
        <p:txBody>
          <a:bodyPr wrap="square" rtlCol="0" anchor="t">
            <a:spAutoFit/>
          </a:bodyPr>
          <a:lstStyle/>
          <a:p>
            <a:pPr indent="0" algn="just">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在这个矩阵</a:t>
            </a:r>
            <a:r>
              <a:rPr lang="en-US" altLang="zh-CN"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X</a:t>
            </a:r>
            <a:r>
              <a:rPr lang="zh-CN" altLang="en-US" dirty="0">
                <a:latin typeface="微软雅黑" panose="020B0503020204020204" pitchFamily="34" charset="-122"/>
                <a:ea typeface="微软雅黑" panose="020B0503020204020204" pitchFamily="34" charset="-122"/>
                <a:sym typeface="Wingdings 2" panose="05020102010507070707" charset="0"/>
              </a:rPr>
              <a:t>中，</a:t>
            </a:r>
            <a:r>
              <a:rPr lang="en-US" altLang="zh-CN"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X</a:t>
            </a:r>
            <a:r>
              <a:rPr lang="en-US" altLang="zh-CN" baseline="-25000"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12</a:t>
            </a:r>
            <a:r>
              <a:rPr lang="en-US" altLang="zh-CN"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=3</a:t>
            </a:r>
            <a:r>
              <a:rPr lang="zh-CN" altLang="en-US" dirty="0">
                <a:latin typeface="微软雅黑" panose="020B0503020204020204" pitchFamily="34" charset="-122"/>
                <a:ea typeface="微软雅黑" panose="020B0503020204020204" pitchFamily="34" charset="-122"/>
                <a:sym typeface="Wingdings 2" panose="05020102010507070707" charset="0"/>
              </a:rPr>
              <a:t>表示单词</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我</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喜欢</a:t>
            </a:r>
            <a:r>
              <a:rPr lang="en-US" altLang="zh-CN" dirty="0">
                <a:latin typeface="微软雅黑" panose="020B0503020204020204" pitchFamily="34" charset="-122"/>
                <a:ea typeface="微软雅黑" panose="020B0503020204020204" pitchFamily="34" charset="-122"/>
                <a:sym typeface="Wingdings 2" panose="05020102010507070707" charset="0"/>
              </a:rPr>
              <a:t>”</a:t>
            </a:r>
            <a:r>
              <a:rPr lang="zh-CN" altLang="en-US" dirty="0">
                <a:latin typeface="微软雅黑" panose="020B0503020204020204" pitchFamily="34" charset="-122"/>
                <a:ea typeface="微软雅黑" panose="020B0503020204020204" pitchFamily="34" charset="-122"/>
                <a:sym typeface="Wingdings 2" panose="05020102010507070707" charset="0"/>
              </a:rPr>
              <a:t>在上下文窗内共同出现了</a:t>
            </a:r>
            <a:r>
              <a:rPr lang="en-US" altLang="zh-CN" dirty="0">
                <a:latin typeface="微软雅黑" panose="020B0503020204020204" pitchFamily="34" charset="-122"/>
                <a:ea typeface="微软雅黑" panose="020B0503020204020204" pitchFamily="34" charset="-122"/>
                <a:sym typeface="Wingdings 2" panose="05020102010507070707" charset="0"/>
              </a:rPr>
              <a:t>3</a:t>
            </a:r>
            <a:r>
              <a:rPr lang="zh-CN" altLang="en-US" dirty="0">
                <a:latin typeface="微软雅黑" panose="020B0503020204020204" pitchFamily="34" charset="-122"/>
                <a:ea typeface="微软雅黑" panose="020B0503020204020204" pitchFamily="34" charset="-122"/>
                <a:sym typeface="Wingdings 2" panose="05020102010507070707" charset="0"/>
              </a:rPr>
              <a:t>次。</a:t>
            </a:r>
          </a:p>
        </p:txBody>
      </p:sp>
      <p:pic>
        <p:nvPicPr>
          <p:cNvPr id="10" name="图片 9"/>
          <p:cNvPicPr>
            <a:picLocks noChangeAspect="1"/>
          </p:cNvPicPr>
          <p:nvPr/>
        </p:nvPicPr>
        <p:blipFill>
          <a:blip r:embed="rId4"/>
          <a:stretch>
            <a:fillRect/>
          </a:stretch>
        </p:blipFill>
        <p:spPr>
          <a:xfrm>
            <a:off x="3756025" y="1543685"/>
            <a:ext cx="4457700" cy="321945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2.4GloVe</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8" name="文本框 7"/>
          <p:cNvSpPr txBox="1"/>
          <p:nvPr/>
        </p:nvSpPr>
        <p:spPr>
          <a:xfrm>
            <a:off x="583565" y="1376045"/>
            <a:ext cx="10367010" cy="368300"/>
          </a:xfrm>
          <a:prstGeom prst="rect">
            <a:avLst/>
          </a:prstGeom>
          <a:noFill/>
        </p:spPr>
        <p:txBody>
          <a:bodyPr wrap="square" rtlCol="0" anchor="t">
            <a:spAutoFit/>
          </a:bodyPr>
          <a:lstStyle/>
          <a:p>
            <a:pPr indent="0" algn="just">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构建词向量与共现矩阵的关系：</a:t>
            </a:r>
            <a:r>
              <a:rPr lang="en-US" altLang="zh-CN" dirty="0">
                <a:latin typeface="微软雅黑" panose="020B0503020204020204" pitchFamily="34" charset="-122"/>
                <a:ea typeface="微软雅黑" panose="020B0503020204020204" pitchFamily="34" charset="-122"/>
                <a:sym typeface="Wingdings 2" panose="05020102010507070707" charset="0"/>
              </a:rPr>
              <a:t>GloVe</a:t>
            </a:r>
            <a:r>
              <a:rPr lang="zh-CN" altLang="en-US" dirty="0">
                <a:latin typeface="微软雅黑" panose="020B0503020204020204" pitchFamily="34" charset="-122"/>
                <a:ea typeface="微软雅黑" panose="020B0503020204020204" pitchFamily="34" charset="-122"/>
                <a:sym typeface="Wingdings 2" panose="05020102010507070707" charset="0"/>
              </a:rPr>
              <a:t>模型提出词向量和共现矩阵之间的某种近似关系，表达如下：</a:t>
            </a:r>
          </a:p>
        </p:txBody>
      </p:sp>
      <p:pic>
        <p:nvPicPr>
          <p:cNvPr id="10" name="图片 9"/>
          <p:cNvPicPr>
            <a:picLocks noChangeAspect="1"/>
          </p:cNvPicPr>
          <p:nvPr/>
        </p:nvPicPr>
        <p:blipFill>
          <a:blip r:embed="rId4"/>
          <a:stretch>
            <a:fillRect/>
          </a:stretch>
        </p:blipFill>
        <p:spPr>
          <a:xfrm>
            <a:off x="4600575" y="1968500"/>
            <a:ext cx="2990850" cy="476250"/>
          </a:xfrm>
          <a:prstGeom prst="rect">
            <a:avLst/>
          </a:prstGeom>
        </p:spPr>
      </p:pic>
      <p:sp>
        <p:nvSpPr>
          <p:cNvPr id="11" name="文本框 10"/>
          <p:cNvSpPr txBox="1"/>
          <p:nvPr/>
        </p:nvSpPr>
        <p:spPr>
          <a:xfrm>
            <a:off x="583565" y="2668905"/>
            <a:ext cx="10367010" cy="368300"/>
          </a:xfrm>
          <a:prstGeom prst="rect">
            <a:avLst/>
          </a:prstGeom>
          <a:noFill/>
        </p:spPr>
        <p:txBody>
          <a:bodyPr wrap="square" rtlCol="0" anchor="t">
            <a:spAutoFit/>
          </a:bodyPr>
          <a:lstStyle/>
          <a:p>
            <a:pPr indent="0" algn="just">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分别是单词</a:t>
            </a:r>
            <a:r>
              <a:rPr lang="en-US" altLang="zh-CN" dirty="0">
                <a:latin typeface="微软雅黑" panose="020B0503020204020204" pitchFamily="34" charset="-122"/>
                <a:ea typeface="微软雅黑" panose="020B0503020204020204" pitchFamily="34" charset="-122"/>
                <a:sym typeface="Wingdings 2" panose="05020102010507070707" charset="0"/>
              </a:rPr>
              <a:t>i</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latin typeface="微软雅黑" panose="020B0503020204020204" pitchFamily="34" charset="-122"/>
                <a:ea typeface="微软雅黑" panose="020B0503020204020204" pitchFamily="34" charset="-122"/>
                <a:sym typeface="Wingdings 2" panose="05020102010507070707" charset="0"/>
              </a:rPr>
              <a:t>j</a:t>
            </a:r>
            <a:r>
              <a:rPr lang="zh-CN" altLang="en-US" dirty="0">
                <a:latin typeface="微软雅黑" panose="020B0503020204020204" pitchFamily="34" charset="-122"/>
                <a:ea typeface="微软雅黑" panose="020B0503020204020204" pitchFamily="34" charset="-122"/>
                <a:sym typeface="Wingdings 2" panose="05020102010507070707" charset="0"/>
              </a:rPr>
              <a:t>的词向量，</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和</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是偏置项，</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是共现次数的对数。</a:t>
            </a:r>
          </a:p>
        </p:txBody>
      </p:sp>
      <p:pic>
        <p:nvPicPr>
          <p:cNvPr id="12" name="图片 11"/>
          <p:cNvPicPr>
            <a:picLocks noChangeAspect="1"/>
          </p:cNvPicPr>
          <p:nvPr/>
        </p:nvPicPr>
        <p:blipFill>
          <a:blip r:embed="rId5"/>
          <a:stretch>
            <a:fillRect/>
          </a:stretch>
        </p:blipFill>
        <p:spPr>
          <a:xfrm>
            <a:off x="1394460" y="2687955"/>
            <a:ext cx="361950" cy="304800"/>
          </a:xfrm>
          <a:prstGeom prst="rect">
            <a:avLst/>
          </a:prstGeom>
        </p:spPr>
      </p:pic>
      <p:pic>
        <p:nvPicPr>
          <p:cNvPr id="13" name="图片 12"/>
          <p:cNvPicPr>
            <a:picLocks noChangeAspect="1"/>
          </p:cNvPicPr>
          <p:nvPr/>
        </p:nvPicPr>
        <p:blipFill>
          <a:blip r:embed="rId6"/>
          <a:stretch>
            <a:fillRect/>
          </a:stretch>
        </p:blipFill>
        <p:spPr>
          <a:xfrm>
            <a:off x="2131695" y="2687955"/>
            <a:ext cx="352425" cy="304800"/>
          </a:xfrm>
          <a:prstGeom prst="rect">
            <a:avLst/>
          </a:prstGeom>
        </p:spPr>
      </p:pic>
      <p:pic>
        <p:nvPicPr>
          <p:cNvPr id="14" name="图片 13"/>
          <p:cNvPicPr>
            <a:picLocks noChangeAspect="1"/>
          </p:cNvPicPr>
          <p:nvPr/>
        </p:nvPicPr>
        <p:blipFill>
          <a:blip r:embed="rId7"/>
          <a:stretch>
            <a:fillRect/>
          </a:stretch>
        </p:blipFill>
        <p:spPr>
          <a:xfrm>
            <a:off x="5224780" y="2695575"/>
            <a:ext cx="247650" cy="295275"/>
          </a:xfrm>
          <a:prstGeom prst="rect">
            <a:avLst/>
          </a:prstGeom>
        </p:spPr>
      </p:pic>
      <p:pic>
        <p:nvPicPr>
          <p:cNvPr id="15" name="图片 14"/>
          <p:cNvPicPr>
            <a:picLocks noChangeAspect="1"/>
          </p:cNvPicPr>
          <p:nvPr/>
        </p:nvPicPr>
        <p:blipFill>
          <a:blip r:embed="rId8"/>
          <a:stretch>
            <a:fillRect/>
          </a:stretch>
        </p:blipFill>
        <p:spPr>
          <a:xfrm>
            <a:off x="5842000" y="2672080"/>
            <a:ext cx="285750" cy="352425"/>
          </a:xfrm>
          <a:prstGeom prst="rect">
            <a:avLst/>
          </a:prstGeom>
        </p:spPr>
      </p:pic>
      <p:pic>
        <p:nvPicPr>
          <p:cNvPr id="16" name="图片 15"/>
          <p:cNvPicPr>
            <a:picLocks noChangeAspect="1"/>
          </p:cNvPicPr>
          <p:nvPr/>
        </p:nvPicPr>
        <p:blipFill>
          <a:blip r:embed="rId9"/>
          <a:stretch>
            <a:fillRect/>
          </a:stretch>
        </p:blipFill>
        <p:spPr>
          <a:xfrm>
            <a:off x="7266940" y="2649855"/>
            <a:ext cx="876300" cy="390525"/>
          </a:xfrm>
          <a:prstGeom prst="rect">
            <a:avLst/>
          </a:prstGeom>
        </p:spPr>
      </p:pic>
      <p:sp>
        <p:nvSpPr>
          <p:cNvPr id="18" name="文本框 17"/>
          <p:cNvSpPr txBox="1"/>
          <p:nvPr/>
        </p:nvSpPr>
        <p:spPr>
          <a:xfrm>
            <a:off x="583565" y="3472180"/>
            <a:ext cx="10367010" cy="368300"/>
          </a:xfrm>
          <a:prstGeom prst="rect">
            <a:avLst/>
          </a:prstGeom>
          <a:noFill/>
        </p:spPr>
        <p:txBody>
          <a:bodyPr wrap="square" rtlCol="0" anchor="t">
            <a:spAutoFit/>
          </a:bodyPr>
          <a:lstStyle/>
          <a:p>
            <a:pPr indent="0" algn="just">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构建损失函数：</a:t>
            </a:r>
            <a:r>
              <a:rPr lang="zh-CN" altLang="en-US" dirty="0">
                <a:latin typeface="微软雅黑" panose="020B0503020204020204" pitchFamily="34" charset="-122"/>
                <a:ea typeface="微软雅黑" panose="020B0503020204020204" pitchFamily="34" charset="-122"/>
                <a:sym typeface="Wingdings 2" panose="05020102010507070707" charset="0"/>
              </a:rPr>
              <a:t>损失函数的目标是通过最小化预测值与实际值之间的误差来学习词向量。其定义如下：</a:t>
            </a:r>
          </a:p>
        </p:txBody>
      </p:sp>
      <p:pic>
        <p:nvPicPr>
          <p:cNvPr id="19" name="图片 18"/>
          <p:cNvPicPr>
            <a:picLocks noChangeAspect="1"/>
          </p:cNvPicPr>
          <p:nvPr/>
        </p:nvPicPr>
        <p:blipFill>
          <a:blip r:embed="rId10"/>
          <a:stretch>
            <a:fillRect/>
          </a:stretch>
        </p:blipFill>
        <p:spPr>
          <a:xfrm>
            <a:off x="3665855" y="4288155"/>
            <a:ext cx="4638675" cy="695325"/>
          </a:xfrm>
          <a:prstGeom prst="rect">
            <a:avLst/>
          </a:prstGeom>
        </p:spPr>
      </p:pic>
      <p:sp>
        <p:nvSpPr>
          <p:cNvPr id="20" name="文本框 19"/>
          <p:cNvSpPr txBox="1"/>
          <p:nvPr/>
        </p:nvSpPr>
        <p:spPr>
          <a:xfrm>
            <a:off x="583565" y="5431155"/>
            <a:ext cx="10367010" cy="368300"/>
          </a:xfrm>
          <a:prstGeom prst="rect">
            <a:avLst/>
          </a:prstGeom>
          <a:noFill/>
        </p:spPr>
        <p:txBody>
          <a:bodyPr wrap="square" rtlCol="0" anchor="t">
            <a:spAutoFit/>
          </a:bodyPr>
          <a:lstStyle/>
          <a:p>
            <a:pPr indent="0" algn="just">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是共现次数</a:t>
            </a:r>
            <a:r>
              <a:rPr lang="en-US" altLang="zh-CN" dirty="0">
                <a:latin typeface="微软雅黑" panose="020B0503020204020204" pitchFamily="34" charset="-122"/>
                <a:ea typeface="微软雅黑" panose="020B0503020204020204" pitchFamily="34" charset="-122"/>
                <a:sym typeface="Wingdings 2" panose="05020102010507070707" charset="0"/>
              </a:rPr>
              <a:t>X</a:t>
            </a:r>
            <a:r>
              <a:rPr lang="en-US" altLang="zh-CN" baseline="-25000" dirty="0">
                <a:latin typeface="微软雅黑" panose="020B0503020204020204" pitchFamily="34" charset="-122"/>
                <a:ea typeface="微软雅黑" panose="020B0503020204020204" pitchFamily="34" charset="-122"/>
                <a:sym typeface="Wingdings 2" panose="05020102010507070707" charset="0"/>
              </a:rPr>
              <a:t>ij</a:t>
            </a:r>
            <a:r>
              <a:rPr lang="zh-CN" altLang="en-US" dirty="0">
                <a:latin typeface="微软雅黑" panose="020B0503020204020204" pitchFamily="34" charset="-122"/>
                <a:ea typeface="微软雅黑" panose="020B0503020204020204" pitchFamily="34" charset="-122"/>
                <a:sym typeface="Wingdings 2" panose="05020102010507070707" charset="0"/>
              </a:rPr>
              <a:t>的权重函数，其定义为</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p>
        </p:txBody>
      </p:sp>
      <p:pic>
        <p:nvPicPr>
          <p:cNvPr id="21" name="图片 20"/>
          <p:cNvPicPr>
            <a:picLocks noChangeAspect="1"/>
          </p:cNvPicPr>
          <p:nvPr/>
        </p:nvPicPr>
        <p:blipFill>
          <a:blip r:embed="rId11"/>
          <a:stretch>
            <a:fillRect/>
          </a:stretch>
        </p:blipFill>
        <p:spPr>
          <a:xfrm>
            <a:off x="1223010" y="5456555"/>
            <a:ext cx="704850" cy="342900"/>
          </a:xfrm>
          <a:prstGeom prst="rect">
            <a:avLst/>
          </a:prstGeom>
        </p:spPr>
      </p:pic>
      <p:pic>
        <p:nvPicPr>
          <p:cNvPr id="22" name="图片 21"/>
          <p:cNvPicPr>
            <a:picLocks noChangeAspect="1"/>
          </p:cNvPicPr>
          <p:nvPr/>
        </p:nvPicPr>
        <p:blipFill>
          <a:blip r:embed="rId12"/>
          <a:stretch>
            <a:fillRect/>
          </a:stretch>
        </p:blipFill>
        <p:spPr>
          <a:xfrm>
            <a:off x="5794375" y="5156835"/>
            <a:ext cx="3581400" cy="94297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2.5ELMo</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4" name="文本框 3"/>
          <p:cNvSpPr txBox="1"/>
          <p:nvPr/>
        </p:nvSpPr>
        <p:spPr>
          <a:xfrm>
            <a:off x="482600" y="1193165"/>
            <a:ext cx="10846435" cy="645160"/>
          </a:xfrm>
          <a:prstGeom prst="rect">
            <a:avLst/>
          </a:prstGeom>
          <a:noFill/>
        </p:spPr>
        <p:txBody>
          <a:bodyPr wrap="square" rtlCol="0" anchor="t">
            <a:spAutoFit/>
          </a:bodyPr>
          <a:lstStyle/>
          <a:p>
            <a:pPr marL="285750" indent="-285750" algn="just">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ELMo</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a:t>
            </a:r>
            <a:r>
              <a:rPr lang="en-US" altLang="zh-CN" dirty="0">
                <a:latin typeface="微软雅黑" panose="020B0503020204020204" pitchFamily="34" charset="-122"/>
                <a:ea typeface="微软雅黑" panose="020B0503020204020204" pitchFamily="34" charset="-122"/>
                <a:sym typeface="Wingdings 2" panose="05020102010507070707" charset="0"/>
              </a:rPr>
              <a:t>ELMo</a:t>
            </a:r>
            <a:r>
              <a:rPr lang="zh-CN" altLang="en-US" dirty="0">
                <a:latin typeface="微软雅黑" panose="020B0503020204020204" pitchFamily="34" charset="-122"/>
                <a:ea typeface="微软雅黑" panose="020B0503020204020204" pitchFamily="34" charset="-122"/>
                <a:sym typeface="Wingdings 2" panose="05020102010507070707" charset="0"/>
              </a:rPr>
              <a:t>模型是由Allen Institute for Artificial Intelligence于</a:t>
            </a:r>
            <a:r>
              <a:rPr lang="en-US" altLang="zh-CN" dirty="0">
                <a:latin typeface="微软雅黑" panose="020B0503020204020204" pitchFamily="34" charset="-122"/>
                <a:ea typeface="微软雅黑" panose="020B0503020204020204" pitchFamily="34" charset="-122"/>
                <a:sym typeface="Wingdings 2" panose="05020102010507070707" charset="0"/>
              </a:rPr>
              <a:t>2018</a:t>
            </a:r>
            <a:r>
              <a:rPr lang="zh-CN" altLang="en-US" dirty="0">
                <a:latin typeface="微软雅黑" panose="020B0503020204020204" pitchFamily="34" charset="-122"/>
                <a:ea typeface="微软雅黑" panose="020B0503020204020204" pitchFamily="34" charset="-122"/>
                <a:sym typeface="Wingdings 2" panose="05020102010507070707" charset="0"/>
              </a:rPr>
              <a:t>年提出的一种用于自然语言处理任务的预训练语言模型。</a:t>
            </a:r>
          </a:p>
        </p:txBody>
      </p:sp>
      <p:sp>
        <p:nvSpPr>
          <p:cNvPr id="10" name="文本框 9"/>
          <p:cNvSpPr txBox="1"/>
          <p:nvPr/>
        </p:nvSpPr>
        <p:spPr>
          <a:xfrm>
            <a:off x="482600" y="2399665"/>
            <a:ext cx="10846435" cy="645160"/>
          </a:xfrm>
          <a:prstGeom prst="rect">
            <a:avLst/>
          </a:prstGeom>
          <a:noFill/>
        </p:spPr>
        <p:txBody>
          <a:bodyPr wrap="square" rtlCol="0" anchor="t">
            <a:spAutoFit/>
          </a:bodyPr>
          <a:lstStyle/>
          <a:p>
            <a:pPr marL="285750" indent="-285750" algn="just">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模型特点：</a:t>
            </a:r>
            <a:r>
              <a:rPr lang="en-US" altLang="zh-CN" dirty="0">
                <a:latin typeface="微软雅黑" panose="020B0503020204020204" pitchFamily="34" charset="-122"/>
                <a:ea typeface="微软雅黑" panose="020B0503020204020204" pitchFamily="34" charset="-122"/>
                <a:sym typeface="Wingdings 2" panose="05020102010507070707" charset="0"/>
              </a:rPr>
              <a:t>ELMo</a:t>
            </a:r>
            <a:r>
              <a:rPr lang="zh-CN" altLang="en-US" dirty="0">
                <a:latin typeface="微软雅黑" panose="020B0503020204020204" pitchFamily="34" charset="-122"/>
                <a:ea typeface="微软雅黑" panose="020B0503020204020204" pitchFamily="34" charset="-122"/>
                <a:sym typeface="Wingdings 2" panose="05020102010507070707" charset="0"/>
              </a:rPr>
              <a:t>模型生成的词向量是上下文相关的，即它能够根据每个单词在不同语境中的具体含义，动态地调整其表示。解决了静态表示无法处理一词多义的问题。</a:t>
            </a:r>
          </a:p>
        </p:txBody>
      </p:sp>
      <p:sp>
        <p:nvSpPr>
          <p:cNvPr id="11" name="文本框 10"/>
          <p:cNvSpPr txBox="1"/>
          <p:nvPr/>
        </p:nvSpPr>
        <p:spPr>
          <a:xfrm>
            <a:off x="568325" y="3688080"/>
            <a:ext cx="10846435" cy="368300"/>
          </a:xfrm>
          <a:prstGeom prst="rect">
            <a:avLst/>
          </a:prstGeom>
          <a:noFill/>
        </p:spPr>
        <p:txBody>
          <a:bodyPr wrap="square" rtlCol="0" anchor="t">
            <a:spAutoFit/>
          </a:bodyPr>
          <a:lstStyle/>
          <a:p>
            <a:pPr marL="285750" indent="-285750" algn="just">
              <a:buFont typeface="Wingdings" panose="05000000000000000000" charset="0"/>
              <a:buChar char="l"/>
            </a:pPr>
            <a:r>
              <a:rPr lang="en-US" altLang="zh-CN"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ELMo</a:t>
            </a: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模型的训练：</a:t>
            </a:r>
            <a:r>
              <a:rPr lang="zh-CN" altLang="en-US" dirty="0">
                <a:latin typeface="微软雅黑" panose="020B0503020204020204" pitchFamily="34" charset="-122"/>
                <a:ea typeface="微软雅黑" panose="020B0503020204020204" pitchFamily="34" charset="-122"/>
                <a:sym typeface="Wingdings 2" panose="05020102010507070707" charset="0"/>
              </a:rPr>
              <a:t>预训练和微调，其中：</a:t>
            </a:r>
          </a:p>
        </p:txBody>
      </p:sp>
      <p:sp>
        <p:nvSpPr>
          <p:cNvPr id="12" name="文本框 11"/>
          <p:cNvSpPr txBox="1"/>
          <p:nvPr/>
        </p:nvSpPr>
        <p:spPr>
          <a:xfrm>
            <a:off x="1220470" y="4314190"/>
            <a:ext cx="9932670" cy="645160"/>
          </a:xfrm>
          <a:prstGeom prst="rect">
            <a:avLst/>
          </a:prstGeom>
          <a:noFill/>
        </p:spPr>
        <p:txBody>
          <a:bodyPr wrap="square" rtlCol="0" anchor="t">
            <a:spAutoFit/>
          </a:bodyPr>
          <a:lstStyle/>
          <a:p>
            <a:pPr algn="just"/>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b="1" dirty="0">
                <a:solidFill>
                  <a:srgbClr val="002060"/>
                </a:solidFill>
                <a:latin typeface="微软雅黑" panose="020B0503020204020204" pitchFamily="34" charset="-122"/>
                <a:ea typeface="微软雅黑" panose="020B0503020204020204" pitchFamily="34" charset="-122"/>
                <a:sym typeface="Wingdings 2" panose="05020102010507070707" charset="0"/>
              </a:rPr>
              <a:t>预训练</a:t>
            </a:r>
            <a:r>
              <a:rPr lang="zh-CN" altLang="en-US" dirty="0">
                <a:latin typeface="微软雅黑" panose="020B0503020204020204" pitchFamily="34" charset="-122"/>
                <a:ea typeface="微软雅黑" panose="020B0503020204020204" pitchFamily="34" charset="-122"/>
                <a:sym typeface="Wingdings 2" panose="05020102010507070707" charset="0"/>
              </a:rPr>
              <a:t>：在大规模文本数据上进行无监督预训练，同时考虑前向和后向语言模型，通过结合双向长短时记忆网络的神经网络结构来实现。</a:t>
            </a:r>
          </a:p>
        </p:txBody>
      </p:sp>
      <p:sp>
        <p:nvSpPr>
          <p:cNvPr id="13" name="文本框 12"/>
          <p:cNvSpPr txBox="1"/>
          <p:nvPr/>
        </p:nvSpPr>
        <p:spPr>
          <a:xfrm>
            <a:off x="1220470" y="5289550"/>
            <a:ext cx="9932670" cy="645160"/>
          </a:xfrm>
          <a:prstGeom prst="rect">
            <a:avLst/>
          </a:prstGeom>
          <a:noFill/>
        </p:spPr>
        <p:txBody>
          <a:bodyPr wrap="square" rtlCol="0" anchor="t">
            <a:spAutoFit/>
          </a:bodyPr>
          <a:lstStyle/>
          <a:p>
            <a:pPr algn="just"/>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b="1" dirty="0">
                <a:solidFill>
                  <a:srgbClr val="002060"/>
                </a:solidFill>
                <a:latin typeface="微软雅黑" panose="020B0503020204020204" pitchFamily="34" charset="-122"/>
                <a:ea typeface="微软雅黑" panose="020B0503020204020204" pitchFamily="34" charset="-122"/>
                <a:sym typeface="Wingdings 2" panose="05020102010507070707" charset="0"/>
              </a:rPr>
              <a:t>微调</a:t>
            </a:r>
            <a:r>
              <a:rPr lang="zh-CN" altLang="en-US" dirty="0">
                <a:latin typeface="微软雅黑" panose="020B0503020204020204" pitchFamily="34" charset="-122"/>
                <a:ea typeface="微软雅黑" panose="020B0503020204020204" pitchFamily="34" charset="-122"/>
                <a:sym typeface="Wingdings 2" panose="05020102010507070707" charset="0"/>
              </a:rPr>
              <a:t>：通过特定的监督学习任务（例如情感分析、文本分类等）进行微调。在微调过程中，将从预训练模型中提取的各层词嵌入作为新的特征输入，以便更好地适应特定应用场景。</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2.5ELMo</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4" name="文本框 3"/>
          <p:cNvSpPr txBox="1"/>
          <p:nvPr/>
        </p:nvSpPr>
        <p:spPr>
          <a:xfrm>
            <a:off x="482600" y="1193165"/>
            <a:ext cx="10846435" cy="368300"/>
          </a:xfrm>
          <a:prstGeom prst="rect">
            <a:avLst/>
          </a:prstGeom>
          <a:noFill/>
        </p:spPr>
        <p:txBody>
          <a:bodyPr wrap="square" rtlCol="0" anchor="t">
            <a:spAutoFit/>
          </a:bodyPr>
          <a:lstStyle/>
          <a:p>
            <a:pPr marL="285750" indent="-285750" algn="just">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预训练：</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grpSp>
        <p:nvGrpSpPr>
          <p:cNvPr id="20" name="组合 19"/>
          <p:cNvGrpSpPr/>
          <p:nvPr/>
        </p:nvGrpSpPr>
        <p:grpSpPr>
          <a:xfrm>
            <a:off x="482600" y="1613535"/>
            <a:ext cx="10845800" cy="1337310"/>
            <a:chOff x="760" y="2856"/>
            <a:chExt cx="17080" cy="2106"/>
          </a:xfrm>
        </p:grpSpPr>
        <p:sp>
          <p:nvSpPr>
            <p:cNvPr id="7" name="文本框 6"/>
            <p:cNvSpPr txBox="1"/>
            <p:nvPr/>
          </p:nvSpPr>
          <p:spPr>
            <a:xfrm>
              <a:off x="760" y="2856"/>
              <a:ext cx="17081" cy="2107"/>
            </a:xfrm>
            <a:prstGeom prst="rect">
              <a:avLst/>
            </a:prstGeom>
            <a:noFill/>
          </p:spPr>
          <p:txBody>
            <a:bodyPr wrap="square" rtlCol="0" anchor="t">
              <a:spAutoFit/>
            </a:bodyPr>
            <a:lstStyle/>
            <a:p>
              <a:pPr indent="457200" algn="just" fontAlgn="auto">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在自然语言处理中，双向语言模型是一种用于建模语言序列的方法。给定一个由</a:t>
              </a:r>
              <a:r>
                <a:rPr lang="en-US" altLang="zh-CN" i="1"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N</a:t>
              </a:r>
              <a:r>
                <a:rPr lang="zh-CN" altLang="en-US" dirty="0">
                  <a:latin typeface="微软雅黑" panose="020B0503020204020204" pitchFamily="34" charset="-122"/>
                  <a:ea typeface="微软雅黑" panose="020B0503020204020204" pitchFamily="34" charset="-122"/>
                  <a:sym typeface="Wingdings 2" panose="05020102010507070707" charset="0"/>
                </a:rPr>
                <a:t>个单词组成的序列</a:t>
              </a:r>
            </a:p>
            <a:p>
              <a:pPr indent="457200" algn="just" fontAlgn="auto">
                <a:lnSpc>
                  <a:spcPct val="150000"/>
                </a:lnSpc>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，双向语言模型同时考虑序列的前向和后向信息。</a:t>
              </a:r>
            </a:p>
            <a:p>
              <a:pPr indent="457200" algn="just" fontAlgn="auto">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前向语言模型的任务是计算整个序列的概率</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，通过对每个单词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建模，考虑到先前单词的历史：</a:t>
              </a:r>
            </a:p>
          </p:txBody>
        </p:sp>
        <p:pic>
          <p:nvPicPr>
            <p:cNvPr id="8" name="图片 7"/>
            <p:cNvPicPr>
              <a:picLocks noChangeAspect="1"/>
            </p:cNvPicPr>
            <p:nvPr/>
          </p:nvPicPr>
          <p:blipFill>
            <a:blip r:embed="rId4"/>
            <a:stretch>
              <a:fillRect/>
            </a:stretch>
          </p:blipFill>
          <p:spPr>
            <a:xfrm>
              <a:off x="880" y="3722"/>
              <a:ext cx="2340" cy="495"/>
            </a:xfrm>
            <a:prstGeom prst="rect">
              <a:avLst/>
            </a:prstGeom>
          </p:spPr>
        </p:pic>
      </p:grpSp>
      <p:pic>
        <p:nvPicPr>
          <p:cNvPr id="9" name="图片 8"/>
          <p:cNvPicPr>
            <a:picLocks noChangeAspect="1"/>
          </p:cNvPicPr>
          <p:nvPr/>
        </p:nvPicPr>
        <p:blipFill>
          <a:blip r:embed="rId5"/>
          <a:stretch>
            <a:fillRect/>
          </a:stretch>
        </p:blipFill>
        <p:spPr>
          <a:xfrm>
            <a:off x="5380355" y="2613660"/>
            <a:ext cx="209550" cy="228600"/>
          </a:xfrm>
          <a:prstGeom prst="rect">
            <a:avLst/>
          </a:prstGeom>
        </p:spPr>
      </p:pic>
      <p:pic>
        <p:nvPicPr>
          <p:cNvPr id="14" name="图片 13"/>
          <p:cNvPicPr>
            <a:picLocks noChangeAspect="1"/>
          </p:cNvPicPr>
          <p:nvPr/>
        </p:nvPicPr>
        <p:blipFill>
          <a:blip r:embed="rId6"/>
          <a:stretch>
            <a:fillRect/>
          </a:stretch>
        </p:blipFill>
        <p:spPr>
          <a:xfrm>
            <a:off x="7436485" y="2594610"/>
            <a:ext cx="285750" cy="257175"/>
          </a:xfrm>
          <a:prstGeom prst="rect">
            <a:avLst/>
          </a:prstGeom>
        </p:spPr>
      </p:pic>
      <p:pic>
        <p:nvPicPr>
          <p:cNvPr id="15" name="图片 14"/>
          <p:cNvPicPr>
            <a:picLocks noChangeAspect="1"/>
          </p:cNvPicPr>
          <p:nvPr/>
        </p:nvPicPr>
        <p:blipFill>
          <a:blip r:embed="rId7"/>
          <a:stretch>
            <a:fillRect/>
          </a:stretch>
        </p:blipFill>
        <p:spPr>
          <a:xfrm>
            <a:off x="3853180" y="2973070"/>
            <a:ext cx="4486275" cy="762000"/>
          </a:xfrm>
          <a:prstGeom prst="rect">
            <a:avLst/>
          </a:prstGeom>
        </p:spPr>
      </p:pic>
      <p:sp>
        <p:nvSpPr>
          <p:cNvPr id="16" name="文本框 15"/>
          <p:cNvSpPr txBox="1"/>
          <p:nvPr/>
        </p:nvSpPr>
        <p:spPr>
          <a:xfrm>
            <a:off x="482600" y="3747770"/>
            <a:ext cx="10846435" cy="506730"/>
          </a:xfrm>
          <a:prstGeom prst="rect">
            <a:avLst/>
          </a:prstGeom>
          <a:noFill/>
        </p:spPr>
        <p:txBody>
          <a:bodyPr wrap="square" rtlCol="0" anchor="t">
            <a:spAutoFit/>
          </a:bodyPr>
          <a:lstStyle/>
          <a:p>
            <a:pPr indent="457200" algn="just" fontAlgn="auto">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后向语言模型与前向模型类似，但在后向遍历序列时，通过考虑未来上下文来预测先前单词：</a:t>
            </a:r>
          </a:p>
        </p:txBody>
      </p:sp>
      <p:pic>
        <p:nvPicPr>
          <p:cNvPr id="18" name="图片 17"/>
          <p:cNvPicPr>
            <a:picLocks noChangeAspect="1"/>
          </p:cNvPicPr>
          <p:nvPr/>
        </p:nvPicPr>
        <p:blipFill>
          <a:blip r:embed="rId8"/>
          <a:stretch>
            <a:fillRect/>
          </a:stretch>
        </p:blipFill>
        <p:spPr>
          <a:xfrm>
            <a:off x="3710305" y="4334510"/>
            <a:ext cx="4772025" cy="742950"/>
          </a:xfrm>
          <a:prstGeom prst="rect">
            <a:avLst/>
          </a:prstGeom>
        </p:spPr>
      </p:pic>
      <p:sp>
        <p:nvSpPr>
          <p:cNvPr id="19" name="文本框 18"/>
          <p:cNvSpPr txBox="1"/>
          <p:nvPr/>
        </p:nvSpPr>
        <p:spPr>
          <a:xfrm>
            <a:off x="482600" y="5125085"/>
            <a:ext cx="10846435" cy="922020"/>
          </a:xfrm>
          <a:prstGeom prst="rect">
            <a:avLst/>
          </a:prstGeom>
          <a:noFill/>
        </p:spPr>
        <p:txBody>
          <a:bodyPr wrap="square" rtlCol="0" anchor="t">
            <a:spAutoFit/>
          </a:bodyPr>
          <a:lstStyle/>
          <a:p>
            <a:pPr indent="457200" algn="just" fontAlgn="auto">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为了综合前向和后向信息，双向语言模型结合了两者，通过联合最大化前向和后向的对数似然来进行训练：</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2.5ELMo</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4" name="文本框 3"/>
          <p:cNvSpPr txBox="1"/>
          <p:nvPr/>
        </p:nvSpPr>
        <p:spPr>
          <a:xfrm>
            <a:off x="482600" y="1193165"/>
            <a:ext cx="10846435" cy="368300"/>
          </a:xfrm>
          <a:prstGeom prst="rect">
            <a:avLst/>
          </a:prstGeom>
          <a:noFill/>
        </p:spPr>
        <p:txBody>
          <a:bodyPr wrap="square" rtlCol="0" anchor="t">
            <a:spAutoFit/>
          </a:bodyPr>
          <a:lstStyle/>
          <a:p>
            <a:pPr marL="285750" indent="-285750" algn="just">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预训练：</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sp>
        <p:nvSpPr>
          <p:cNvPr id="19" name="文本框 18"/>
          <p:cNvSpPr txBox="1"/>
          <p:nvPr/>
        </p:nvSpPr>
        <p:spPr>
          <a:xfrm>
            <a:off x="583565" y="3051175"/>
            <a:ext cx="10846435" cy="506730"/>
          </a:xfrm>
          <a:prstGeom prst="rect">
            <a:avLst/>
          </a:prstGeom>
          <a:noFill/>
        </p:spPr>
        <p:txBody>
          <a:bodyPr wrap="square" rtlCol="0" anchor="t">
            <a:spAutoFit/>
          </a:bodyPr>
          <a:lstStyle/>
          <a:p>
            <a:pPr indent="0" algn="just" fontAlgn="auto">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是词向量参数，</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a:t>
            </a:r>
            <a:r>
              <a:rPr lang="en-US" altLang="zh-CN" dirty="0">
                <a:latin typeface="微软雅黑" panose="020B0503020204020204" pitchFamily="34" charset="-122"/>
                <a:ea typeface="微软雅黑" panose="020B0503020204020204" pitchFamily="34" charset="-122"/>
                <a:sym typeface="Wingdings 2" panose="05020102010507070707" charset="0"/>
              </a:rPr>
              <a:t>LSTM</a:t>
            </a:r>
            <a:r>
              <a:rPr lang="zh-CN" altLang="en-US" dirty="0">
                <a:latin typeface="微软雅黑" panose="020B0503020204020204" pitchFamily="34" charset="-122"/>
                <a:ea typeface="微软雅黑" panose="020B0503020204020204" pitchFamily="34" charset="-122"/>
                <a:sym typeface="Wingdings 2" panose="05020102010507070707" charset="0"/>
              </a:rPr>
              <a:t>模型的参数，</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是模型最终预测阶段</a:t>
            </a:r>
            <a:r>
              <a:rPr lang="en-US" altLang="zh-CN" dirty="0">
                <a:latin typeface="微软雅黑" panose="020B0503020204020204" pitchFamily="34" charset="-122"/>
                <a:ea typeface="微软雅黑" panose="020B0503020204020204" pitchFamily="34" charset="-122"/>
                <a:sym typeface="Wingdings 2" panose="05020102010507070707" charset="0"/>
              </a:rPr>
              <a:t>Softmax</a:t>
            </a:r>
            <a:r>
              <a:rPr lang="zh-CN" altLang="en-US" dirty="0">
                <a:latin typeface="微软雅黑" panose="020B0503020204020204" pitchFamily="34" charset="-122"/>
                <a:ea typeface="微软雅黑" panose="020B0503020204020204" pitchFamily="34" charset="-122"/>
                <a:sym typeface="Wingdings 2" panose="05020102010507070707" charset="0"/>
              </a:rPr>
              <a:t>层的参数。</a:t>
            </a:r>
          </a:p>
        </p:txBody>
      </p:sp>
      <p:pic>
        <p:nvPicPr>
          <p:cNvPr id="10" name="图片 9"/>
          <p:cNvPicPr>
            <a:picLocks noChangeAspect="1"/>
          </p:cNvPicPr>
          <p:nvPr/>
        </p:nvPicPr>
        <p:blipFill>
          <a:blip r:embed="rId4"/>
          <a:stretch>
            <a:fillRect/>
          </a:stretch>
        </p:blipFill>
        <p:spPr>
          <a:xfrm>
            <a:off x="3577590" y="1561465"/>
            <a:ext cx="4857750" cy="1200150"/>
          </a:xfrm>
          <a:prstGeom prst="rect">
            <a:avLst/>
          </a:prstGeom>
        </p:spPr>
      </p:pic>
      <p:pic>
        <p:nvPicPr>
          <p:cNvPr id="11" name="图片 10"/>
          <p:cNvPicPr>
            <a:picLocks noChangeAspect="1"/>
          </p:cNvPicPr>
          <p:nvPr/>
        </p:nvPicPr>
        <p:blipFill>
          <a:blip r:embed="rId5"/>
          <a:stretch>
            <a:fillRect/>
          </a:stretch>
        </p:blipFill>
        <p:spPr>
          <a:xfrm>
            <a:off x="1268095" y="3228975"/>
            <a:ext cx="352425" cy="266700"/>
          </a:xfrm>
          <a:prstGeom prst="rect">
            <a:avLst/>
          </a:prstGeom>
        </p:spPr>
      </p:pic>
      <p:pic>
        <p:nvPicPr>
          <p:cNvPr id="12" name="图片 11"/>
          <p:cNvPicPr>
            <a:picLocks noChangeAspect="1"/>
          </p:cNvPicPr>
          <p:nvPr/>
        </p:nvPicPr>
        <p:blipFill>
          <a:blip r:embed="rId6"/>
          <a:stretch>
            <a:fillRect/>
          </a:stretch>
        </p:blipFill>
        <p:spPr>
          <a:xfrm>
            <a:off x="3186430" y="3219450"/>
            <a:ext cx="800100" cy="266700"/>
          </a:xfrm>
          <a:prstGeom prst="rect">
            <a:avLst/>
          </a:prstGeom>
        </p:spPr>
      </p:pic>
      <p:pic>
        <p:nvPicPr>
          <p:cNvPr id="13" name="图片 12"/>
          <p:cNvPicPr>
            <a:picLocks noChangeAspect="1"/>
          </p:cNvPicPr>
          <p:nvPr/>
        </p:nvPicPr>
        <p:blipFill>
          <a:blip r:embed="rId7"/>
          <a:stretch>
            <a:fillRect/>
          </a:stretch>
        </p:blipFill>
        <p:spPr>
          <a:xfrm>
            <a:off x="6153150" y="3209925"/>
            <a:ext cx="352425" cy="304800"/>
          </a:xfrm>
          <a:prstGeom prst="rect">
            <a:avLst/>
          </a:prstGeom>
        </p:spPr>
      </p:pic>
      <p:sp>
        <p:nvSpPr>
          <p:cNvPr id="21" name="文本框 20"/>
          <p:cNvSpPr txBox="1"/>
          <p:nvPr/>
        </p:nvSpPr>
        <p:spPr>
          <a:xfrm>
            <a:off x="568325" y="3557905"/>
            <a:ext cx="10846435" cy="1337945"/>
          </a:xfrm>
          <a:prstGeom prst="rect">
            <a:avLst/>
          </a:prstGeom>
          <a:noFill/>
        </p:spPr>
        <p:txBody>
          <a:bodyPr wrap="square" rtlCol="0" anchor="t">
            <a:spAutoFit/>
          </a:bodyPr>
          <a:lstStyle/>
          <a:p>
            <a:pPr indent="457200" algn="just" fontAlgn="auto">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在这个模型中，将前向和后向方向的单词表示和</a:t>
            </a:r>
            <a:r>
              <a:rPr lang="en-US" altLang="zh-CN" dirty="0">
                <a:latin typeface="微软雅黑" panose="020B0503020204020204" pitchFamily="34" charset="-122"/>
                <a:ea typeface="微软雅黑" panose="020B0503020204020204" pitchFamily="34" charset="-122"/>
                <a:sym typeface="Wingdings 2" panose="05020102010507070707" charset="0"/>
              </a:rPr>
              <a:t>Softmax</a:t>
            </a:r>
            <a:r>
              <a:rPr lang="zh-CN" altLang="en-US" dirty="0">
                <a:latin typeface="微软雅黑" panose="020B0503020204020204" pitchFamily="34" charset="-122"/>
                <a:ea typeface="微软雅黑" panose="020B0503020204020204" pitchFamily="34" charset="-122"/>
                <a:sym typeface="Wingdings 2" panose="05020102010507070707" charset="0"/>
              </a:rPr>
              <a:t>层的参数绑定一起，但保持每个方向的</a:t>
            </a:r>
            <a:r>
              <a:rPr lang="en-US" altLang="zh-CN" dirty="0">
                <a:latin typeface="微软雅黑" panose="020B0503020204020204" pitchFamily="34" charset="-122"/>
                <a:ea typeface="微软雅黑" panose="020B0503020204020204" pitchFamily="34" charset="-122"/>
                <a:sym typeface="Wingdings 2" panose="05020102010507070707" charset="0"/>
              </a:rPr>
              <a:t>LSTM</a:t>
            </a:r>
            <a:r>
              <a:rPr lang="zh-CN" altLang="en-US" dirty="0">
                <a:latin typeface="微软雅黑" panose="020B0503020204020204" pitchFamily="34" charset="-122"/>
                <a:ea typeface="微软雅黑" panose="020B0503020204020204" pitchFamily="34" charset="-122"/>
                <a:sym typeface="Wingdings 2" panose="05020102010507070707" charset="0"/>
              </a:rPr>
              <a:t>模型参数独立。这种双向语言模型的设计旨在更全面地捕获语言序列中的上下文信息，有助于提高在自然语言处理任务中的性能。</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2.5ELMo</a:t>
            </a:r>
            <a:r>
              <a:rPr lang="zh-CN" altLang="en-US" sz="2880" dirty="0">
                <a:solidFill>
                  <a:srgbClr val="0070C0"/>
                </a:solidFill>
                <a:latin typeface="微软雅黑" panose="020B0503020204020204" pitchFamily="34" charset="-122"/>
                <a:ea typeface="微软雅黑" panose="020B0503020204020204" pitchFamily="34" charset="-122"/>
              </a:rPr>
              <a:t>模型</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4" name="文本框 3"/>
          <p:cNvSpPr txBox="1"/>
          <p:nvPr/>
        </p:nvSpPr>
        <p:spPr>
          <a:xfrm>
            <a:off x="482600" y="1097915"/>
            <a:ext cx="10846435" cy="368300"/>
          </a:xfrm>
          <a:prstGeom prst="rect">
            <a:avLst/>
          </a:prstGeom>
          <a:noFill/>
        </p:spPr>
        <p:txBody>
          <a:bodyPr wrap="square" rtlCol="0" anchor="t">
            <a:spAutoFit/>
          </a:bodyPr>
          <a:lstStyle/>
          <a:p>
            <a:pPr marL="285750" indent="-285750" algn="just">
              <a:buFont typeface="Wingdings" panose="05000000000000000000" charset="0"/>
              <a:buChar char="l"/>
            </a:pPr>
            <a:r>
              <a:rPr lang="zh-CN" altLang="en-US"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任务微调：</a:t>
            </a:r>
            <a:endParaRPr lang="zh-CN" altLang="en-US" dirty="0">
              <a:latin typeface="微软雅黑" panose="020B0503020204020204" pitchFamily="34" charset="-122"/>
              <a:ea typeface="微软雅黑" panose="020B0503020204020204" pitchFamily="34" charset="-122"/>
              <a:sym typeface="Wingdings 2" panose="05020102010507070707" charset="0"/>
            </a:endParaRPr>
          </a:p>
        </p:txBody>
      </p:sp>
      <p:pic>
        <p:nvPicPr>
          <p:cNvPr id="14" name="图片 13"/>
          <p:cNvPicPr>
            <a:picLocks noChangeAspect="1"/>
          </p:cNvPicPr>
          <p:nvPr/>
        </p:nvPicPr>
        <p:blipFill>
          <a:blip r:embed="rId4"/>
          <a:stretch>
            <a:fillRect/>
          </a:stretch>
        </p:blipFill>
        <p:spPr>
          <a:xfrm>
            <a:off x="5894070" y="2238375"/>
            <a:ext cx="285750" cy="285750"/>
          </a:xfrm>
          <a:prstGeom prst="rect">
            <a:avLst/>
          </a:prstGeom>
        </p:spPr>
      </p:pic>
      <p:pic>
        <p:nvPicPr>
          <p:cNvPr id="15" name="图片 14"/>
          <p:cNvPicPr>
            <a:picLocks noChangeAspect="1"/>
          </p:cNvPicPr>
          <p:nvPr/>
        </p:nvPicPr>
        <p:blipFill>
          <a:blip r:embed="rId5"/>
          <a:stretch>
            <a:fillRect/>
          </a:stretch>
        </p:blipFill>
        <p:spPr>
          <a:xfrm>
            <a:off x="3565525" y="3136265"/>
            <a:ext cx="4286250" cy="819150"/>
          </a:xfrm>
          <a:prstGeom prst="rect">
            <a:avLst/>
          </a:prstGeom>
        </p:spPr>
      </p:pic>
      <p:grpSp>
        <p:nvGrpSpPr>
          <p:cNvPr id="26" name="组合 25"/>
          <p:cNvGrpSpPr/>
          <p:nvPr/>
        </p:nvGrpSpPr>
        <p:grpSpPr>
          <a:xfrm>
            <a:off x="583565" y="1535430"/>
            <a:ext cx="10367010" cy="1752600"/>
            <a:chOff x="919" y="2643"/>
            <a:chExt cx="16326" cy="2760"/>
          </a:xfrm>
        </p:grpSpPr>
        <p:sp>
          <p:nvSpPr>
            <p:cNvPr id="8" name="文本框 7"/>
            <p:cNvSpPr txBox="1"/>
            <p:nvPr/>
          </p:nvSpPr>
          <p:spPr>
            <a:xfrm>
              <a:off x="919" y="2643"/>
              <a:ext cx="16326" cy="2761"/>
            </a:xfrm>
            <a:prstGeom prst="rect">
              <a:avLst/>
            </a:prstGeom>
            <a:noFill/>
          </p:spPr>
          <p:txBody>
            <a:bodyPr wrap="square" rtlCol="0" anchor="t">
              <a:spAutoFit/>
            </a:bodyPr>
            <a:lstStyle/>
            <a:p>
              <a:pPr indent="0" algn="just" fontAlgn="auto">
                <a:lnSpc>
                  <a:spcPct val="150000"/>
                </a:lnSpc>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双向语言模型的表示计算：</a:t>
              </a:r>
              <a:r>
                <a:rPr lang="zh-CN" altLang="en-US" dirty="0">
                  <a:latin typeface="微软雅黑" panose="020B0503020204020204" pitchFamily="34" charset="-122"/>
                  <a:ea typeface="微软雅黑" panose="020B0503020204020204" pitchFamily="34" charset="-122"/>
                  <a:sym typeface="Wingdings 2" panose="05020102010507070707" charset="0"/>
                </a:rPr>
                <a:t>对于每个输入单词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a:t>
              </a:r>
              <a:r>
                <a:rPr lang="en-US" altLang="zh-CN" dirty="0">
                  <a:latin typeface="微软雅黑" panose="020B0503020204020204" pitchFamily="34" charset="-122"/>
                  <a:ea typeface="微软雅黑" panose="020B0503020204020204" pitchFamily="34" charset="-122"/>
                  <a:sym typeface="Wingdings 2" panose="05020102010507070707" charset="0"/>
                </a:rPr>
                <a:t>ELMo</a:t>
              </a:r>
              <a:r>
                <a:rPr lang="zh-CN" altLang="en-US" dirty="0">
                  <a:latin typeface="微软雅黑" panose="020B0503020204020204" pitchFamily="34" charset="-122"/>
                  <a:ea typeface="微软雅黑" panose="020B0503020204020204" pitchFamily="34" charset="-122"/>
                  <a:sym typeface="Wingdings 2" panose="05020102010507070707" charset="0"/>
                </a:rPr>
                <a:t>模型利用一个包含</a:t>
              </a:r>
              <a:r>
                <a:rPr lang="en-US" altLang="zh-CN"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L</a:t>
              </a:r>
              <a:r>
                <a:rPr lang="zh-CN" altLang="en-US" dirty="0">
                  <a:latin typeface="微软雅黑" panose="020B0503020204020204" pitchFamily="34" charset="-122"/>
                  <a:ea typeface="微软雅黑" panose="020B0503020204020204" pitchFamily="34" charset="-122"/>
                  <a:sym typeface="Wingdings 2" panose="05020102010507070707" charset="0"/>
                </a:rPr>
                <a:t>层的双向语言模型来生成一系列表示，具体包括：单词层表示</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，即与</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上下文无关的表示；以及正向表示</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和后向表示</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，分别对应于</a:t>
              </a:r>
              <a:r>
                <a:rPr lang="en-US" altLang="zh-CN" dirty="0">
                  <a:latin typeface="微软雅黑" panose="020B0503020204020204" pitchFamily="34" charset="-122"/>
                  <a:ea typeface="微软雅黑" panose="020B0503020204020204" pitchFamily="34" charset="-122"/>
                  <a:sym typeface="Wingdings 2" panose="05020102010507070707" charset="0"/>
                </a:rPr>
                <a:t>BiLSTM</a:t>
              </a:r>
              <a:r>
                <a:rPr lang="zh-CN" altLang="en-US" dirty="0">
                  <a:latin typeface="微软雅黑" panose="020B0503020204020204" pitchFamily="34" charset="-122"/>
                  <a:ea typeface="微软雅黑" panose="020B0503020204020204" pitchFamily="34" charset="-122"/>
                  <a:sym typeface="Wingdings 2" panose="05020102010507070707" charset="0"/>
                </a:rPr>
                <a:t>在第</a:t>
              </a:r>
              <a:r>
                <a:rPr lang="en-US" altLang="zh-CN" i="1" dirty="0">
                  <a:latin typeface="Times New Roman" panose="02020603050405020304" charset="0"/>
                  <a:ea typeface="微软雅黑" panose="020B0503020204020204" pitchFamily="34" charset="-122"/>
                  <a:cs typeface="Times New Roman" panose="02020603050405020304" charset="0"/>
                  <a:sym typeface="Wingdings 2" panose="05020102010507070707" charset="0"/>
                </a:rPr>
                <a:t>j</a:t>
              </a:r>
              <a:r>
                <a:rPr lang="zh-CN" altLang="en-US" dirty="0">
                  <a:latin typeface="微软雅黑" panose="020B0503020204020204" pitchFamily="34" charset="-122"/>
                  <a:ea typeface="微软雅黑" panose="020B0503020204020204" pitchFamily="34" charset="-122"/>
                  <a:sym typeface="Wingdings 2" panose="05020102010507070707" charset="0"/>
                </a:rPr>
                <a:t>层的正向和后向隐藏层输出。对于每个单词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，这些表示组成一个集合</a:t>
              </a:r>
            </a:p>
          </p:txBody>
        </p:sp>
        <p:pic>
          <p:nvPicPr>
            <p:cNvPr id="7" name="图片 6"/>
            <p:cNvPicPr>
              <a:picLocks noChangeAspect="1"/>
            </p:cNvPicPr>
            <p:nvPr/>
          </p:nvPicPr>
          <p:blipFill>
            <a:blip r:embed="rId6"/>
            <a:stretch>
              <a:fillRect/>
            </a:stretch>
          </p:blipFill>
          <p:spPr>
            <a:xfrm>
              <a:off x="8467" y="2886"/>
              <a:ext cx="465" cy="465"/>
            </a:xfrm>
            <a:prstGeom prst="rect">
              <a:avLst/>
            </a:prstGeom>
          </p:spPr>
        </p:pic>
        <p:pic>
          <p:nvPicPr>
            <p:cNvPr id="9" name="图片 8"/>
            <p:cNvPicPr>
              <a:picLocks noChangeAspect="1"/>
            </p:cNvPicPr>
            <p:nvPr/>
          </p:nvPicPr>
          <p:blipFill>
            <a:blip r:embed="rId7"/>
            <a:stretch>
              <a:fillRect/>
            </a:stretch>
          </p:blipFill>
          <p:spPr>
            <a:xfrm>
              <a:off x="7241" y="3450"/>
              <a:ext cx="750" cy="570"/>
            </a:xfrm>
            <a:prstGeom prst="rect">
              <a:avLst/>
            </a:prstGeom>
          </p:spPr>
        </p:pic>
        <p:pic>
          <p:nvPicPr>
            <p:cNvPr id="16" name="图片 15"/>
            <p:cNvPicPr>
              <a:picLocks noChangeAspect="1"/>
            </p:cNvPicPr>
            <p:nvPr/>
          </p:nvPicPr>
          <p:blipFill>
            <a:blip r:embed="rId8"/>
            <a:stretch>
              <a:fillRect/>
            </a:stretch>
          </p:blipFill>
          <p:spPr>
            <a:xfrm>
              <a:off x="15326" y="3435"/>
              <a:ext cx="930" cy="645"/>
            </a:xfrm>
            <a:prstGeom prst="rect">
              <a:avLst/>
            </a:prstGeom>
          </p:spPr>
        </p:pic>
        <p:pic>
          <p:nvPicPr>
            <p:cNvPr id="18" name="图片 17"/>
            <p:cNvPicPr>
              <a:picLocks noChangeAspect="1"/>
            </p:cNvPicPr>
            <p:nvPr/>
          </p:nvPicPr>
          <p:blipFill>
            <a:blip r:embed="rId9"/>
            <a:stretch>
              <a:fillRect/>
            </a:stretch>
          </p:blipFill>
          <p:spPr>
            <a:xfrm>
              <a:off x="2208" y="4080"/>
              <a:ext cx="960" cy="705"/>
            </a:xfrm>
            <a:prstGeom prst="rect">
              <a:avLst/>
            </a:prstGeom>
          </p:spPr>
        </p:pic>
        <p:pic>
          <p:nvPicPr>
            <p:cNvPr id="20" name="图片 19"/>
            <p:cNvPicPr>
              <a:picLocks noChangeAspect="1"/>
            </p:cNvPicPr>
            <p:nvPr/>
          </p:nvPicPr>
          <p:blipFill>
            <a:blip r:embed="rId10"/>
            <a:stretch>
              <a:fillRect/>
            </a:stretch>
          </p:blipFill>
          <p:spPr>
            <a:xfrm>
              <a:off x="14791" y="4192"/>
              <a:ext cx="360" cy="420"/>
            </a:xfrm>
            <a:prstGeom prst="rect">
              <a:avLst/>
            </a:prstGeom>
          </p:spPr>
        </p:pic>
      </p:grpSp>
      <p:grpSp>
        <p:nvGrpSpPr>
          <p:cNvPr id="27" name="组合 26"/>
          <p:cNvGrpSpPr/>
          <p:nvPr/>
        </p:nvGrpSpPr>
        <p:grpSpPr>
          <a:xfrm>
            <a:off x="583565" y="4077970"/>
            <a:ext cx="10367010" cy="922020"/>
            <a:chOff x="919" y="6887"/>
            <a:chExt cx="16326" cy="1452"/>
          </a:xfrm>
        </p:grpSpPr>
        <p:sp>
          <p:nvSpPr>
            <p:cNvPr id="22" name="文本框 21"/>
            <p:cNvSpPr txBox="1"/>
            <p:nvPr/>
          </p:nvSpPr>
          <p:spPr>
            <a:xfrm>
              <a:off x="919" y="6887"/>
              <a:ext cx="16326" cy="1452"/>
            </a:xfrm>
            <a:prstGeom prst="rect">
              <a:avLst/>
            </a:prstGeom>
            <a:noFill/>
          </p:spPr>
          <p:txBody>
            <a:bodyPr wrap="square" rtlCol="0" anchor="t">
              <a:spAutoFit/>
            </a:bodyPr>
            <a:lstStyle/>
            <a:p>
              <a:pPr indent="0" algn="just" fontAlgn="auto">
                <a:lnSpc>
                  <a:spcPct val="150000"/>
                </a:lnSpc>
                <a:buFont typeface="Wingdings" panose="05000000000000000000" charset="0"/>
                <a:buNone/>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针对特定任务的表示生成：</a:t>
              </a:r>
              <a:r>
                <a:rPr lang="zh-CN" altLang="en-US" dirty="0">
                  <a:latin typeface="微软雅黑" panose="020B0503020204020204" pitchFamily="34" charset="-122"/>
                  <a:ea typeface="微软雅黑" panose="020B0503020204020204" pitchFamily="34" charset="-122"/>
                  <a:sym typeface="Wingdings 2" panose="05020102010507070707" charset="0"/>
                </a:rPr>
                <a:t>对于每个单词</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，特定任务的</a:t>
              </a:r>
              <a:r>
                <a:rPr lang="en-US" altLang="zh-CN" dirty="0">
                  <a:latin typeface="微软雅黑" panose="020B0503020204020204" pitchFamily="34" charset="-122"/>
                  <a:ea typeface="微软雅黑" panose="020B0503020204020204" pitchFamily="34" charset="-122"/>
                  <a:sym typeface="Wingdings 2" panose="05020102010507070707" charset="0"/>
                </a:rPr>
                <a:t>ELMo</a:t>
              </a:r>
              <a:r>
                <a:rPr lang="zh-CN" altLang="en-US" dirty="0">
                  <a:latin typeface="微软雅黑" panose="020B0503020204020204" pitchFamily="34" charset="-122"/>
                  <a:ea typeface="微软雅黑" panose="020B0503020204020204" pitchFamily="34" charset="-122"/>
                  <a:sym typeface="Wingdings 2" panose="05020102010507070707" charset="0"/>
                </a:rPr>
                <a:t>表示</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是通过对所有双向语言模型层的输出进行加权求和得到，</a:t>
              </a:r>
            </a:p>
          </p:txBody>
        </p:sp>
        <p:pic>
          <p:nvPicPr>
            <p:cNvPr id="23" name="图片 22"/>
            <p:cNvPicPr>
              <a:picLocks noChangeAspect="1"/>
            </p:cNvPicPr>
            <p:nvPr/>
          </p:nvPicPr>
          <p:blipFill>
            <a:blip r:embed="rId11"/>
            <a:stretch>
              <a:fillRect/>
            </a:stretch>
          </p:blipFill>
          <p:spPr>
            <a:xfrm>
              <a:off x="7631" y="7099"/>
              <a:ext cx="465" cy="435"/>
            </a:xfrm>
            <a:prstGeom prst="rect">
              <a:avLst/>
            </a:prstGeom>
          </p:spPr>
        </p:pic>
        <p:pic>
          <p:nvPicPr>
            <p:cNvPr id="24" name="图片 23"/>
            <p:cNvPicPr>
              <a:picLocks noChangeAspect="1"/>
            </p:cNvPicPr>
            <p:nvPr/>
          </p:nvPicPr>
          <p:blipFill>
            <a:blip r:embed="rId12"/>
            <a:stretch>
              <a:fillRect/>
            </a:stretch>
          </p:blipFill>
          <p:spPr>
            <a:xfrm>
              <a:off x="12225" y="7054"/>
              <a:ext cx="1740" cy="585"/>
            </a:xfrm>
            <a:prstGeom prst="rect">
              <a:avLst/>
            </a:prstGeom>
          </p:spPr>
        </p:pic>
      </p:grpSp>
      <p:pic>
        <p:nvPicPr>
          <p:cNvPr id="25" name="图片 24"/>
          <p:cNvPicPr>
            <a:picLocks noChangeAspect="1"/>
          </p:cNvPicPr>
          <p:nvPr/>
        </p:nvPicPr>
        <p:blipFill>
          <a:blip r:embed="rId13"/>
          <a:stretch>
            <a:fillRect/>
          </a:stretch>
        </p:blipFill>
        <p:spPr>
          <a:xfrm>
            <a:off x="4093210" y="4933315"/>
            <a:ext cx="3248025" cy="752475"/>
          </a:xfrm>
          <a:prstGeom prst="rect">
            <a:avLst/>
          </a:prstGeom>
        </p:spPr>
      </p:pic>
      <p:sp>
        <p:nvSpPr>
          <p:cNvPr id="28" name="文本框 27"/>
          <p:cNvSpPr txBox="1"/>
          <p:nvPr/>
        </p:nvSpPr>
        <p:spPr>
          <a:xfrm>
            <a:off x="583565" y="5695315"/>
            <a:ext cx="10367010" cy="506730"/>
          </a:xfrm>
          <a:prstGeom prst="rect">
            <a:avLst/>
          </a:prstGeom>
          <a:noFill/>
        </p:spPr>
        <p:txBody>
          <a:bodyPr wrap="square" rtlCol="0" anchor="t">
            <a:spAutoFit/>
          </a:bodyPr>
          <a:lstStyle/>
          <a:p>
            <a:pPr indent="0" algn="just" fontAlgn="auto">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Wingdings 2" panose="05020102010507070707" charset="0"/>
              </a:rPr>
              <a:t>其中，</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a:t>
            </a:r>
            <a:r>
              <a:rPr lang="en-US" altLang="zh-CN" dirty="0">
                <a:latin typeface="微软雅黑" panose="020B0503020204020204" pitchFamily="34" charset="-122"/>
                <a:ea typeface="微软雅黑" panose="020B0503020204020204" pitchFamily="34" charset="-122"/>
                <a:sym typeface="Wingdings 2" panose="05020102010507070707" charset="0"/>
              </a:rPr>
              <a:t>Softmax</a:t>
            </a:r>
            <a:r>
              <a:rPr lang="zh-CN" altLang="en-US" dirty="0">
                <a:latin typeface="微软雅黑" panose="020B0503020204020204" pitchFamily="34" charset="-122"/>
                <a:ea typeface="微软雅黑" panose="020B0503020204020204" pitchFamily="34" charset="-122"/>
                <a:sym typeface="Wingdings 2" panose="05020102010507070707" charset="0"/>
              </a:rPr>
              <a:t>归一化的权重，用于调整每个双向语言模型层的贡献，</a:t>
            </a:r>
            <a:r>
              <a:rPr lang="en-US" altLang="zh-CN" dirty="0">
                <a:latin typeface="微软雅黑" panose="020B0503020204020204" pitchFamily="34" charset="-122"/>
                <a:ea typeface="微软雅黑" panose="020B0503020204020204" pitchFamily="34" charset="-122"/>
                <a:sym typeface="Wingdings 2" panose="05020102010507070707" charset="0"/>
              </a:rPr>
              <a:t>      </a:t>
            </a:r>
            <a:r>
              <a:rPr lang="zh-CN" altLang="en-US" dirty="0">
                <a:latin typeface="微软雅黑" panose="020B0503020204020204" pitchFamily="34" charset="-122"/>
                <a:ea typeface="微软雅黑" panose="020B0503020204020204" pitchFamily="34" charset="-122"/>
                <a:sym typeface="Wingdings 2" panose="05020102010507070707" charset="0"/>
              </a:rPr>
              <a:t>是一个标量参数。</a:t>
            </a:r>
          </a:p>
        </p:txBody>
      </p:sp>
      <p:pic>
        <p:nvPicPr>
          <p:cNvPr id="29" name="图片 28"/>
          <p:cNvPicPr>
            <a:picLocks noChangeAspect="1"/>
          </p:cNvPicPr>
          <p:nvPr/>
        </p:nvPicPr>
        <p:blipFill>
          <a:blip r:embed="rId14"/>
          <a:stretch>
            <a:fillRect/>
          </a:stretch>
        </p:blipFill>
        <p:spPr>
          <a:xfrm>
            <a:off x="1308100" y="5820410"/>
            <a:ext cx="504825" cy="352425"/>
          </a:xfrm>
          <a:prstGeom prst="rect">
            <a:avLst/>
          </a:prstGeom>
        </p:spPr>
      </p:pic>
      <p:pic>
        <p:nvPicPr>
          <p:cNvPr id="30" name="图片 29"/>
          <p:cNvPicPr>
            <a:picLocks noChangeAspect="1"/>
          </p:cNvPicPr>
          <p:nvPr/>
        </p:nvPicPr>
        <p:blipFill>
          <a:blip r:embed="rId15"/>
          <a:stretch>
            <a:fillRect/>
          </a:stretch>
        </p:blipFill>
        <p:spPr>
          <a:xfrm>
            <a:off x="8391525" y="5825490"/>
            <a:ext cx="514350" cy="34290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3"/>
          <p:cNvSpPr txBox="1">
            <a:spLocks noGrp="1"/>
          </p:cNvSpPr>
          <p:nvPr>
            <p:ph type="title"/>
          </p:nvPr>
        </p:nvSpPr>
        <p:spPr>
          <a:xfrm>
            <a:off x="583565" y="483450"/>
            <a:ext cx="6672072" cy="457835"/>
          </a:xfrm>
          <a:prstGeom prst="rect">
            <a:avLst/>
          </a:prstGeom>
        </p:spPr>
        <p:txBody>
          <a:bodyPr vert="horz" wrap="square" lIns="0" tIns="15240" rIns="0" bIns="0" rtlCol="0">
            <a:spAutoFit/>
          </a:bodyPr>
          <a:lstStyle/>
          <a:p>
            <a:pPr marL="12700" algn="l" rtl="0">
              <a:spcBef>
                <a:spcPts val="100"/>
              </a:spcBef>
            </a:pPr>
            <a:r>
              <a:rPr lang="en-US" altLang="zh-CN" sz="2880" dirty="0">
                <a:solidFill>
                  <a:srgbClr val="0070C0"/>
                </a:solidFill>
                <a:latin typeface="微软雅黑" panose="020B0503020204020204" pitchFamily="34" charset="-122"/>
                <a:ea typeface="微软雅黑" panose="020B0503020204020204" pitchFamily="34" charset="-122"/>
              </a:rPr>
              <a:t>2.6</a:t>
            </a:r>
            <a:r>
              <a:rPr lang="zh-CN" altLang="en-US" sz="2880" dirty="0">
                <a:solidFill>
                  <a:srgbClr val="0070C0"/>
                </a:solidFill>
                <a:latin typeface="微软雅黑" panose="020B0503020204020204" pitchFamily="34" charset="-122"/>
                <a:ea typeface="微软雅黑" panose="020B0503020204020204" pitchFamily="34" charset="-122"/>
              </a:rPr>
              <a:t>讨论</a:t>
            </a:r>
          </a:p>
        </p:txBody>
      </p:sp>
      <p:sp>
        <p:nvSpPr>
          <p:cNvPr id="3" name="等腰三角形 2"/>
          <p:cNvSpPr/>
          <p:nvPr/>
        </p:nvSpPr>
        <p:spPr>
          <a:xfrm rot="5400000">
            <a:off x="-170815" y="560705"/>
            <a:ext cx="713105" cy="321945"/>
          </a:xfrm>
          <a:prstGeom prst="triangle">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754534" y="171584"/>
            <a:ext cx="3041015" cy="643436"/>
            <a:chOff x="6096000" y="266700"/>
            <a:chExt cx="3041015" cy="643436"/>
          </a:xfrm>
        </p:grpSpPr>
        <p:pic>
          <p:nvPicPr>
            <p:cNvPr id="5" name="图片 4"/>
            <p:cNvPicPr>
              <a:picLocks noChangeAspect="1"/>
            </p:cNvPicPr>
            <p:nvPr/>
          </p:nvPicPr>
          <p:blipFill>
            <a:blip r:embed="rId3"/>
            <a:stretch>
              <a:fillRect/>
            </a:stretch>
          </p:blipFill>
          <p:spPr>
            <a:xfrm>
              <a:off x="6096000" y="266700"/>
              <a:ext cx="3041015" cy="565044"/>
            </a:xfrm>
            <a:prstGeom prst="rect">
              <a:avLst/>
            </a:prstGeom>
          </p:spPr>
        </p:pic>
        <p:sp>
          <p:nvSpPr>
            <p:cNvPr id="6" name="矩形 5"/>
            <p:cNvSpPr/>
            <p:nvPr userDrawn="1"/>
          </p:nvSpPr>
          <p:spPr>
            <a:xfrm>
              <a:off x="8756015" y="571500"/>
              <a:ext cx="381000" cy="3386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1"/>
                  </a:solidFill>
                </a:ln>
                <a:solidFill>
                  <a:schemeClr val="bg1"/>
                </a:solidFill>
              </a:endParaRPr>
            </a:p>
          </p:txBody>
        </p:sp>
      </p:grpSp>
      <p:sp>
        <p:nvSpPr>
          <p:cNvPr id="4" name="文本框 3"/>
          <p:cNvSpPr txBox="1"/>
          <p:nvPr/>
        </p:nvSpPr>
        <p:spPr>
          <a:xfrm>
            <a:off x="482600" y="1475740"/>
            <a:ext cx="10846435" cy="1753235"/>
          </a:xfrm>
          <a:prstGeom prst="rect">
            <a:avLst/>
          </a:prstGeom>
          <a:solidFill>
            <a:schemeClr val="tx2">
              <a:lumMod val="10000"/>
              <a:lumOff val="90000"/>
            </a:schemeClr>
          </a:solidFill>
        </p:spPr>
        <p:txBody>
          <a:bodyPr wrap="square" rtlCol="0" anchor="t">
            <a:spAutoFit/>
          </a:bodyPr>
          <a:lstStyle/>
          <a:p>
            <a:pPr marL="285750" indent="-285750" algn="just" fontAlgn="auto">
              <a:lnSpc>
                <a:spcPct val="150000"/>
              </a:lnSpc>
              <a:buFont typeface="Wingdings" panose="05000000000000000000" charset="0"/>
              <a:buChar char="l"/>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讨论</a:t>
            </a:r>
            <a:r>
              <a:rPr lang="en-US" altLang="zh-CN"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2.1</a:t>
            </a: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t>
            </a:r>
          </a:p>
          <a:p>
            <a:pPr indent="0" algn="just" fontAlgn="auto">
              <a:lnSpc>
                <a:spcPct val="150000"/>
              </a:lnSpc>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Wingdings 2" panose="05020102010507070707" charset="0"/>
              </a:rPr>
              <a:t>    Tomas Mikolov 曾在 2016 年的一次演讲中将自然语言中的词语表</a:t>
            </a:r>
            <a:r>
              <a:rPr lang="zh-CN" altLang="en-US" dirty="0">
                <a:latin typeface="微软雅黑" panose="020B0503020204020204" pitchFamily="34" charset="-122"/>
                <a:ea typeface="微软雅黑" panose="020B0503020204020204" pitchFamily="34" charset="-122"/>
                <a:sym typeface="Wingdings 2" panose="05020102010507070707" charset="0"/>
              </a:rPr>
              <a:t>示方法分为局部表示（Local Representation）和连续表示（Continuous Representation）。请查阅资料，讨论这两个表示方法与本章介绍的独热表示和分布式表示方法的区别与联系。</a:t>
            </a:r>
          </a:p>
        </p:txBody>
      </p:sp>
      <p:sp>
        <p:nvSpPr>
          <p:cNvPr id="8" name="文本框 7"/>
          <p:cNvSpPr txBox="1"/>
          <p:nvPr/>
        </p:nvSpPr>
        <p:spPr>
          <a:xfrm>
            <a:off x="482600" y="4330700"/>
            <a:ext cx="10846435" cy="1337945"/>
          </a:xfrm>
          <a:prstGeom prst="rect">
            <a:avLst/>
          </a:prstGeom>
          <a:solidFill>
            <a:schemeClr val="tx2">
              <a:lumMod val="10000"/>
              <a:lumOff val="90000"/>
            </a:schemeClr>
          </a:solidFill>
        </p:spPr>
        <p:txBody>
          <a:bodyPr wrap="square" rtlCol="0" anchor="t">
            <a:spAutoFit/>
          </a:bodyPr>
          <a:lstStyle/>
          <a:p>
            <a:pPr marL="285750" indent="-285750" algn="just" fontAlgn="auto">
              <a:lnSpc>
                <a:spcPct val="150000"/>
              </a:lnSpc>
              <a:buFont typeface="Wingdings" panose="05000000000000000000" charset="0"/>
              <a:buChar char="l"/>
            </a:pP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讨论</a:t>
            </a:r>
            <a:r>
              <a:rPr lang="en-US" altLang="zh-CN"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2.2</a:t>
            </a:r>
            <a:r>
              <a:rPr lang="zh-CN" altLang="en-US" b="1" dirty="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t>
            </a:r>
          </a:p>
          <a:p>
            <a:pPr indent="0" algn="just" fontAlgn="auto">
              <a:lnSpc>
                <a:spcPct val="150000"/>
              </a:lnSpc>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Wingdings 2" panose="05020102010507070707" charset="0"/>
              </a:rPr>
              <a:t>     研究人员提出了多种数据结构来实现层次 Softmax，请对其进行调</a:t>
            </a:r>
            <a:r>
              <a:rPr lang="zh-CN" altLang="en-US" dirty="0">
                <a:latin typeface="微软雅黑" panose="020B0503020204020204" pitchFamily="34" charset="-122"/>
                <a:ea typeface="微软雅黑" panose="020B0503020204020204" pitchFamily="34" charset="-122"/>
                <a:sym typeface="Wingdings 2" panose="05020102010507070707" charset="0"/>
              </a:rPr>
              <a:t>研和梳理，并分析相较于普通的平衡二叉树，使用哈夫曼树的优点。</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1f4d8506-ffb6-44f2-9842-fc87cbde5fa2"/>
  <p:tag name="COMMONDATA" val="eyJoZGlkIjoiMzQzZWU4NTE2ZDliYzViMTcxNzVmOTVkMzQyMmNiOGE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465</TotalTime>
  <Words>2799</Words>
  <Application>Microsoft Macintosh PowerPoint</Application>
  <PresentationFormat>Widescreen</PresentationFormat>
  <Paragraphs>192</Paragraphs>
  <Slides>37</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Kaiti TC</vt:lpstr>
      <vt:lpstr>Microsoft YaHei</vt:lpstr>
      <vt:lpstr>Microsoft YaHei</vt:lpstr>
      <vt:lpstr>Arial</vt:lpstr>
      <vt:lpstr>Calibri</vt:lpstr>
      <vt:lpstr>Cambria Math</vt:lpstr>
      <vt:lpstr>Times New Roman</vt:lpstr>
      <vt:lpstr>Wingdings</vt:lpstr>
      <vt:lpstr>Office 主题​​</vt:lpstr>
      <vt:lpstr>第二章 词向量</vt:lpstr>
      <vt:lpstr>2.1概述 2.2文本表示方法 2.3Word2Vec模型  2.4GloVe模型 2.5ELMo模型 2.6讨论</vt:lpstr>
      <vt:lpstr>Token长什么样子？</vt:lpstr>
      <vt:lpstr>2.1概述</vt:lpstr>
      <vt:lpstr>Embedding/Vector Representation</vt:lpstr>
      <vt:lpstr>2.2文本表示方法</vt:lpstr>
      <vt:lpstr>2.2.1独热表示</vt:lpstr>
      <vt:lpstr>2.2.2分布式表示</vt:lpstr>
      <vt:lpstr>Mikolov论文1</vt:lpstr>
      <vt:lpstr>Mikolov论文2</vt:lpstr>
      <vt:lpstr>背景知识：深度学习与MLP</vt:lpstr>
      <vt:lpstr>2.3Word2Vec模型</vt:lpstr>
      <vt:lpstr>2.3.1CBOW模型</vt:lpstr>
      <vt:lpstr>2.3.1CBOW模型</vt:lpstr>
      <vt:lpstr>Softmax</vt:lpstr>
      <vt:lpstr>2.3.1CBOW模型</vt:lpstr>
      <vt:lpstr>2.3.1CBOW模型</vt:lpstr>
      <vt:lpstr>CBOW模型的训练目标</vt:lpstr>
      <vt:lpstr>CBOW模型的复杂度</vt:lpstr>
      <vt:lpstr>CBOW模型：层次Softmax</vt:lpstr>
      <vt:lpstr>CBOW模型：层次Softmax</vt:lpstr>
      <vt:lpstr>CBOW模型：层次Softmax</vt:lpstr>
      <vt:lpstr>为什么使用Huffman Tree?</vt:lpstr>
      <vt:lpstr>2.3.2Skip-gram模型</vt:lpstr>
      <vt:lpstr>2.3.2Skip-gram模型</vt:lpstr>
      <vt:lpstr>其他优化方案：Negative Sampling</vt:lpstr>
      <vt:lpstr>Word2vec实战</vt:lpstr>
      <vt:lpstr>词嵌入可视化</vt:lpstr>
      <vt:lpstr>2.4GloVe模型</vt:lpstr>
      <vt:lpstr>2.4GloVe模型</vt:lpstr>
      <vt:lpstr>2.4GloVe模型</vt:lpstr>
      <vt:lpstr>2.4GloVe模型</vt:lpstr>
      <vt:lpstr>2.5ELMo模型</vt:lpstr>
      <vt:lpstr>2.5ELMo模型</vt:lpstr>
      <vt:lpstr>2.5ELMo模型</vt:lpstr>
      <vt:lpstr>2.5ELMo模型</vt:lpstr>
      <vt:lpstr>2.6讨论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bai</dc:creator>
  <cp:lastModifiedBy>Zhongpu Chen</cp:lastModifiedBy>
  <cp:revision>267</cp:revision>
  <dcterms:created xsi:type="dcterms:W3CDTF">2019-06-19T02:08:00Z</dcterms:created>
  <dcterms:modified xsi:type="dcterms:W3CDTF">2025-09-17T09:20:31Z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D1284E6BAA2C4CE098EE45E73C3C1F0D_11</vt:lpwstr>
  </property>
</Properties>
</file>